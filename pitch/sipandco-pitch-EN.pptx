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c8f8dcd-6632-2fb9-b90d-ba2ad30d1a66}">
          <p14:sldIdLst>
            <p14:sldId id="256"/>
          </p14:sldIdLst>
        </p14:section>
        <p14:section name="Problem &amp; solution" id="{143a938d-ad41-39a0-fdef-7c1b95d7cff9}">
          <p14:sldIdLst>
            <p14:sldId id="257"/>
            <p14:sldId id="258"/>
            <p14:sldId id="259"/>
          </p14:sldIdLst>
        </p14:section>
        <p14:section name="Market" id="{adee5d58-8276-5654-5bf5-0b0122d4e3e7}">
          <p14:sldIdLst>
            <p14:sldId id="260"/>
            <p14:sldId id="261"/>
            <p14:sldId id="262"/>
          </p14:sldIdLst>
        </p14:section>
        <p14:section name="Model &amp; growth" id="{43f419ad-69a4-8570-798c-74a7e8acfe80}">
          <p14:sldIdLst>
            <p14:sldId id="263"/>
            <p14:sldId id="264"/>
            <p14:sldId id="265"/>
          </p14:sldIdLst>
        </p14:section>
        <p14:section name="Team &amp; funding" id="{8cb9e13e-aece-2511-1cf7-2af0383ec507}">
          <p14:sldIdLst>
            <p14:sldId id="266"/>
            <p14:sldId id="267"/>
          </p14:sldIdLst>
        </p14:section>
        <p14:section name="Conclusion" id="{d17bd5d3-63da-c7b7-2afa-892951e45c14}">
          <p14:sldIdLst>
            <p14:sldId id="268"/>
          </p14:sldIdLst>
        </p14:section>
        <p14:section name="Appendix" id="{90d0ed29-f990-8350-1f20-06b489b5c176}">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D98A6C"/>
              </a:solidFill>
              <a:effectLst/>
            </c:spPr>
          </c:dPt>
          <c:dPt>
            <c:idx val="1"/>
            <c:bubble3D val="0"/>
            <c:spPr>
              <a:solidFill>
                <a:srgbClr val="C8475A"/>
              </a:solidFill>
              <a:effectLst/>
            </c:spPr>
          </c:dPt>
          <c:dPt>
            <c:idx val="2"/>
            <c:bubble3D val="0"/>
            <c:spPr>
              <a:solidFill>
                <a:srgbClr val="F5B700"/>
              </a:solidFill>
              <a:effectLst/>
            </c:spPr>
          </c:dPt>
          <c:dPt>
            <c:idx val="3"/>
            <c:bubble3D val="0"/>
            <c:spPr>
              <a:solidFill>
                <a:srgbClr val="2E9C9A"/>
              </a:solidFill>
              <a:effectLst/>
            </c:spPr>
          </c:dPt>
          <c:dLbls>
            <c:dLbl>
              <c:idx val="0"/>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R&amp;D and product tests</c:v>
                </c:pt>
                <c:pt idx="1">
                  <c:v>First stock</c:v>
                </c:pt>
                <c:pt idx="2">
                  <c:v>Launch marketing</c:v>
                </c:pt>
                <c:pt idx="3">
                  <c:v>Regulatory</c:v>
                </c:pt>
              </c:strCache>
            </c:strRef>
          </c:cat>
          <c:val>
            <c:numRef>
              <c:f>Sheet1!$B$2:$B$5</c:f>
              <c:numCache>
                <c:ptCount val="4"/>
                <c:pt idx="0">
                  <c:v>35</c:v>
                </c:pt>
                <c:pt idx="1">
                  <c:v>25</c:v>
                </c:pt>
                <c:pt idx="2">
                  <c:v>25</c:v>
                </c:pt>
                <c:pt idx="3">
                  <c:v>15</c:v>
                </c:pt>
              </c:numCache>
            </c:numRef>
          </c:val>
        </c:ser>
        <c:firstSliceAng val="0"/>
        <c:holeSize val="55"/>
      </c:doughnutChart>
      <c:spPr>
        <a:noFill/>
        <a:ln>
          <a:noFill/>
        </a:ln>
        <a:effectLst/>
      </c:spPr>
    </c:plotArea>
    <c:legend>
      <c:legendPos val="r"/>
      <c:overlay val="0"/>
      <c:txPr>
        <a:bodyPr/>
        <a:lstStyle/>
        <a:p>
          <a:pPr>
            <a:defRPr sz="1000">
              <a:solidFill>
                <a:srgbClr val="1F1C1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0:25] Good morning. My name is Nisrine Margoum, and I am here to present sip &amp; co, the active straw. Let me start with a simple question: who here has ever bought a food supplement… and forgotten it at the back of a cupboard? That is exactly where sip &amp; co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1:05] Two in three French people take food supplements. But the habit doesn't follow. Between 15 and 20% of adults find it hard to swallow a pill, and according to the WHO, only one patient in two really sticks to a long-term treatment. In real life, children refuse syrups, seniors struggle with capsules, and the rest of us simply forget the jar. The problem isn't the ingredient. It's the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1:40] My solution is sip &amp; co, a straw filled with flavoured micro-beads of active ingredients. You put it in the drink you already have, you drink as usual, and once the beads are gone, the dose is taken. Nothing to swallow, no added sugar, and you can see the dose. Each box holds 7 straws: one week of routine. The straw technology already exists, and I am working with a manufacturing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And because drinking is universal, sip &amp; co comes in four ranges: the same straw and the same box, but ingredients dosed for every age. mini for children, with a sticker chart. active for busy women: morning, workout and sleep. luna for women's health: periods, pregnancy and menopause. And silver for seniors, with a straw that also helps them drink more. Sixteen straws in total, and only health claims authorised in the European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2:55] The market is there. Food supplements are worth about 3 billion euros in France, and they keep growing. Two in three French people take them, consumption has doubled in ten years, and pharmacies remain the number one channel. What drives the market: energy, immunity, stress and sleep. Exactly the needs our straws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 3:40] Each range answers a significant target. Among children, almost one in five already takes supplements, and parents look for fun formats. Women are the majority of supplement users, and their first need is stress, fatigue and sleep. Menopause affects 14 million women in France, and sales in this category are growing. And 22% of French people are over 65, often with difficulties swallowing. Four targets, one single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4:10] Compared with capsules, gummies and powders, sip &amp; co is the only format with nothing to swallow, no added sugar and a visible dose. Above all, it is the same habit for a 6-year-old and for their grandfather. And every dose also means a glass of water: a real benefit for seniors' hydration.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4:40] Where am I today? The market research, the personas, the positioning and the identity of the four ranges are done, and the showcase website is ready with a waiting list. Next steps: interviews in each target, taste and dissolution tests, a prototype with the manufacturer, and regulatory approval of the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5:10] The model relies first on an online subscription, which brings recurring revenue. Then come gift sets, and later pharmacies, the number one channel for supplements in France. The prices you see are indicative: around 9 euros per box, about one euro per straw on subscription. To be clear, they are hypothetical until I receive the production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5:45] I am not launching everything at once. We start with sip &amp; co active, online, with a community and micro-creators. Then luna, for the same customers. Then mini, because many of these women are also mothers. And finally silver, through pharmacies and senior residences. The family becomes the growth channel: one customer brings in her whole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6:15] I am leading this project on my own, with a dual background: science, through my master's in Biology and Health, active ingredients, through my experience as a cosmetics product manager, and entrepreneurship, through my master's at IAE. To go further, I am building a network: a manufacturer for the straw, a regulatory expert, a health advisory board with a paediatrician, a midwife and a geriatrician, and an e-commerce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 – 6:45] To launch sip &amp; co active, I estimate a seed funding need of about 150,000 euros: first R&amp;D and product tests, then a first stock, launch marketing and regulatory work. To get started, I am relying on my personal contribution and on love money from my family and friends. After that, I will apply for honour loans and public grants, such as Initiative France, Réseau Entreprendre or Bpifrance. To be transparent, these amounts are indicative, because I don't know the production costs yet. Profitability will come from the subscription, and I will calculate it as soon as I receive the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 7:00] The problem was never the ingredient; it was the habit. With sip &amp; co, that habit is drinking: something the whole family already does, from age 4 to 104. So, would you take another sip?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show it only if the panel asks about the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tx2"/>
                </a:solidFill>
              </a:rPr>
              <a:t>sip &amp; co · the active straw</a:t>
            </a:r>
            <a:endParaRPr lang="en-US" sz="900" dirty="0"/>
          </a:p>
        </p:txBody>
      </p:sp>
      <p:sp>
        <p:nvSpPr>
          <p:cNvPr id="3" name="Text 1"/>
          <p:cNvSpPr/>
          <p:nvPr>
            <p:ph idx="101" type="body" hasCustomPrompt="1"/>
          </p:nvPr>
        </p:nvSpPr>
        <p:spPr>
          <a:xfrm>
            <a:off x="457200" y="292608"/>
            <a:ext cx="8229600" cy="228600"/>
          </a:xfrm>
          <a:prstGeom prst="rect">
            <a:avLst/>
          </a:prstGeom>
          <a:noFill/>
          <a:ln/>
        </p:spPr>
        <p:txBody>
          <a:bodyPr wrap="square" rtlCol="0"/>
          <a:lstStyle>
            <a:lvl1pPr indent="0" marL="0">
              <a:buNone/>
              <a:defRPr lang="en-US" sz="1000" b="1" spc="200" kern="0" dirty="0">
                <a:solidFill>
                  <a:schemeClr val="tx2"/>
                </a:solidFill>
              </a:defRPr>
            </a:lvl1pPr>
          </a:lstStyle>
          <a:p>
            <a:pPr indent="0" marL="0">
              <a:buNone/>
            </a:pPr>
            <a:endParaRPr lang="en-US" sz="1000" dirty="0"/>
          </a:p>
        </p:txBody>
      </p:sp>
      <p:sp>
        <p:nvSpPr>
          <p:cNvPr id="4" name="Text 1"/>
          <p:cNvSpPr/>
          <p:nvPr>
            <p:ph idx="102" type="title" hasCustomPrompt="1"/>
          </p:nvPr>
        </p:nvSpPr>
        <p:spPr>
          <a:xfrm>
            <a:off x="457200" y="502920"/>
            <a:ext cx="8229600" cy="594360"/>
          </a:xfrm>
          <a:prstGeom prst="rect">
            <a:avLst/>
          </a:prstGeom>
          <a:noFill/>
          <a:ln/>
        </p:spPr>
        <p:txBody>
          <a:bodyPr wrap="square" rtlCol="0"/>
          <a:lstStyle>
            <a:lvl1pPr algn="l" indent="0" marL="0">
              <a:buNone/>
              <a:defRPr lang="en-US" sz="2800"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image" Target="../media/image-4-6.png"/><Relationship Id="rId7" Type="http://schemas.openxmlformats.org/officeDocument/2006/relationships/image" Target="../media/image-4-7.jp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822960"/>
            <a:ext cx="4023360" cy="1005840"/>
          </a:xfrm>
          <a:prstGeom prst="rect">
            <a:avLst/>
          </a:prstGeom>
          <a:noFill/>
          <a:ln/>
        </p:spPr>
        <p:txBody>
          <a:bodyPr wrap="square" lIns="0" tIns="0" rIns="0" bIns="0" rtlCol="0" anchor="ctr"/>
          <a:lstStyle/>
          <a:p>
            <a:pPr indent="0" marL="0">
              <a:buNone/>
            </a:pPr>
            <a:r>
              <a:rPr lang="en-US" sz="6000" b="1" spc="-100" kern="0" dirty="0">
                <a:solidFill>
                  <a:schemeClr val="bg2"/>
                </a:solidFill>
              </a:rPr>
              <a:t>sip </a:t>
            </a:r>
            <a:pPr indent="0" marL="0">
              <a:buNone/>
            </a:pPr>
            <a:r>
              <a:rPr lang="en-US" sz="6000" b="1" i="1" spc="-100" kern="0" dirty="0">
                <a:solidFill>
                  <a:schemeClr val="bg2"/>
                </a:solidFill>
                <a:latin typeface="Cambria" pitchFamily="34" charset="0"/>
                <a:ea typeface="Cambria" pitchFamily="34" charset="-122"/>
                <a:cs typeface="Cambria" pitchFamily="34" charset="-120"/>
              </a:rPr>
              <a:t>&amp;</a:t>
            </a:r>
            <a:pPr indent="0" marL="0">
              <a:buNone/>
            </a:pPr>
            <a:r>
              <a:rPr lang="en-US" sz="6000" b="1" spc="-100" kern="0" dirty="0">
                <a:solidFill>
                  <a:schemeClr val="bg2"/>
                </a:solidFill>
              </a:rPr>
              <a:t> co</a:t>
            </a:r>
            <a:endParaRPr lang="en-US" sz="6000" dirty="0"/>
          </a:p>
        </p:txBody>
      </p:sp>
      <p:sp>
        <p:nvSpPr>
          <p:cNvPr id="3" name="bead0"/>
          <p:cNvSpPr/>
          <p:nvPr/>
        </p:nvSpPr>
        <p:spPr>
          <a:xfrm>
            <a:off x="502920" y="1920240"/>
            <a:ext cx="164592" cy="164592"/>
          </a:xfrm>
          <a:prstGeom prst="ellipse">
            <a:avLst/>
          </a:prstGeom>
          <a:solidFill>
            <a:schemeClr val="accent3"/>
          </a:solidFill>
          <a:ln/>
        </p:spPr>
      </p:sp>
      <p:sp>
        <p:nvSpPr>
          <p:cNvPr id="4" name="bead1"/>
          <p:cNvSpPr/>
          <p:nvPr/>
        </p:nvSpPr>
        <p:spPr>
          <a:xfrm>
            <a:off x="758952" y="1920240"/>
            <a:ext cx="164592" cy="164592"/>
          </a:xfrm>
          <a:prstGeom prst="ellipse">
            <a:avLst/>
          </a:prstGeom>
          <a:solidFill>
            <a:schemeClr val="accent4"/>
          </a:solidFill>
          <a:ln/>
        </p:spPr>
      </p:sp>
      <p:sp>
        <p:nvSpPr>
          <p:cNvPr id="5" name="bead2"/>
          <p:cNvSpPr/>
          <p:nvPr/>
        </p:nvSpPr>
        <p:spPr>
          <a:xfrm>
            <a:off x="1014984" y="1920240"/>
            <a:ext cx="164592" cy="164592"/>
          </a:xfrm>
          <a:prstGeom prst="ellipse">
            <a:avLst/>
          </a:prstGeom>
          <a:solidFill>
            <a:schemeClr val="accent1"/>
          </a:solidFill>
          <a:ln/>
        </p:spPr>
      </p:sp>
      <p:sp>
        <p:nvSpPr>
          <p:cNvPr id="6" name="bead3"/>
          <p:cNvSpPr/>
          <p:nvPr/>
        </p:nvSpPr>
        <p:spPr>
          <a:xfrm>
            <a:off x="1271016" y="1920240"/>
            <a:ext cx="164592" cy="164592"/>
          </a:xfrm>
          <a:prstGeom prst="ellipse">
            <a:avLst/>
          </a:prstGeom>
          <a:solidFill>
            <a:schemeClr val="accent2"/>
          </a:solidFill>
          <a:ln/>
        </p:spPr>
      </p:sp>
      <p:sp>
        <p:nvSpPr>
          <p:cNvPr id="7" name="Text 5"/>
          <p:cNvSpPr txBox="1"/>
          <p:nvPr/>
        </p:nvSpPr>
        <p:spPr>
          <a:xfrm>
            <a:off x="457200" y="2240280"/>
            <a:ext cx="4023360" cy="548640"/>
          </a:xfrm>
          <a:prstGeom prst="rect">
            <a:avLst/>
          </a:prstGeom>
          <a:noFill/>
          <a:ln/>
        </p:spPr>
        <p:txBody>
          <a:bodyPr wrap="square" lIns="0" tIns="0" rIns="0" bIns="0" rtlCol="0" anchor="ctr"/>
          <a:lstStyle/>
          <a:p>
            <a:pPr indent="0" marL="0">
              <a:buNone/>
            </a:pPr>
            <a:r>
              <a:rPr lang="en-US" sz="2600" i="1" dirty="0">
                <a:solidFill>
                  <a:schemeClr val="bg2"/>
                </a:solidFill>
                <a:latin typeface="Cambria" pitchFamily="34" charset="0"/>
                <a:ea typeface="Cambria" pitchFamily="34" charset="-122"/>
                <a:cs typeface="Cambria" pitchFamily="34" charset="-120"/>
              </a:rPr>
              <a:t>one sip for every age</a:t>
            </a:r>
            <a:endParaRPr lang="en-US" sz="2600" dirty="0"/>
          </a:p>
        </p:txBody>
      </p:sp>
      <p:sp>
        <p:nvSpPr>
          <p:cNvPr id="8" name="Text 6"/>
          <p:cNvSpPr txBox="1"/>
          <p:nvPr/>
        </p:nvSpPr>
        <p:spPr>
          <a:xfrm>
            <a:off x="457200" y="2834640"/>
            <a:ext cx="3840480" cy="594360"/>
          </a:xfrm>
          <a:prstGeom prst="rect">
            <a:avLst/>
          </a:prstGeom>
          <a:noFill/>
          <a:ln/>
        </p:spPr>
        <p:txBody>
          <a:bodyPr wrap="square" lIns="0" tIns="0" rIns="0" bIns="0" rtlCol="0" anchor="ctr"/>
          <a:lstStyle/>
          <a:p>
            <a:pPr indent="0" marL="0">
              <a:buNone/>
            </a:pPr>
            <a:r>
              <a:rPr lang="en-US" sz="1400" dirty="0">
                <a:solidFill>
                  <a:srgbClr val="D6CFC6"/>
                </a:solidFill>
              </a:rPr>
              <a:t>The active straw: food supplements you drink, in 4 ranges, for ages 4 to 104.</a:t>
            </a:r>
            <a:endParaRPr lang="en-US" sz="1400" dirty="0"/>
          </a:p>
        </p:txBody>
      </p:sp>
      <p:sp>
        <p:nvSpPr>
          <p:cNvPr id="9" name="Text 7"/>
          <p:cNvSpPr txBox="1"/>
          <p:nvPr/>
        </p:nvSpPr>
        <p:spPr>
          <a:xfrm>
            <a:off x="457200" y="4343400"/>
            <a:ext cx="4023360" cy="274320"/>
          </a:xfrm>
          <a:prstGeom prst="rect">
            <a:avLst/>
          </a:prstGeom>
          <a:noFill/>
          <a:ln/>
        </p:spPr>
        <p:txBody>
          <a:bodyPr wrap="square" lIns="0" tIns="0" rIns="0" bIns="0" rtlCol="0" anchor="ctr"/>
          <a:lstStyle/>
          <a:p>
            <a:pPr indent="0" marL="0">
              <a:buNone/>
            </a:pPr>
            <a:r>
              <a:rPr lang="en-US" sz="1100" dirty="0">
                <a:solidFill>
                  <a:srgbClr val="A99F96"/>
                </a:solidFill>
              </a:rPr>
              <a:t>Nisrine Margoum · founder · investor pitch</a:t>
            </a:r>
            <a:endParaRPr lang="en-US" sz="1100" dirty="0"/>
          </a:p>
        </p:txBody>
      </p:sp>
      <p:pic>
        <p:nvPicPr>
          <p:cNvPr id="10" name="cover-mini" descr="cover-mini">    </p:cNvPr>
          <p:cNvPicPr>
            <a:picLocks noChangeAspect="1"/>
          </p:cNvPicPr>
          <p:nvPr/>
        </p:nvPicPr>
        <p:blipFill>
          <a:blip r:embed="rId1"/>
          <a:stretch>
            <a:fillRect/>
          </a:stretch>
        </p:blipFill>
        <p:spPr>
          <a:xfrm>
            <a:off x="4572000" y="457200"/>
            <a:ext cx="2011680" cy="2057400"/>
          </a:xfrm>
          <a:prstGeom prst="rect">
            <a:avLst/>
          </a:prstGeom>
        </p:spPr>
      </p:pic>
      <p:sp>
        <p:nvSpPr>
          <p:cNvPr id="11" name="tag-mini"/>
          <p:cNvSpPr/>
          <p:nvPr/>
        </p:nvSpPr>
        <p:spPr>
          <a:xfrm>
            <a:off x="4681728" y="2103120"/>
            <a:ext cx="832104" cy="292608"/>
          </a:xfrm>
          <a:prstGeom prst="roundRect">
            <a:avLst>
              <a:gd name="adj" fmla="val 50000"/>
            </a:avLst>
          </a:prstGeom>
          <a:solidFill>
            <a:schemeClr val="bg2"/>
          </a:solidFill>
          <a:ln/>
        </p:spPr>
      </p:sp>
      <p:sp>
        <p:nvSpPr>
          <p:cNvPr id="12" name="Shape 9"/>
          <p:cNvSpPr/>
          <p:nvPr/>
        </p:nvSpPr>
        <p:spPr>
          <a:xfrm>
            <a:off x="4773168" y="2185416"/>
            <a:ext cx="128016" cy="128016"/>
          </a:xfrm>
          <a:prstGeom prst="ellipse">
            <a:avLst/>
          </a:prstGeom>
          <a:solidFill>
            <a:schemeClr val="accent3"/>
          </a:solidFill>
          <a:ln/>
        </p:spPr>
      </p:sp>
      <p:sp>
        <p:nvSpPr>
          <p:cNvPr id="13" name="Text 10"/>
          <p:cNvSpPr txBox="1"/>
          <p:nvPr/>
        </p:nvSpPr>
        <p:spPr>
          <a:xfrm>
            <a:off x="4956048" y="210312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mini</a:t>
            </a:r>
            <a:endParaRPr lang="en-US" sz="1200" dirty="0"/>
          </a:p>
        </p:txBody>
      </p:sp>
      <p:pic>
        <p:nvPicPr>
          <p:cNvPr id="14" name="cover-active" descr="cover-active">    </p:cNvPr>
          <p:cNvPicPr>
            <a:picLocks noChangeAspect="1"/>
          </p:cNvPicPr>
          <p:nvPr/>
        </p:nvPicPr>
        <p:blipFill>
          <a:blip r:embed="rId2"/>
          <a:stretch>
            <a:fillRect/>
          </a:stretch>
        </p:blipFill>
        <p:spPr>
          <a:xfrm>
            <a:off x="6675120" y="457200"/>
            <a:ext cx="2011680" cy="2057400"/>
          </a:xfrm>
          <a:prstGeom prst="rect">
            <a:avLst/>
          </a:prstGeom>
        </p:spPr>
      </p:pic>
      <p:sp>
        <p:nvSpPr>
          <p:cNvPr id="15" name="tag-active"/>
          <p:cNvSpPr/>
          <p:nvPr/>
        </p:nvSpPr>
        <p:spPr>
          <a:xfrm>
            <a:off x="6784848" y="2103120"/>
            <a:ext cx="996696" cy="292608"/>
          </a:xfrm>
          <a:prstGeom prst="roundRect">
            <a:avLst>
              <a:gd name="adj" fmla="val 50000"/>
            </a:avLst>
          </a:prstGeom>
          <a:solidFill>
            <a:schemeClr val="bg2"/>
          </a:solidFill>
          <a:ln/>
        </p:spPr>
      </p:sp>
      <p:sp>
        <p:nvSpPr>
          <p:cNvPr id="16" name="Shape 12"/>
          <p:cNvSpPr/>
          <p:nvPr/>
        </p:nvSpPr>
        <p:spPr>
          <a:xfrm>
            <a:off x="6876288" y="2185416"/>
            <a:ext cx="128016" cy="128016"/>
          </a:xfrm>
          <a:prstGeom prst="ellipse">
            <a:avLst/>
          </a:prstGeom>
          <a:solidFill>
            <a:schemeClr val="accent4"/>
          </a:solidFill>
          <a:ln/>
        </p:spPr>
      </p:sp>
      <p:sp>
        <p:nvSpPr>
          <p:cNvPr id="17" name="Text 13"/>
          <p:cNvSpPr txBox="1"/>
          <p:nvPr/>
        </p:nvSpPr>
        <p:spPr>
          <a:xfrm>
            <a:off x="7059168" y="210312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active</a:t>
            </a:r>
            <a:endParaRPr lang="en-US" sz="1200" dirty="0"/>
          </a:p>
        </p:txBody>
      </p:sp>
      <p:pic>
        <p:nvPicPr>
          <p:cNvPr id="18" name="cover-luna" descr="cover-luna">    </p:cNvPr>
          <p:cNvPicPr>
            <a:picLocks noChangeAspect="1"/>
          </p:cNvPicPr>
          <p:nvPr/>
        </p:nvPicPr>
        <p:blipFill>
          <a:blip r:embed="rId3"/>
          <a:stretch>
            <a:fillRect/>
          </a:stretch>
        </p:blipFill>
        <p:spPr>
          <a:xfrm>
            <a:off x="4572000" y="2606040"/>
            <a:ext cx="2011680" cy="2057400"/>
          </a:xfrm>
          <a:prstGeom prst="rect">
            <a:avLst/>
          </a:prstGeom>
        </p:spPr>
      </p:pic>
      <p:sp>
        <p:nvSpPr>
          <p:cNvPr id="19" name="tag-luna"/>
          <p:cNvSpPr/>
          <p:nvPr/>
        </p:nvSpPr>
        <p:spPr>
          <a:xfrm>
            <a:off x="4681728" y="4251960"/>
            <a:ext cx="832104" cy="292608"/>
          </a:xfrm>
          <a:prstGeom prst="roundRect">
            <a:avLst>
              <a:gd name="adj" fmla="val 50000"/>
            </a:avLst>
          </a:prstGeom>
          <a:solidFill>
            <a:schemeClr val="bg2"/>
          </a:solidFill>
          <a:ln/>
        </p:spPr>
      </p:sp>
      <p:sp>
        <p:nvSpPr>
          <p:cNvPr id="20" name="Shape 15"/>
          <p:cNvSpPr/>
          <p:nvPr/>
        </p:nvSpPr>
        <p:spPr>
          <a:xfrm>
            <a:off x="4773168" y="4334256"/>
            <a:ext cx="128016" cy="128016"/>
          </a:xfrm>
          <a:prstGeom prst="ellipse">
            <a:avLst/>
          </a:prstGeom>
          <a:solidFill>
            <a:schemeClr val="accent1"/>
          </a:solidFill>
          <a:ln/>
        </p:spPr>
      </p:sp>
      <p:sp>
        <p:nvSpPr>
          <p:cNvPr id="21" name="Text 16"/>
          <p:cNvSpPr txBox="1"/>
          <p:nvPr/>
        </p:nvSpPr>
        <p:spPr>
          <a:xfrm>
            <a:off x="4956048" y="425196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luna</a:t>
            </a:r>
            <a:endParaRPr lang="en-US" sz="1200" dirty="0"/>
          </a:p>
        </p:txBody>
      </p:sp>
      <p:pic>
        <p:nvPicPr>
          <p:cNvPr id="22" name="cover-silver" descr="cover-silver">    </p:cNvPr>
          <p:cNvPicPr>
            <a:picLocks noChangeAspect="1"/>
          </p:cNvPicPr>
          <p:nvPr/>
        </p:nvPicPr>
        <p:blipFill>
          <a:blip r:embed="rId4"/>
          <a:stretch>
            <a:fillRect/>
          </a:stretch>
        </p:blipFill>
        <p:spPr>
          <a:xfrm>
            <a:off x="6675120" y="2606040"/>
            <a:ext cx="2011680" cy="2057400"/>
          </a:xfrm>
          <a:prstGeom prst="rect">
            <a:avLst/>
          </a:prstGeom>
        </p:spPr>
      </p:pic>
      <p:sp>
        <p:nvSpPr>
          <p:cNvPr id="23" name="tag-silver"/>
          <p:cNvSpPr/>
          <p:nvPr/>
        </p:nvSpPr>
        <p:spPr>
          <a:xfrm>
            <a:off x="6784848" y="4251960"/>
            <a:ext cx="996696" cy="292608"/>
          </a:xfrm>
          <a:prstGeom prst="roundRect">
            <a:avLst>
              <a:gd name="adj" fmla="val 50000"/>
            </a:avLst>
          </a:prstGeom>
          <a:solidFill>
            <a:schemeClr val="bg2"/>
          </a:solidFill>
          <a:ln/>
        </p:spPr>
      </p:sp>
      <p:sp>
        <p:nvSpPr>
          <p:cNvPr id="24" name="Shape 18"/>
          <p:cNvSpPr/>
          <p:nvPr/>
        </p:nvSpPr>
        <p:spPr>
          <a:xfrm>
            <a:off x="6876288" y="4334256"/>
            <a:ext cx="128016" cy="128016"/>
          </a:xfrm>
          <a:prstGeom prst="ellipse">
            <a:avLst/>
          </a:prstGeom>
          <a:solidFill>
            <a:schemeClr val="accent2"/>
          </a:solidFill>
          <a:ln/>
        </p:spPr>
      </p:sp>
      <p:sp>
        <p:nvSpPr>
          <p:cNvPr id="25" name="Text 19"/>
          <p:cNvSpPr txBox="1"/>
          <p:nvPr/>
        </p:nvSpPr>
        <p:spPr>
          <a:xfrm>
            <a:off x="7059168" y="425196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silver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PROBLEM</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the problem isn't the ingredient, </a:t>
            </a:r>
            <a:pPr algn="l" indent="0" marL="0">
              <a:buNone/>
            </a:pPr>
            <a:r>
              <a:rPr lang="en-US" sz="2800" i="1" dirty="0">
                <a:solidFill>
                  <a:schemeClr val="tx1"/>
                </a:solidFill>
                <a:latin typeface="Cambria" pitchFamily="34" charset="0"/>
                <a:ea typeface="Cambria" pitchFamily="34" charset="-122"/>
                <a:cs typeface="Cambria" pitchFamily="34" charset="-120"/>
              </a:rPr>
              <a:t>it's the habit</a:t>
            </a:r>
            <a:endParaRPr lang="en-US" sz="2800" dirty="0"/>
          </a:p>
        </p:txBody>
      </p:sp>
      <p:sp>
        <p:nvSpPr>
          <p:cNvPr id="4" name="Text 2"/>
          <p:cNvSpPr txBox="1"/>
          <p:nvPr/>
        </p:nvSpPr>
        <p:spPr>
          <a:xfrm>
            <a:off x="457200" y="1325880"/>
            <a:ext cx="2743200" cy="548640"/>
          </a:xfrm>
          <a:prstGeom prst="rect">
            <a:avLst/>
          </a:prstGeom>
          <a:noFill/>
          <a:ln/>
        </p:spPr>
        <p:txBody>
          <a:bodyPr wrap="square" lIns="0" tIns="0" rIns="0" bIns="0" rtlCol="0" anchor="ctr"/>
          <a:lstStyle/>
          <a:p>
            <a:pPr indent="0" marL="0">
              <a:buNone/>
            </a:pPr>
            <a:r>
              <a:rPr lang="en-US" sz="3200" b="1" dirty="0">
                <a:solidFill>
                  <a:schemeClr val="accent4"/>
                </a:solidFill>
              </a:rPr>
              <a:t>2 in 3</a:t>
            </a:r>
            <a:endParaRPr lang="en-US" sz="3200" dirty="0"/>
          </a:p>
        </p:txBody>
      </p:sp>
      <p:sp>
        <p:nvSpPr>
          <p:cNvPr id="5" name="Text 3"/>
          <p:cNvSpPr txBox="1"/>
          <p:nvPr/>
        </p:nvSpPr>
        <p:spPr>
          <a:xfrm>
            <a:off x="457200" y="1856232"/>
            <a:ext cx="3291840" cy="365760"/>
          </a:xfrm>
          <a:prstGeom prst="rect">
            <a:avLst/>
          </a:prstGeom>
          <a:noFill/>
          <a:ln/>
        </p:spPr>
        <p:txBody>
          <a:bodyPr wrap="square" lIns="0" tIns="0" rIns="0" bIns="0" rtlCol="0" anchor="ctr"/>
          <a:lstStyle/>
          <a:p>
            <a:pPr indent="0" marL="0">
              <a:buNone/>
            </a:pPr>
            <a:r>
              <a:rPr lang="en-US" sz="1300" dirty="0">
                <a:solidFill>
                  <a:schemeClr val="tx2"/>
                </a:solidFill>
              </a:rPr>
              <a:t>French people take food supplements</a:t>
            </a:r>
            <a:endParaRPr lang="en-US" sz="1300" dirty="0"/>
          </a:p>
        </p:txBody>
      </p:sp>
      <p:sp>
        <p:nvSpPr>
          <p:cNvPr id="6" name="Text 4"/>
          <p:cNvSpPr txBox="1"/>
          <p:nvPr/>
        </p:nvSpPr>
        <p:spPr>
          <a:xfrm>
            <a:off x="457200" y="2350008"/>
            <a:ext cx="2743200" cy="548640"/>
          </a:xfrm>
          <a:prstGeom prst="rect">
            <a:avLst/>
          </a:prstGeom>
          <a:noFill/>
          <a:ln/>
        </p:spPr>
        <p:txBody>
          <a:bodyPr wrap="square" lIns="0" tIns="0" rIns="0" bIns="0" rtlCol="0" anchor="ctr"/>
          <a:lstStyle/>
          <a:p>
            <a:pPr indent="0" marL="0">
              <a:buNone/>
            </a:pPr>
            <a:r>
              <a:rPr lang="en-US" sz="3200" b="1" dirty="0">
                <a:solidFill>
                  <a:schemeClr val="accent2"/>
                </a:solidFill>
              </a:rPr>
              <a:t>15 to 20%</a:t>
            </a:r>
            <a:endParaRPr lang="en-US" sz="3200" dirty="0"/>
          </a:p>
        </p:txBody>
      </p:sp>
      <p:sp>
        <p:nvSpPr>
          <p:cNvPr id="7" name="Text 5"/>
          <p:cNvSpPr txBox="1"/>
          <p:nvPr/>
        </p:nvSpPr>
        <p:spPr>
          <a:xfrm>
            <a:off x="457200" y="2880360"/>
            <a:ext cx="3291840" cy="365760"/>
          </a:xfrm>
          <a:prstGeom prst="rect">
            <a:avLst/>
          </a:prstGeom>
          <a:noFill/>
          <a:ln/>
        </p:spPr>
        <p:txBody>
          <a:bodyPr wrap="square" lIns="0" tIns="0" rIns="0" bIns="0" rtlCol="0" anchor="ctr"/>
          <a:lstStyle/>
          <a:p>
            <a:pPr indent="0" marL="0">
              <a:buNone/>
            </a:pPr>
            <a:r>
              <a:rPr lang="en-US" sz="1300" dirty="0">
                <a:solidFill>
                  <a:schemeClr val="tx2"/>
                </a:solidFill>
              </a:rPr>
              <a:t>of adults find it hard to swallow a pill</a:t>
            </a:r>
            <a:endParaRPr lang="en-US" sz="1300" dirty="0"/>
          </a:p>
        </p:txBody>
      </p:sp>
      <p:sp>
        <p:nvSpPr>
          <p:cNvPr id="8" name="Text 6"/>
          <p:cNvSpPr txBox="1"/>
          <p:nvPr/>
        </p:nvSpPr>
        <p:spPr>
          <a:xfrm>
            <a:off x="457200" y="3374136"/>
            <a:ext cx="2743200" cy="548640"/>
          </a:xfrm>
          <a:prstGeom prst="rect">
            <a:avLst/>
          </a:prstGeom>
          <a:noFill/>
          <a:ln/>
        </p:spPr>
        <p:txBody>
          <a:bodyPr wrap="square" lIns="0" tIns="0" rIns="0" bIns="0" rtlCol="0" anchor="ctr"/>
          <a:lstStyle/>
          <a:p>
            <a:pPr indent="0" marL="0">
              <a:buNone/>
            </a:pPr>
            <a:r>
              <a:rPr lang="en-US" sz="3200" b="1" dirty="0">
                <a:solidFill>
                  <a:schemeClr val="accent1"/>
                </a:solidFill>
              </a:rPr>
              <a:t>1 in 2</a:t>
            </a:r>
            <a:endParaRPr lang="en-US" sz="3200" dirty="0"/>
          </a:p>
        </p:txBody>
      </p:sp>
      <p:sp>
        <p:nvSpPr>
          <p:cNvPr id="9" name="Text 7"/>
          <p:cNvSpPr txBox="1"/>
          <p:nvPr/>
        </p:nvSpPr>
        <p:spPr>
          <a:xfrm>
            <a:off x="457200" y="3904488"/>
            <a:ext cx="3291840" cy="365760"/>
          </a:xfrm>
          <a:prstGeom prst="rect">
            <a:avLst/>
          </a:prstGeom>
          <a:noFill/>
          <a:ln/>
        </p:spPr>
        <p:txBody>
          <a:bodyPr wrap="square" lIns="0" tIns="0" rIns="0" bIns="0" rtlCol="0" anchor="ctr"/>
          <a:lstStyle/>
          <a:p>
            <a:pPr indent="0" marL="0">
              <a:buNone/>
            </a:pPr>
            <a:r>
              <a:rPr lang="en-US" sz="1300" dirty="0">
                <a:solidFill>
                  <a:schemeClr val="tx2"/>
                </a:solidFill>
              </a:rPr>
              <a:t>patients actually stick to a long-term treatment</a:t>
            </a:r>
            <a:endParaRPr lang="en-US" sz="1300" dirty="0"/>
          </a:p>
        </p:txBody>
      </p:sp>
      <p:sp>
        <p:nvSpPr>
          <p:cNvPr id="10" name="who-card"/>
          <p:cNvSpPr/>
          <p:nvPr/>
        </p:nvSpPr>
        <p:spPr>
          <a:xfrm>
            <a:off x="4297680" y="1325880"/>
            <a:ext cx="4389120" cy="3017520"/>
          </a:xfrm>
          <a:prstGeom prst="roundRect">
            <a:avLst>
              <a:gd name="adj" fmla="val 2424"/>
            </a:avLst>
          </a:prstGeom>
          <a:solidFill>
            <a:srgbClr val="FFFFFF"/>
          </a:solidFill>
          <a:ln/>
        </p:spPr>
      </p:sp>
      <p:sp>
        <p:nvSpPr>
          <p:cNvPr id="11" name="Text 9"/>
          <p:cNvSpPr txBox="1"/>
          <p:nvPr/>
        </p:nvSpPr>
        <p:spPr>
          <a:xfrm>
            <a:off x="4572000" y="15087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who is affected?</a:t>
            </a:r>
            <a:endParaRPr lang="en-US" sz="1600" dirty="0"/>
          </a:p>
        </p:txBody>
      </p:sp>
      <p:sp>
        <p:nvSpPr>
          <p:cNvPr id="12" name="Shape 10"/>
          <p:cNvSpPr/>
          <p:nvPr/>
        </p:nvSpPr>
        <p:spPr>
          <a:xfrm>
            <a:off x="4572000" y="2075688"/>
            <a:ext cx="182880" cy="182880"/>
          </a:xfrm>
          <a:prstGeom prst="ellipse">
            <a:avLst/>
          </a:prstGeom>
          <a:solidFill>
            <a:schemeClr val="accent3"/>
          </a:solidFill>
          <a:ln/>
        </p:spPr>
      </p:sp>
      <p:sp>
        <p:nvSpPr>
          <p:cNvPr id="13" name="Text 11"/>
          <p:cNvSpPr txBox="1"/>
          <p:nvPr/>
        </p:nvSpPr>
        <p:spPr>
          <a:xfrm>
            <a:off x="4892040" y="2011680"/>
            <a:ext cx="3566160" cy="594360"/>
          </a:xfrm>
          <a:prstGeom prst="rect">
            <a:avLst/>
          </a:prstGeom>
          <a:noFill/>
          <a:ln/>
        </p:spPr>
        <p:txBody>
          <a:bodyPr wrap="square" lIns="0" tIns="0" rIns="0" bIns="0" rtlCol="0" anchor="t"/>
          <a:lstStyle/>
          <a:p>
            <a:pPr indent="0" marL="0">
              <a:buNone/>
            </a:pPr>
            <a:r>
              <a:rPr lang="en-US" sz="1400" b="1" dirty="0">
                <a:solidFill>
                  <a:schemeClr val="tx1"/>
                </a:solidFill>
              </a:rPr>
              <a:t>Children </a:t>
            </a:r>
            <a:pPr indent="0" marL="0">
              <a:buNone/>
            </a:pPr>
            <a:r>
              <a:rPr lang="en-US" sz="1400" dirty="0">
                <a:solidFill>
                  <a:schemeClr val="tx2"/>
                </a:solidFill>
              </a:rPr>
              <a:t>refuse syrups and capsules.</a:t>
            </a:r>
            <a:endParaRPr lang="en-US" sz="1400" dirty="0"/>
          </a:p>
        </p:txBody>
      </p:sp>
      <p:sp>
        <p:nvSpPr>
          <p:cNvPr id="14" name="Shape 12"/>
          <p:cNvSpPr/>
          <p:nvPr/>
        </p:nvSpPr>
        <p:spPr>
          <a:xfrm>
            <a:off x="4572000" y="2807208"/>
            <a:ext cx="182880" cy="182880"/>
          </a:xfrm>
          <a:prstGeom prst="ellipse">
            <a:avLst/>
          </a:prstGeom>
          <a:solidFill>
            <a:schemeClr val="accent2"/>
          </a:solidFill>
          <a:ln/>
        </p:spPr>
      </p:sp>
      <p:sp>
        <p:nvSpPr>
          <p:cNvPr id="15" name="Text 13"/>
          <p:cNvSpPr txBox="1"/>
          <p:nvPr/>
        </p:nvSpPr>
        <p:spPr>
          <a:xfrm>
            <a:off x="4892040" y="2743200"/>
            <a:ext cx="3566160" cy="594360"/>
          </a:xfrm>
          <a:prstGeom prst="rect">
            <a:avLst/>
          </a:prstGeom>
          <a:noFill/>
          <a:ln/>
        </p:spPr>
        <p:txBody>
          <a:bodyPr wrap="square" lIns="0" tIns="0" rIns="0" bIns="0" rtlCol="0" anchor="t"/>
          <a:lstStyle/>
          <a:p>
            <a:pPr indent="0" marL="0">
              <a:buNone/>
            </a:pPr>
            <a:r>
              <a:rPr lang="en-US" sz="1400" b="1" dirty="0">
                <a:solidFill>
                  <a:schemeClr val="tx1"/>
                </a:solidFill>
              </a:rPr>
              <a:t>Seniors </a:t>
            </a:r>
            <a:pPr indent="0" marL="0">
              <a:buNone/>
            </a:pPr>
            <a:r>
              <a:rPr lang="en-US" sz="1400" dirty="0">
                <a:solidFill>
                  <a:schemeClr val="tx2"/>
                </a:solidFill>
              </a:rPr>
              <a:t>struggle to swallow their pills.</a:t>
            </a:r>
            <a:endParaRPr lang="en-US" sz="1400" dirty="0"/>
          </a:p>
        </p:txBody>
      </p:sp>
      <p:sp>
        <p:nvSpPr>
          <p:cNvPr id="16" name="Shape 14"/>
          <p:cNvSpPr/>
          <p:nvPr/>
        </p:nvSpPr>
        <p:spPr>
          <a:xfrm>
            <a:off x="4572000" y="3538728"/>
            <a:ext cx="182880" cy="182880"/>
          </a:xfrm>
          <a:prstGeom prst="ellipse">
            <a:avLst/>
          </a:prstGeom>
          <a:solidFill>
            <a:schemeClr val="accent1"/>
          </a:solidFill>
          <a:ln/>
        </p:spPr>
      </p:sp>
      <p:sp>
        <p:nvSpPr>
          <p:cNvPr id="17" name="Text 15"/>
          <p:cNvSpPr txBox="1"/>
          <p:nvPr/>
        </p:nvSpPr>
        <p:spPr>
          <a:xfrm>
            <a:off x="4892040" y="3474720"/>
            <a:ext cx="3566160" cy="594360"/>
          </a:xfrm>
          <a:prstGeom prst="rect">
            <a:avLst/>
          </a:prstGeom>
          <a:noFill/>
          <a:ln/>
        </p:spPr>
        <p:txBody>
          <a:bodyPr wrap="square" lIns="0" tIns="0" rIns="0" bIns="0" rtlCol="0" anchor="t"/>
          <a:lstStyle/>
          <a:p>
            <a:pPr indent="0" marL="0">
              <a:buNone/>
            </a:pPr>
            <a:r>
              <a:rPr lang="en-US" sz="1400" b="1" dirty="0">
                <a:solidFill>
                  <a:schemeClr val="tx1"/>
                </a:solidFill>
              </a:rPr>
              <a:t>Women </a:t>
            </a:r>
            <a:pPr indent="0" marL="0">
              <a:buNone/>
            </a:pPr>
            <a:r>
              <a:rPr lang="en-US" sz="1400" dirty="0">
                <a:solidFill>
                  <a:schemeClr val="tx2"/>
                </a:solidFill>
              </a:rPr>
              <a:t>buy with the best intentions, then forget the jar.</a:t>
            </a:r>
            <a:endParaRPr lang="en-US" sz="1400" dirty="0"/>
          </a:p>
        </p:txBody>
      </p:sp>
      <p:sp>
        <p:nvSpPr>
          <p:cNvPr id="18"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Synadiet / Toluna Harris Interactive (2026) · literature review on pill dysphagia (PMC) · WHO, Adherence to long-term therapies (2003).</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SOLUTION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sip &amp; co, </a:t>
            </a:r>
            <a:pPr algn="l" indent="0" marL="0">
              <a:buNone/>
            </a:pPr>
            <a:r>
              <a:rPr lang="en-US" sz="2800" i="1" dirty="0">
                <a:solidFill>
                  <a:schemeClr val="tx1"/>
                </a:solidFill>
                <a:latin typeface="Cambria" pitchFamily="34" charset="0"/>
                <a:ea typeface="Cambria" pitchFamily="34" charset="-122"/>
                <a:cs typeface="Cambria" pitchFamily="34" charset="-120"/>
              </a:rPr>
              <a:t>the active straw</a:t>
            </a:r>
            <a:endParaRPr lang="en-US" sz="2800" dirty="0"/>
          </a:p>
        </p:txBody>
      </p:sp>
      <p:pic>
        <p:nvPicPr>
          <p:cNvPr id="4" name="pack-active" descr="sip &amp; co rise box, sachet and straw">    </p:cNvPr>
          <p:cNvPicPr>
            <a:picLocks noChangeAspect="1"/>
          </p:cNvPicPr>
          <p:nvPr/>
        </p:nvPicPr>
        <p:blipFill>
          <a:blip r:embed="rId1"/>
          <a:stretch>
            <a:fillRect/>
          </a:stretch>
        </p:blipFill>
        <p:spPr>
          <a:xfrm>
            <a:off x="457200" y="1280160"/>
            <a:ext cx="3154680" cy="3154680"/>
          </a:xfrm>
          <a:prstGeom prst="rect">
            <a:avLst/>
          </a:prstGeom>
        </p:spPr>
      </p:pic>
      <p:sp>
        <p:nvSpPr>
          <p:cNvPr id="5" name="Shape 2"/>
          <p:cNvSpPr/>
          <p:nvPr/>
        </p:nvSpPr>
        <p:spPr>
          <a:xfrm>
            <a:off x="4023360" y="1325880"/>
            <a:ext cx="384048" cy="384048"/>
          </a:xfrm>
          <a:prstGeom prst="ellipse">
            <a:avLst/>
          </a:prstGeom>
          <a:solidFill>
            <a:schemeClr val="tx1"/>
          </a:solidFill>
          <a:ln/>
        </p:spPr>
      </p:sp>
      <p:sp>
        <p:nvSpPr>
          <p:cNvPr id="6" name="Text 3"/>
          <p:cNvSpPr txBox="1"/>
          <p:nvPr/>
        </p:nvSpPr>
        <p:spPr>
          <a:xfrm>
            <a:off x="4023360" y="132588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1</a:t>
            </a:r>
            <a:endParaRPr lang="en-US" sz="1400" dirty="0"/>
          </a:p>
        </p:txBody>
      </p:sp>
      <p:sp>
        <p:nvSpPr>
          <p:cNvPr id="7" name="Text 4"/>
          <p:cNvSpPr txBox="1"/>
          <p:nvPr/>
        </p:nvSpPr>
        <p:spPr>
          <a:xfrm>
            <a:off x="4572000" y="129844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pick a drink</a:t>
            </a:r>
            <a:endParaRPr lang="en-US" sz="1600" dirty="0"/>
          </a:p>
        </p:txBody>
      </p:sp>
      <p:sp>
        <p:nvSpPr>
          <p:cNvPr id="8" name="Text 5"/>
          <p:cNvSpPr txBox="1"/>
          <p:nvPr/>
        </p:nvSpPr>
        <p:spPr>
          <a:xfrm>
            <a:off x="4572000" y="1600200"/>
            <a:ext cx="4114800" cy="365760"/>
          </a:xfrm>
          <a:prstGeom prst="rect">
            <a:avLst/>
          </a:prstGeom>
          <a:noFill/>
          <a:ln/>
        </p:spPr>
        <p:txBody>
          <a:bodyPr wrap="square" lIns="0" tIns="0" rIns="0" bIns="0" rtlCol="0" anchor="ctr"/>
          <a:lstStyle/>
          <a:p>
            <a:pPr indent="0" marL="0">
              <a:buNone/>
            </a:pPr>
            <a:r>
              <a:rPr lang="en-US" sz="1300" dirty="0">
                <a:solidFill>
                  <a:schemeClr val="tx2"/>
                </a:solidFill>
              </a:rPr>
              <a:t>Water, milk, juice, iced tea. The one you already drink.</a:t>
            </a:r>
            <a:endParaRPr lang="en-US" sz="1300" dirty="0"/>
          </a:p>
        </p:txBody>
      </p:sp>
      <p:sp>
        <p:nvSpPr>
          <p:cNvPr id="9" name="Shape 6"/>
          <p:cNvSpPr/>
          <p:nvPr/>
        </p:nvSpPr>
        <p:spPr>
          <a:xfrm>
            <a:off x="4023360" y="2103120"/>
            <a:ext cx="384048" cy="384048"/>
          </a:xfrm>
          <a:prstGeom prst="ellipse">
            <a:avLst/>
          </a:prstGeom>
          <a:solidFill>
            <a:schemeClr val="tx1"/>
          </a:solidFill>
          <a:ln/>
        </p:spPr>
      </p:sp>
      <p:sp>
        <p:nvSpPr>
          <p:cNvPr id="10" name="Text 7"/>
          <p:cNvSpPr txBox="1"/>
          <p:nvPr/>
        </p:nvSpPr>
        <p:spPr>
          <a:xfrm>
            <a:off x="4023360" y="210312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2</a:t>
            </a:r>
            <a:endParaRPr lang="en-US" sz="1400" dirty="0"/>
          </a:p>
        </p:txBody>
      </p:sp>
      <p:sp>
        <p:nvSpPr>
          <p:cNvPr id="11" name="Text 8"/>
          <p:cNvSpPr txBox="1"/>
          <p:nvPr/>
        </p:nvSpPr>
        <p:spPr>
          <a:xfrm>
            <a:off x="4572000" y="207568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drink as usual</a:t>
            </a:r>
            <a:endParaRPr lang="en-US" sz="1600" dirty="0"/>
          </a:p>
        </p:txBody>
      </p:sp>
      <p:sp>
        <p:nvSpPr>
          <p:cNvPr id="12" name="Text 9"/>
          <p:cNvSpPr txBox="1"/>
          <p:nvPr/>
        </p:nvSpPr>
        <p:spPr>
          <a:xfrm>
            <a:off x="4572000" y="2377440"/>
            <a:ext cx="4114800" cy="365760"/>
          </a:xfrm>
          <a:prstGeom prst="rect">
            <a:avLst/>
          </a:prstGeom>
          <a:noFill/>
          <a:ln/>
        </p:spPr>
        <p:txBody>
          <a:bodyPr wrap="square" lIns="0" tIns="0" rIns="0" bIns="0" rtlCol="0" anchor="ctr"/>
          <a:lstStyle/>
          <a:p>
            <a:pPr indent="0" marL="0">
              <a:buNone/>
            </a:pPr>
            <a:r>
              <a:rPr lang="en-US" sz="1300" dirty="0">
                <a:solidFill>
                  <a:schemeClr val="tx2"/>
                </a:solidFill>
              </a:rPr>
              <a:t>The liquid dissolves the flavoured active micro-beads inside the straw.</a:t>
            </a:r>
            <a:endParaRPr lang="en-US" sz="1300" dirty="0"/>
          </a:p>
        </p:txBody>
      </p:sp>
      <p:sp>
        <p:nvSpPr>
          <p:cNvPr id="13" name="Shape 10"/>
          <p:cNvSpPr/>
          <p:nvPr/>
        </p:nvSpPr>
        <p:spPr>
          <a:xfrm>
            <a:off x="4023360" y="2880360"/>
            <a:ext cx="384048" cy="384048"/>
          </a:xfrm>
          <a:prstGeom prst="ellipse">
            <a:avLst/>
          </a:prstGeom>
          <a:solidFill>
            <a:schemeClr val="tx1"/>
          </a:solidFill>
          <a:ln/>
        </p:spPr>
      </p:sp>
      <p:sp>
        <p:nvSpPr>
          <p:cNvPr id="14" name="Text 11"/>
          <p:cNvSpPr txBox="1"/>
          <p:nvPr/>
        </p:nvSpPr>
        <p:spPr>
          <a:xfrm>
            <a:off x="4023360" y="2880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3</a:t>
            </a:r>
            <a:endParaRPr lang="en-US" sz="1400" dirty="0"/>
          </a:p>
        </p:txBody>
      </p:sp>
      <p:sp>
        <p:nvSpPr>
          <p:cNvPr id="15" name="Text 12"/>
          <p:cNvSpPr txBox="1"/>
          <p:nvPr/>
        </p:nvSpPr>
        <p:spPr>
          <a:xfrm>
            <a:off x="4572000" y="285292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the dose is taken</a:t>
            </a:r>
            <a:endParaRPr lang="en-US" sz="1600" dirty="0"/>
          </a:p>
        </p:txBody>
      </p:sp>
      <p:sp>
        <p:nvSpPr>
          <p:cNvPr id="16" name="Text 13"/>
          <p:cNvSpPr txBox="1"/>
          <p:nvPr/>
        </p:nvSpPr>
        <p:spPr>
          <a:xfrm>
            <a:off x="4572000" y="3154680"/>
            <a:ext cx="4114800" cy="365760"/>
          </a:xfrm>
          <a:prstGeom prst="rect">
            <a:avLst/>
          </a:prstGeom>
          <a:noFill/>
          <a:ln/>
        </p:spPr>
        <p:txBody>
          <a:bodyPr wrap="square" lIns="0" tIns="0" rIns="0" bIns="0" rtlCol="0" anchor="ctr"/>
          <a:lstStyle/>
          <a:p>
            <a:pPr indent="0" marL="0">
              <a:buNone/>
            </a:pPr>
            <a:r>
              <a:rPr lang="en-US" sz="1300" dirty="0">
                <a:solidFill>
                  <a:schemeClr val="tx2"/>
                </a:solidFill>
              </a:rPr>
              <a:t>Beads gone = full dose. Easy to see, even for a child.</a:t>
            </a:r>
            <a:endParaRPr lang="en-US" sz="1300" dirty="0"/>
          </a:p>
        </p:txBody>
      </p:sp>
      <p:sp>
        <p:nvSpPr>
          <p:cNvPr id="17" name="chip0"/>
          <p:cNvSpPr/>
          <p:nvPr/>
        </p:nvSpPr>
        <p:spPr>
          <a:xfrm>
            <a:off x="4023360" y="3840480"/>
            <a:ext cx="1239926" cy="347472"/>
          </a:xfrm>
          <a:prstGeom prst="roundRect">
            <a:avLst>
              <a:gd name="adj" fmla="val 50000"/>
            </a:avLst>
          </a:prstGeom>
          <a:solidFill>
            <a:schemeClr val="bg1"/>
          </a:solidFill>
          <a:ln w="12700">
            <a:solidFill>
              <a:schemeClr val="accent5"/>
            </a:solidFill>
            <a:prstDash val="solid"/>
          </a:ln>
        </p:spPr>
      </p:sp>
      <p:sp>
        <p:nvSpPr>
          <p:cNvPr id="18" name="Text 15"/>
          <p:cNvSpPr txBox="1"/>
          <p:nvPr/>
        </p:nvSpPr>
        <p:spPr>
          <a:xfrm>
            <a:off x="4023360" y="3840480"/>
            <a:ext cx="1239926" cy="347472"/>
          </a:xfrm>
          <a:prstGeom prst="rect">
            <a:avLst/>
          </a:prstGeom>
          <a:noFill/>
          <a:ln/>
        </p:spPr>
        <p:txBody>
          <a:bodyPr wrap="square" lIns="0" tIns="0" rIns="0" bIns="0" rtlCol="0" anchor="ctr"/>
          <a:lstStyle/>
          <a:p>
            <a:pPr algn="ctr" indent="0" marL="0">
              <a:buNone/>
            </a:pPr>
            <a:r>
              <a:rPr lang="en-US" sz="1100" dirty="0">
                <a:solidFill>
                  <a:schemeClr val="tx1"/>
                </a:solidFill>
              </a:rPr>
              <a:t>nothing to swallow</a:t>
            </a:r>
            <a:endParaRPr lang="en-US" sz="1100" dirty="0"/>
          </a:p>
        </p:txBody>
      </p:sp>
      <p:sp>
        <p:nvSpPr>
          <p:cNvPr id="19" name="chip1"/>
          <p:cNvSpPr/>
          <p:nvPr/>
        </p:nvSpPr>
        <p:spPr>
          <a:xfrm>
            <a:off x="5336438" y="3840480"/>
            <a:ext cx="1013155" cy="347472"/>
          </a:xfrm>
          <a:prstGeom prst="roundRect">
            <a:avLst>
              <a:gd name="adj" fmla="val 50000"/>
            </a:avLst>
          </a:prstGeom>
          <a:solidFill>
            <a:schemeClr val="bg1"/>
          </a:solidFill>
          <a:ln w="12700">
            <a:solidFill>
              <a:schemeClr val="accent5"/>
            </a:solidFill>
            <a:prstDash val="solid"/>
          </a:ln>
        </p:spPr>
      </p:sp>
      <p:sp>
        <p:nvSpPr>
          <p:cNvPr id="20" name="Text 17"/>
          <p:cNvSpPr txBox="1"/>
          <p:nvPr/>
        </p:nvSpPr>
        <p:spPr>
          <a:xfrm>
            <a:off x="5336438" y="3840480"/>
            <a:ext cx="1013155" cy="347472"/>
          </a:xfrm>
          <a:prstGeom prst="rect">
            <a:avLst/>
          </a:prstGeom>
          <a:noFill/>
          <a:ln/>
        </p:spPr>
        <p:txBody>
          <a:bodyPr wrap="square" lIns="0" tIns="0" rIns="0" bIns="0" rtlCol="0" anchor="ctr"/>
          <a:lstStyle/>
          <a:p>
            <a:pPr algn="ctr" indent="0" marL="0">
              <a:buNone/>
            </a:pPr>
            <a:r>
              <a:rPr lang="en-US" sz="1100" dirty="0">
                <a:solidFill>
                  <a:schemeClr val="tx1"/>
                </a:solidFill>
              </a:rPr>
              <a:t>no added sugar</a:t>
            </a:r>
            <a:endParaRPr lang="en-US" sz="1100" dirty="0"/>
          </a:p>
        </p:txBody>
      </p:sp>
      <p:sp>
        <p:nvSpPr>
          <p:cNvPr id="21" name="chip2"/>
          <p:cNvSpPr/>
          <p:nvPr/>
        </p:nvSpPr>
        <p:spPr>
          <a:xfrm>
            <a:off x="6422746" y="3840480"/>
            <a:ext cx="899770" cy="347472"/>
          </a:xfrm>
          <a:prstGeom prst="roundRect">
            <a:avLst>
              <a:gd name="adj" fmla="val 50000"/>
            </a:avLst>
          </a:prstGeom>
          <a:solidFill>
            <a:schemeClr val="bg1"/>
          </a:solidFill>
          <a:ln w="12700">
            <a:solidFill>
              <a:schemeClr val="accent5"/>
            </a:solidFill>
            <a:prstDash val="solid"/>
          </a:ln>
        </p:spPr>
      </p:sp>
      <p:sp>
        <p:nvSpPr>
          <p:cNvPr id="22" name="Text 19"/>
          <p:cNvSpPr txBox="1"/>
          <p:nvPr/>
        </p:nvSpPr>
        <p:spPr>
          <a:xfrm>
            <a:off x="6422746" y="3840480"/>
            <a:ext cx="899770" cy="347472"/>
          </a:xfrm>
          <a:prstGeom prst="rect">
            <a:avLst/>
          </a:prstGeom>
          <a:noFill/>
          <a:ln/>
        </p:spPr>
        <p:txBody>
          <a:bodyPr wrap="square" lIns="0" tIns="0" rIns="0" bIns="0" rtlCol="0" anchor="ctr"/>
          <a:lstStyle/>
          <a:p>
            <a:pPr algn="ctr" indent="0" marL="0">
              <a:buNone/>
            </a:pPr>
            <a:r>
              <a:rPr lang="en-US" sz="1100" dirty="0">
                <a:solidFill>
                  <a:schemeClr val="tx1"/>
                </a:solidFill>
              </a:rPr>
              <a:t>visible dose</a:t>
            </a:r>
            <a:endParaRPr lang="en-US" sz="1100" dirty="0"/>
          </a:p>
        </p:txBody>
      </p:sp>
      <p:sp>
        <p:nvSpPr>
          <p:cNvPr id="23" name="chip3"/>
          <p:cNvSpPr/>
          <p:nvPr/>
        </p:nvSpPr>
        <p:spPr>
          <a:xfrm>
            <a:off x="7395667" y="3840480"/>
            <a:ext cx="1013155" cy="347472"/>
          </a:xfrm>
          <a:prstGeom prst="roundRect">
            <a:avLst>
              <a:gd name="adj" fmla="val 50000"/>
            </a:avLst>
          </a:prstGeom>
          <a:solidFill>
            <a:schemeClr val="bg1"/>
          </a:solidFill>
          <a:ln w="12700">
            <a:solidFill>
              <a:schemeClr val="accent5"/>
            </a:solidFill>
            <a:prstDash val="solid"/>
          </a:ln>
        </p:spPr>
      </p:sp>
      <p:sp>
        <p:nvSpPr>
          <p:cNvPr id="24" name="Text 21"/>
          <p:cNvSpPr txBox="1"/>
          <p:nvPr/>
        </p:nvSpPr>
        <p:spPr>
          <a:xfrm>
            <a:off x="7395667" y="3840480"/>
            <a:ext cx="1013155" cy="347472"/>
          </a:xfrm>
          <a:prstGeom prst="rect">
            <a:avLst/>
          </a:prstGeom>
          <a:noFill/>
          <a:ln/>
        </p:spPr>
        <p:txBody>
          <a:bodyPr wrap="square" lIns="0" tIns="0" rIns="0" bIns="0" rtlCol="0" anchor="ctr"/>
          <a:lstStyle/>
          <a:p>
            <a:pPr algn="ctr" indent="0" marL="0">
              <a:buNone/>
            </a:pPr>
            <a:r>
              <a:rPr lang="en-US" sz="1100" dirty="0">
                <a:solidFill>
                  <a:schemeClr val="tx1"/>
                </a:solidFill>
              </a:rPr>
              <a:t>1 box = 1 week</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INNOVATION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brand, </a:t>
            </a:r>
            <a:pPr algn="l" indent="0" marL="0">
              <a:buNone/>
            </a:pPr>
            <a:r>
              <a:rPr lang="en-US" sz="2800" i="1" dirty="0">
                <a:solidFill>
                  <a:schemeClr val="tx1"/>
                </a:solidFill>
                <a:latin typeface="Cambria" pitchFamily="34" charset="0"/>
                <a:ea typeface="Cambria" pitchFamily="34" charset="-122"/>
                <a:cs typeface="Cambria" pitchFamily="34" charset="-120"/>
              </a:rPr>
              <a:t>four ranges</a:t>
            </a:r>
            <a:endParaRPr lang="en-US" sz="2800" dirty="0"/>
          </a:p>
        </p:txBody>
      </p:sp>
      <p:pic>
        <p:nvPicPr>
          <p:cNvPr id="4" name="mood-mini" descr="mood-mini">    </p:cNvPr>
          <p:cNvPicPr>
            <a:picLocks noChangeAspect="1"/>
          </p:cNvPicPr>
          <p:nvPr/>
        </p:nvPicPr>
        <p:blipFill>
          <a:blip r:embed="rId1"/>
          <a:stretch>
            <a:fillRect/>
          </a:stretch>
        </p:blipFill>
        <p:spPr>
          <a:xfrm>
            <a:off x="457200" y="1234440"/>
            <a:ext cx="1920240" cy="1828800"/>
          </a:xfrm>
          <a:prstGeom prst="rect">
            <a:avLst/>
          </a:prstGeom>
        </p:spPr>
      </p:pic>
      <p:pic>
        <p:nvPicPr>
          <p:cNvPr id="5" name="packs-mini" descr="sip &amp; co mini boxes">    </p:cNvPr>
          <p:cNvPicPr>
            <a:picLocks noChangeAspect="1"/>
          </p:cNvPicPr>
          <p:nvPr/>
        </p:nvPicPr>
        <p:blipFill>
          <a:blip r:embed="rId2"/>
          <a:stretch>
            <a:fillRect/>
          </a:stretch>
        </p:blipFill>
        <p:spPr>
          <a:xfrm>
            <a:off x="548640" y="2409338"/>
            <a:ext cx="1051560" cy="562462"/>
          </a:xfrm>
          <a:prstGeom prst="rect">
            <a:avLst/>
          </a:prstGeom>
        </p:spPr>
      </p:pic>
      <p:sp>
        <p:nvSpPr>
          <p:cNvPr id="6" name="Shape 2"/>
          <p:cNvSpPr/>
          <p:nvPr/>
        </p:nvSpPr>
        <p:spPr>
          <a:xfrm>
            <a:off x="457200" y="3291840"/>
            <a:ext cx="146304" cy="146304"/>
          </a:xfrm>
          <a:prstGeom prst="ellipse">
            <a:avLst/>
          </a:prstGeom>
          <a:solidFill>
            <a:schemeClr val="accent3"/>
          </a:solidFill>
          <a:ln/>
        </p:spPr>
      </p:sp>
      <p:sp>
        <p:nvSpPr>
          <p:cNvPr id="7" name="Text 3"/>
          <p:cNvSpPr txBox="1"/>
          <p:nvPr/>
        </p:nvSpPr>
        <p:spPr>
          <a:xfrm>
            <a:off x="67665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8" name="Text 4"/>
          <p:cNvSpPr txBox="1"/>
          <p:nvPr/>
        </p:nvSpPr>
        <p:spPr>
          <a:xfrm>
            <a:off x="45720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kids · ages 4 to 11</a:t>
            </a:r>
            <a:endParaRPr lang="en-US" sz="1100" dirty="0"/>
          </a:p>
        </p:txBody>
      </p:sp>
      <p:sp>
        <p:nvSpPr>
          <p:cNvPr id="9" name="Text 5"/>
          <p:cNvSpPr txBox="1"/>
          <p:nvPr/>
        </p:nvSpPr>
        <p:spPr>
          <a:xfrm>
            <a:off x="45720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boost · grow · focus · dodo</a:t>
            </a:r>
            <a:endParaRPr lang="en-US" sz="1100" dirty="0"/>
          </a:p>
        </p:txBody>
      </p:sp>
      <p:pic>
        <p:nvPicPr>
          <p:cNvPr id="10" name="mood-active" descr="mood-active">    </p:cNvPr>
          <p:cNvPicPr>
            <a:picLocks noChangeAspect="1"/>
          </p:cNvPicPr>
          <p:nvPr/>
        </p:nvPicPr>
        <p:blipFill>
          <a:blip r:embed="rId3"/>
          <a:stretch>
            <a:fillRect/>
          </a:stretch>
        </p:blipFill>
        <p:spPr>
          <a:xfrm>
            <a:off x="2560320" y="1234440"/>
            <a:ext cx="1920240" cy="1828800"/>
          </a:xfrm>
          <a:prstGeom prst="rect">
            <a:avLst/>
          </a:prstGeom>
        </p:spPr>
      </p:pic>
      <p:pic>
        <p:nvPicPr>
          <p:cNvPr id="11" name="packs-active" descr="sip &amp; co active boxes">    </p:cNvPr>
          <p:cNvPicPr>
            <a:picLocks noChangeAspect="1"/>
          </p:cNvPicPr>
          <p:nvPr/>
        </p:nvPicPr>
        <p:blipFill>
          <a:blip r:embed="rId4"/>
          <a:stretch>
            <a:fillRect/>
          </a:stretch>
        </p:blipFill>
        <p:spPr>
          <a:xfrm>
            <a:off x="2651760" y="2433793"/>
            <a:ext cx="1051560" cy="538007"/>
          </a:xfrm>
          <a:prstGeom prst="rect">
            <a:avLst/>
          </a:prstGeom>
        </p:spPr>
      </p:pic>
      <p:sp>
        <p:nvSpPr>
          <p:cNvPr id="12" name="Shape 6"/>
          <p:cNvSpPr/>
          <p:nvPr/>
        </p:nvSpPr>
        <p:spPr>
          <a:xfrm>
            <a:off x="2560320" y="3291840"/>
            <a:ext cx="146304" cy="146304"/>
          </a:xfrm>
          <a:prstGeom prst="ellipse">
            <a:avLst/>
          </a:prstGeom>
          <a:solidFill>
            <a:schemeClr val="accent4"/>
          </a:solidFill>
          <a:ln/>
        </p:spPr>
      </p:sp>
      <p:sp>
        <p:nvSpPr>
          <p:cNvPr id="13" name="Text 7"/>
          <p:cNvSpPr txBox="1"/>
          <p:nvPr/>
        </p:nvSpPr>
        <p:spPr>
          <a:xfrm>
            <a:off x="277977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14" name="Text 8"/>
          <p:cNvSpPr txBox="1"/>
          <p:nvPr/>
        </p:nvSpPr>
        <p:spPr>
          <a:xfrm>
            <a:off x="256032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active women · ages 20 to 45</a:t>
            </a:r>
            <a:endParaRPr lang="en-US" sz="1100" dirty="0"/>
          </a:p>
        </p:txBody>
      </p:sp>
      <p:sp>
        <p:nvSpPr>
          <p:cNvPr id="15" name="Text 9"/>
          <p:cNvSpPr txBox="1"/>
          <p:nvPr/>
        </p:nvSpPr>
        <p:spPr>
          <a:xfrm>
            <a:off x="256032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rise · pulse · move · sleep</a:t>
            </a:r>
            <a:endParaRPr lang="en-US" sz="1100" dirty="0"/>
          </a:p>
        </p:txBody>
      </p:sp>
      <p:pic>
        <p:nvPicPr>
          <p:cNvPr id="16" name="mood-luna" descr="mood-luna">    </p:cNvPr>
          <p:cNvPicPr>
            <a:picLocks noChangeAspect="1"/>
          </p:cNvPicPr>
          <p:nvPr/>
        </p:nvPicPr>
        <p:blipFill>
          <a:blip r:embed="rId5"/>
          <a:stretch>
            <a:fillRect/>
          </a:stretch>
        </p:blipFill>
        <p:spPr>
          <a:xfrm>
            <a:off x="4663440" y="1234440"/>
            <a:ext cx="1920240" cy="1828800"/>
          </a:xfrm>
          <a:prstGeom prst="rect">
            <a:avLst/>
          </a:prstGeom>
        </p:spPr>
      </p:pic>
      <p:pic>
        <p:nvPicPr>
          <p:cNvPr id="17" name="packs-luna" descr="sip &amp; co luna boxes">    </p:cNvPr>
          <p:cNvPicPr>
            <a:picLocks noChangeAspect="1"/>
          </p:cNvPicPr>
          <p:nvPr/>
        </p:nvPicPr>
        <p:blipFill>
          <a:blip r:embed="rId6"/>
          <a:stretch>
            <a:fillRect/>
          </a:stretch>
        </p:blipFill>
        <p:spPr>
          <a:xfrm>
            <a:off x="4754880" y="2409338"/>
            <a:ext cx="1051560" cy="562462"/>
          </a:xfrm>
          <a:prstGeom prst="rect">
            <a:avLst/>
          </a:prstGeom>
        </p:spPr>
      </p:pic>
      <p:sp>
        <p:nvSpPr>
          <p:cNvPr id="18" name="Shape 10"/>
          <p:cNvSpPr/>
          <p:nvPr/>
        </p:nvSpPr>
        <p:spPr>
          <a:xfrm>
            <a:off x="4663440" y="3291840"/>
            <a:ext cx="146304" cy="146304"/>
          </a:xfrm>
          <a:prstGeom prst="ellipse">
            <a:avLst/>
          </a:prstGeom>
          <a:solidFill>
            <a:schemeClr val="accent1"/>
          </a:solidFill>
          <a:ln/>
        </p:spPr>
      </p:sp>
      <p:sp>
        <p:nvSpPr>
          <p:cNvPr id="19" name="Text 11"/>
          <p:cNvSpPr txBox="1"/>
          <p:nvPr/>
        </p:nvSpPr>
        <p:spPr>
          <a:xfrm>
            <a:off x="488289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20" name="Text 12"/>
          <p:cNvSpPr txBox="1"/>
          <p:nvPr/>
        </p:nvSpPr>
        <p:spPr>
          <a:xfrm>
            <a:off x="466344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women's health · cycle → menopause</a:t>
            </a:r>
            <a:endParaRPr lang="en-US" sz="1100" dirty="0"/>
          </a:p>
        </p:txBody>
      </p:sp>
      <p:sp>
        <p:nvSpPr>
          <p:cNvPr id="21" name="Text 13"/>
          <p:cNvSpPr txBox="1"/>
          <p:nvPr/>
        </p:nvSpPr>
        <p:spPr>
          <a:xfrm>
            <a:off x="466344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flow · balance · bloom · meno</a:t>
            </a:r>
            <a:endParaRPr lang="en-US" sz="1100" dirty="0"/>
          </a:p>
        </p:txBody>
      </p:sp>
      <p:pic>
        <p:nvPicPr>
          <p:cNvPr id="22" name="mood-silver" descr="mood-silver">    </p:cNvPr>
          <p:cNvPicPr>
            <a:picLocks noChangeAspect="1"/>
          </p:cNvPicPr>
          <p:nvPr/>
        </p:nvPicPr>
        <p:blipFill>
          <a:blip r:embed="rId7"/>
          <a:stretch>
            <a:fillRect/>
          </a:stretch>
        </p:blipFill>
        <p:spPr>
          <a:xfrm>
            <a:off x="6766560" y="1234440"/>
            <a:ext cx="1920240" cy="1828800"/>
          </a:xfrm>
          <a:prstGeom prst="rect">
            <a:avLst/>
          </a:prstGeom>
        </p:spPr>
      </p:pic>
      <p:pic>
        <p:nvPicPr>
          <p:cNvPr id="23" name="packs-silver" descr="sip &amp; co silver boxes">    </p:cNvPr>
          <p:cNvPicPr>
            <a:picLocks noChangeAspect="1"/>
          </p:cNvPicPr>
          <p:nvPr/>
        </p:nvPicPr>
        <p:blipFill>
          <a:blip r:embed="rId8"/>
          <a:stretch>
            <a:fillRect/>
          </a:stretch>
        </p:blipFill>
        <p:spPr>
          <a:xfrm>
            <a:off x="6858000" y="2409338"/>
            <a:ext cx="1051560" cy="562462"/>
          </a:xfrm>
          <a:prstGeom prst="rect">
            <a:avLst/>
          </a:prstGeom>
        </p:spPr>
      </p:pic>
      <p:sp>
        <p:nvSpPr>
          <p:cNvPr id="24" name="Shape 14"/>
          <p:cNvSpPr/>
          <p:nvPr/>
        </p:nvSpPr>
        <p:spPr>
          <a:xfrm>
            <a:off x="6766560" y="3291840"/>
            <a:ext cx="146304" cy="146304"/>
          </a:xfrm>
          <a:prstGeom prst="ellipse">
            <a:avLst/>
          </a:prstGeom>
          <a:solidFill>
            <a:schemeClr val="accent2"/>
          </a:solidFill>
          <a:ln/>
        </p:spPr>
      </p:sp>
      <p:sp>
        <p:nvSpPr>
          <p:cNvPr id="25" name="Text 15"/>
          <p:cNvSpPr txBox="1"/>
          <p:nvPr/>
        </p:nvSpPr>
        <p:spPr>
          <a:xfrm>
            <a:off x="698601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6" name="Text 16"/>
          <p:cNvSpPr txBox="1"/>
          <p:nvPr/>
        </p:nvSpPr>
        <p:spPr>
          <a:xfrm>
            <a:off x="676656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seniors · 65 and over</a:t>
            </a:r>
            <a:endParaRPr lang="en-US" sz="1100" dirty="0"/>
          </a:p>
        </p:txBody>
      </p:sp>
      <p:sp>
        <p:nvSpPr>
          <p:cNvPr id="27" name="Text 17"/>
          <p:cNvSpPr txBox="1"/>
          <p:nvPr/>
        </p:nvSpPr>
        <p:spPr>
          <a:xfrm>
            <a:off x="676656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hydra · tonus · mobil · vision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MARKET</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a solid market, </a:t>
            </a:r>
            <a:pPr algn="l" indent="0" marL="0">
              <a:buNone/>
            </a:pPr>
            <a:r>
              <a:rPr lang="en-US" sz="2800" i="1" dirty="0">
                <a:solidFill>
                  <a:schemeClr val="tx1"/>
                </a:solidFill>
                <a:latin typeface="Cambria" pitchFamily="34" charset="0"/>
                <a:ea typeface="Cambria" pitchFamily="34" charset="-122"/>
                <a:cs typeface="Cambria" pitchFamily="34" charset="-120"/>
              </a:rPr>
              <a:t>still growing</a:t>
            </a:r>
            <a:endParaRPr lang="en-US" sz="2800" dirty="0"/>
          </a:p>
        </p:txBody>
      </p:sp>
      <p:pic>
        <p:nvPicPr>
          <p:cNvPr id="4" name="photo-famille" descr="photo-famille">    </p:cNvPr>
          <p:cNvPicPr>
            <a:picLocks noChangeAspect="1"/>
          </p:cNvPicPr>
          <p:nvPr/>
        </p:nvPicPr>
        <p:blipFill>
          <a:blip r:embed="rId1"/>
          <a:stretch>
            <a:fillRect/>
          </a:stretch>
        </p:blipFill>
        <p:spPr>
          <a:xfrm>
            <a:off x="5943600" y="1234440"/>
            <a:ext cx="2743200" cy="3200400"/>
          </a:xfrm>
          <a:prstGeom prst="rect">
            <a:avLst/>
          </a:prstGeom>
        </p:spPr>
      </p:pic>
      <p:sp>
        <p:nvSpPr>
          <p:cNvPr id="5" name="Text 2"/>
          <p:cNvSpPr txBox="1"/>
          <p:nvPr/>
        </p:nvSpPr>
        <p:spPr>
          <a:xfrm>
            <a:off x="457200" y="1280160"/>
            <a:ext cx="2560320" cy="548640"/>
          </a:xfrm>
          <a:prstGeom prst="rect">
            <a:avLst/>
          </a:prstGeom>
          <a:noFill/>
          <a:ln/>
        </p:spPr>
        <p:txBody>
          <a:bodyPr wrap="square" lIns="0" tIns="0" rIns="0" bIns="0" rtlCol="0" anchor="ctr"/>
          <a:lstStyle/>
          <a:p>
            <a:pPr indent="0" marL="0">
              <a:buNone/>
            </a:pPr>
            <a:r>
              <a:rPr lang="en-US" sz="3200" b="1" dirty="0">
                <a:solidFill>
                  <a:schemeClr val="accent1"/>
                </a:solidFill>
              </a:rPr>
              <a:t>≈ €3bn</a:t>
            </a:r>
            <a:endParaRPr lang="en-US" sz="3200" dirty="0"/>
          </a:p>
        </p:txBody>
      </p:sp>
      <p:sp>
        <p:nvSpPr>
          <p:cNvPr id="6" name="Text 3"/>
          <p:cNvSpPr txBox="1"/>
          <p:nvPr/>
        </p:nvSpPr>
        <p:spPr>
          <a:xfrm>
            <a:off x="4572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in food supplement sales in France in 2025 (+2.6%)</a:t>
            </a:r>
            <a:endParaRPr lang="en-US" sz="1200" dirty="0"/>
          </a:p>
        </p:txBody>
      </p:sp>
      <p:sp>
        <p:nvSpPr>
          <p:cNvPr id="7" name="Text 4"/>
          <p:cNvSpPr txBox="1"/>
          <p:nvPr/>
        </p:nvSpPr>
        <p:spPr>
          <a:xfrm>
            <a:off x="3200400" y="1280160"/>
            <a:ext cx="2560320" cy="548640"/>
          </a:xfrm>
          <a:prstGeom prst="rect">
            <a:avLst/>
          </a:prstGeom>
          <a:noFill/>
          <a:ln/>
        </p:spPr>
        <p:txBody>
          <a:bodyPr wrap="square" lIns="0" tIns="0" rIns="0" bIns="0" rtlCol="0" anchor="ctr"/>
          <a:lstStyle/>
          <a:p>
            <a:pPr indent="0" marL="0">
              <a:buNone/>
            </a:pPr>
            <a:r>
              <a:rPr lang="en-US" sz="3200" b="1" dirty="0">
                <a:solidFill>
                  <a:schemeClr val="accent4"/>
                </a:solidFill>
              </a:rPr>
              <a:t>2 / 3</a:t>
            </a:r>
            <a:endParaRPr lang="en-US" sz="3200" dirty="0"/>
          </a:p>
        </p:txBody>
      </p:sp>
      <p:sp>
        <p:nvSpPr>
          <p:cNvPr id="8" name="Text 5"/>
          <p:cNvSpPr txBox="1"/>
          <p:nvPr/>
        </p:nvSpPr>
        <p:spPr>
          <a:xfrm>
            <a:off x="32004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of French people take them</a:t>
            </a:r>
            <a:endParaRPr lang="en-US" sz="1200" dirty="0"/>
          </a:p>
        </p:txBody>
      </p:sp>
      <p:sp>
        <p:nvSpPr>
          <p:cNvPr id="9" name="Text 6"/>
          <p:cNvSpPr txBox="1"/>
          <p:nvPr/>
        </p:nvSpPr>
        <p:spPr>
          <a:xfrm>
            <a:off x="457200" y="2697480"/>
            <a:ext cx="2560320" cy="548640"/>
          </a:xfrm>
          <a:prstGeom prst="rect">
            <a:avLst/>
          </a:prstGeom>
          <a:noFill/>
          <a:ln/>
        </p:spPr>
        <p:txBody>
          <a:bodyPr wrap="square" lIns="0" tIns="0" rIns="0" bIns="0" rtlCol="0" anchor="ctr"/>
          <a:lstStyle/>
          <a:p>
            <a:pPr indent="0" marL="0">
              <a:buNone/>
            </a:pPr>
            <a:r>
              <a:rPr lang="en-US" sz="3200" b="1" dirty="0">
                <a:solidFill>
                  <a:schemeClr val="accent2"/>
                </a:solidFill>
              </a:rPr>
              <a:t>55%</a:t>
            </a:r>
            <a:endParaRPr lang="en-US" sz="3200" dirty="0"/>
          </a:p>
        </p:txBody>
      </p:sp>
      <p:sp>
        <p:nvSpPr>
          <p:cNvPr id="10" name="Text 7"/>
          <p:cNvSpPr txBox="1"/>
          <p:nvPr/>
        </p:nvSpPr>
        <p:spPr>
          <a:xfrm>
            <a:off x="4572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of sales happen in pharmacies, the #1 channel</a:t>
            </a:r>
            <a:endParaRPr lang="en-US" sz="1200" dirty="0"/>
          </a:p>
        </p:txBody>
      </p:sp>
      <p:sp>
        <p:nvSpPr>
          <p:cNvPr id="11" name="Text 8"/>
          <p:cNvSpPr txBox="1"/>
          <p:nvPr/>
        </p:nvSpPr>
        <p:spPr>
          <a:xfrm>
            <a:off x="3200400" y="2697480"/>
            <a:ext cx="2560320" cy="548640"/>
          </a:xfrm>
          <a:prstGeom prst="rect">
            <a:avLst/>
          </a:prstGeom>
          <a:noFill/>
          <a:ln/>
        </p:spPr>
        <p:txBody>
          <a:bodyPr wrap="square" lIns="0" tIns="0" rIns="0" bIns="0" rtlCol="0" anchor="ctr"/>
          <a:lstStyle/>
          <a:p>
            <a:pPr indent="0" marL="0">
              <a:buNone/>
            </a:pPr>
            <a:r>
              <a:rPr lang="en-US" sz="3200" b="1" dirty="0">
                <a:solidFill>
                  <a:schemeClr val="accent3"/>
                </a:solidFill>
              </a:rPr>
              <a:t>× 2</a:t>
            </a:r>
            <a:endParaRPr lang="en-US" sz="3200" dirty="0"/>
          </a:p>
        </p:txBody>
      </p:sp>
      <p:sp>
        <p:nvSpPr>
          <p:cNvPr id="12" name="Text 9"/>
          <p:cNvSpPr txBox="1"/>
          <p:nvPr/>
        </p:nvSpPr>
        <p:spPr>
          <a:xfrm>
            <a:off x="32004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consumption doubled in 10 years (children and adults)</a:t>
            </a:r>
            <a:endParaRPr lang="en-US" sz="1200" dirty="0"/>
          </a:p>
        </p:txBody>
      </p:sp>
      <p:sp>
        <p:nvSpPr>
          <p:cNvPr id="13" name="Text 10"/>
          <p:cNvSpPr txBox="1"/>
          <p:nvPr/>
        </p:nvSpPr>
        <p:spPr>
          <a:xfrm>
            <a:off x="457200" y="4114800"/>
            <a:ext cx="5303520" cy="27432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What drives the market: energy, immunity, stress and sleep.</a:t>
            </a:r>
            <a:endParaRPr lang="en-US" sz="1300" dirty="0"/>
          </a:p>
        </p:txBody>
      </p:sp>
      <p:sp>
        <p:nvSpPr>
          <p:cNvPr id="14"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Synadiet / Toluna Harris Interactive (2026) · Le Quotidien du Pharmacien / IQVIA · Anses, INCA 2 and INCA 3 studies · Kantar (2025).</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TARGETS</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four targets, </a:t>
            </a:r>
            <a:pPr algn="l" indent="0" marL="0">
              <a:buNone/>
            </a:pPr>
            <a:r>
              <a:rPr lang="en-US" sz="2800" i="1" dirty="0">
                <a:solidFill>
                  <a:schemeClr val="tx1"/>
                </a:solidFill>
                <a:latin typeface="Cambria" pitchFamily="34" charset="0"/>
                <a:ea typeface="Cambria" pitchFamily="34" charset="-122"/>
                <a:cs typeface="Cambria" pitchFamily="34" charset="-120"/>
              </a:rPr>
              <a:t>four opportunities</a:t>
            </a:r>
            <a:endParaRPr lang="en-US" sz="2800" dirty="0"/>
          </a:p>
        </p:txBody>
      </p:sp>
      <p:sp>
        <p:nvSpPr>
          <p:cNvPr id="4" name="card-mini"/>
          <p:cNvSpPr/>
          <p:nvPr/>
        </p:nvSpPr>
        <p:spPr>
          <a:xfrm>
            <a:off x="457200" y="1280160"/>
            <a:ext cx="1920240" cy="3108960"/>
          </a:xfrm>
          <a:prstGeom prst="roundRect">
            <a:avLst>
              <a:gd name="adj" fmla="val 3810"/>
            </a:avLst>
          </a:prstGeom>
          <a:solidFill>
            <a:srgbClr val="FFFFFF"/>
          </a:solidFill>
          <a:ln/>
        </p:spPr>
      </p:sp>
      <p:sp>
        <p:nvSpPr>
          <p:cNvPr id="5" name="Shape 3"/>
          <p:cNvSpPr/>
          <p:nvPr/>
        </p:nvSpPr>
        <p:spPr>
          <a:xfrm>
            <a:off x="640080" y="1481328"/>
            <a:ext cx="164592" cy="164592"/>
          </a:xfrm>
          <a:prstGeom prst="ellipse">
            <a:avLst/>
          </a:prstGeom>
          <a:solidFill>
            <a:schemeClr val="accent3"/>
          </a:solidFill>
          <a:ln/>
        </p:spPr>
      </p:sp>
      <p:sp>
        <p:nvSpPr>
          <p:cNvPr id="6" name="Text 4"/>
          <p:cNvSpPr txBox="1"/>
          <p:nvPr/>
        </p:nvSpPr>
        <p:spPr>
          <a:xfrm>
            <a:off x="86868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&amp; co </a:t>
            </a:r>
            <a:pPr indent="0" marL="0">
              <a:buNone/>
            </a:pPr>
            <a:r>
              <a:rPr lang="en-US" sz="1500" i="1" dirty="0">
                <a:solidFill>
                  <a:schemeClr val="tx1"/>
                </a:solidFill>
                <a:latin typeface="Cambria" pitchFamily="34" charset="0"/>
                <a:ea typeface="Cambria" pitchFamily="34" charset="-122"/>
                <a:cs typeface="Cambria" pitchFamily="34" charset="-120"/>
              </a:rPr>
              <a:t>mini</a:t>
            </a:r>
            <a:endParaRPr lang="en-US" sz="1500" dirty="0"/>
          </a:p>
        </p:txBody>
      </p:sp>
      <p:sp>
        <p:nvSpPr>
          <p:cNvPr id="7" name="Text 5"/>
          <p:cNvSpPr txBox="1"/>
          <p:nvPr/>
        </p:nvSpPr>
        <p:spPr>
          <a:xfrm>
            <a:off x="640080" y="187452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19%</a:t>
            </a:r>
            <a:endParaRPr lang="en-US" sz="2600" dirty="0"/>
          </a:p>
        </p:txBody>
      </p:sp>
      <p:sp>
        <p:nvSpPr>
          <p:cNvPr id="8" name="Text 6"/>
          <p:cNvSpPr txBox="1"/>
          <p:nvPr/>
        </p:nvSpPr>
        <p:spPr>
          <a:xfrm>
            <a:off x="64008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3 to 17-year-olds take supplements (12% ten years earlier)</a:t>
            </a:r>
            <a:endParaRPr lang="en-US" sz="1100" dirty="0"/>
          </a:p>
        </p:txBody>
      </p:sp>
      <p:sp>
        <p:nvSpPr>
          <p:cNvPr id="9" name="Text 7"/>
          <p:cNvSpPr txBox="1"/>
          <p:nvPr/>
        </p:nvSpPr>
        <p:spPr>
          <a:xfrm>
            <a:off x="640080" y="306324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+40%</a:t>
            </a:r>
            <a:endParaRPr lang="en-US" sz="2600" dirty="0"/>
          </a:p>
        </p:txBody>
      </p:sp>
      <p:sp>
        <p:nvSpPr>
          <p:cNvPr id="10" name="Text 8"/>
          <p:cNvSpPr txBox="1"/>
          <p:nvPr/>
        </p:nvSpPr>
        <p:spPr>
          <a:xfrm>
            <a:off x="64008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for gummies in pharmacies: fun formats sell</a:t>
            </a:r>
            <a:endParaRPr lang="en-US" sz="1100" dirty="0"/>
          </a:p>
        </p:txBody>
      </p:sp>
      <p:sp>
        <p:nvSpPr>
          <p:cNvPr id="11" name="card-active"/>
          <p:cNvSpPr/>
          <p:nvPr/>
        </p:nvSpPr>
        <p:spPr>
          <a:xfrm>
            <a:off x="2560320" y="1280160"/>
            <a:ext cx="1920240" cy="3108960"/>
          </a:xfrm>
          <a:prstGeom prst="roundRect">
            <a:avLst>
              <a:gd name="adj" fmla="val 3810"/>
            </a:avLst>
          </a:prstGeom>
          <a:solidFill>
            <a:srgbClr val="FFFFFF"/>
          </a:solidFill>
          <a:ln/>
        </p:spPr>
      </p:sp>
      <p:sp>
        <p:nvSpPr>
          <p:cNvPr id="12" name="Shape 10"/>
          <p:cNvSpPr/>
          <p:nvPr/>
        </p:nvSpPr>
        <p:spPr>
          <a:xfrm>
            <a:off x="2743200" y="1481328"/>
            <a:ext cx="164592" cy="164592"/>
          </a:xfrm>
          <a:prstGeom prst="ellipse">
            <a:avLst/>
          </a:prstGeom>
          <a:solidFill>
            <a:schemeClr val="accent4"/>
          </a:solidFill>
          <a:ln/>
        </p:spPr>
      </p:sp>
      <p:sp>
        <p:nvSpPr>
          <p:cNvPr id="13" name="Text 11"/>
          <p:cNvSpPr txBox="1"/>
          <p:nvPr/>
        </p:nvSpPr>
        <p:spPr>
          <a:xfrm>
            <a:off x="297180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&amp; co </a:t>
            </a:r>
            <a:pPr indent="0" marL="0">
              <a:buNone/>
            </a:pPr>
            <a:r>
              <a:rPr lang="en-US" sz="1500" i="1" dirty="0">
                <a:solidFill>
                  <a:schemeClr val="tx1"/>
                </a:solidFill>
                <a:latin typeface="Cambria" pitchFamily="34" charset="0"/>
                <a:ea typeface="Cambria" pitchFamily="34" charset="-122"/>
                <a:cs typeface="Cambria" pitchFamily="34" charset="-120"/>
              </a:rPr>
              <a:t>active</a:t>
            </a:r>
            <a:endParaRPr lang="en-US" sz="1500" dirty="0"/>
          </a:p>
        </p:txBody>
      </p:sp>
      <p:sp>
        <p:nvSpPr>
          <p:cNvPr id="14" name="Text 12"/>
          <p:cNvSpPr txBox="1"/>
          <p:nvPr/>
        </p:nvSpPr>
        <p:spPr>
          <a:xfrm>
            <a:off x="2743200" y="187452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57%</a:t>
            </a:r>
            <a:endParaRPr lang="en-US" sz="2600" dirty="0"/>
          </a:p>
        </p:txBody>
      </p:sp>
      <p:sp>
        <p:nvSpPr>
          <p:cNvPr id="15" name="Text 13"/>
          <p:cNvSpPr txBox="1"/>
          <p:nvPr/>
        </p:nvSpPr>
        <p:spPr>
          <a:xfrm>
            <a:off x="274320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supplement users are women</a:t>
            </a:r>
            <a:endParaRPr lang="en-US" sz="1100" dirty="0"/>
          </a:p>
        </p:txBody>
      </p:sp>
      <p:sp>
        <p:nvSpPr>
          <p:cNvPr id="16" name="Text 14"/>
          <p:cNvSpPr txBox="1"/>
          <p:nvPr/>
        </p:nvSpPr>
        <p:spPr>
          <a:xfrm>
            <a:off x="2743200" y="306324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#1 need</a:t>
            </a:r>
            <a:endParaRPr lang="en-US" sz="2600" dirty="0"/>
          </a:p>
        </p:txBody>
      </p:sp>
      <p:sp>
        <p:nvSpPr>
          <p:cNvPr id="17" name="Text 15"/>
          <p:cNvSpPr txBox="1"/>
          <p:nvPr/>
        </p:nvSpPr>
        <p:spPr>
          <a:xfrm>
            <a:off x="274320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mental well-being: stress, fatigue, sleep</a:t>
            </a:r>
            <a:endParaRPr lang="en-US" sz="1100" dirty="0"/>
          </a:p>
        </p:txBody>
      </p:sp>
      <p:sp>
        <p:nvSpPr>
          <p:cNvPr id="18" name="card-luna"/>
          <p:cNvSpPr/>
          <p:nvPr/>
        </p:nvSpPr>
        <p:spPr>
          <a:xfrm>
            <a:off x="4663440" y="1280160"/>
            <a:ext cx="1920240" cy="3108960"/>
          </a:xfrm>
          <a:prstGeom prst="roundRect">
            <a:avLst>
              <a:gd name="adj" fmla="val 3810"/>
            </a:avLst>
          </a:prstGeom>
          <a:solidFill>
            <a:srgbClr val="FFFFFF"/>
          </a:solidFill>
          <a:ln/>
        </p:spPr>
      </p:sp>
      <p:sp>
        <p:nvSpPr>
          <p:cNvPr id="19" name="Shape 17"/>
          <p:cNvSpPr/>
          <p:nvPr/>
        </p:nvSpPr>
        <p:spPr>
          <a:xfrm>
            <a:off x="4846320" y="1481328"/>
            <a:ext cx="164592" cy="164592"/>
          </a:xfrm>
          <a:prstGeom prst="ellipse">
            <a:avLst/>
          </a:prstGeom>
          <a:solidFill>
            <a:schemeClr val="accent1"/>
          </a:solidFill>
          <a:ln/>
        </p:spPr>
      </p:sp>
      <p:sp>
        <p:nvSpPr>
          <p:cNvPr id="20" name="Text 18"/>
          <p:cNvSpPr txBox="1"/>
          <p:nvPr/>
        </p:nvSpPr>
        <p:spPr>
          <a:xfrm>
            <a:off x="507492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&amp; co </a:t>
            </a:r>
            <a:pPr indent="0" marL="0">
              <a:buNone/>
            </a:pPr>
            <a:r>
              <a:rPr lang="en-US" sz="1500" i="1" dirty="0">
                <a:solidFill>
                  <a:schemeClr val="tx1"/>
                </a:solidFill>
                <a:latin typeface="Cambria" pitchFamily="34" charset="0"/>
                <a:ea typeface="Cambria" pitchFamily="34" charset="-122"/>
                <a:cs typeface="Cambria" pitchFamily="34" charset="-120"/>
              </a:rPr>
              <a:t>luna</a:t>
            </a:r>
            <a:endParaRPr lang="en-US" sz="1500" dirty="0"/>
          </a:p>
        </p:txBody>
      </p:sp>
      <p:sp>
        <p:nvSpPr>
          <p:cNvPr id="21" name="Text 19"/>
          <p:cNvSpPr txBox="1"/>
          <p:nvPr/>
        </p:nvSpPr>
        <p:spPr>
          <a:xfrm>
            <a:off x="4846320" y="187452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14 M</a:t>
            </a:r>
            <a:endParaRPr lang="en-US" sz="2600" dirty="0"/>
          </a:p>
        </p:txBody>
      </p:sp>
      <p:sp>
        <p:nvSpPr>
          <p:cNvPr id="22" name="Text 20"/>
          <p:cNvSpPr txBox="1"/>
          <p:nvPr/>
        </p:nvSpPr>
        <p:spPr>
          <a:xfrm>
            <a:off x="484632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women affected by menopause in France</a:t>
            </a:r>
            <a:endParaRPr lang="en-US" sz="1100" dirty="0"/>
          </a:p>
        </p:txBody>
      </p:sp>
      <p:sp>
        <p:nvSpPr>
          <p:cNvPr id="23" name="Text 21"/>
          <p:cNvSpPr txBox="1"/>
          <p:nvPr/>
        </p:nvSpPr>
        <p:spPr>
          <a:xfrm>
            <a:off x="4846320" y="306324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+9%</a:t>
            </a:r>
            <a:endParaRPr lang="en-US" sz="2600" dirty="0"/>
          </a:p>
        </p:txBody>
      </p:sp>
      <p:sp>
        <p:nvSpPr>
          <p:cNvPr id="24" name="Text 22"/>
          <p:cNvSpPr txBox="1"/>
          <p:nvPr/>
        </p:nvSpPr>
        <p:spPr>
          <a:xfrm>
            <a:off x="484632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growth in menopause sales in pharmacies in 2024</a:t>
            </a:r>
            <a:endParaRPr lang="en-US" sz="1100" dirty="0"/>
          </a:p>
        </p:txBody>
      </p:sp>
      <p:sp>
        <p:nvSpPr>
          <p:cNvPr id="25" name="card-silver"/>
          <p:cNvSpPr/>
          <p:nvPr/>
        </p:nvSpPr>
        <p:spPr>
          <a:xfrm>
            <a:off x="6766560" y="1280160"/>
            <a:ext cx="1920240" cy="3108960"/>
          </a:xfrm>
          <a:prstGeom prst="roundRect">
            <a:avLst>
              <a:gd name="adj" fmla="val 3810"/>
            </a:avLst>
          </a:prstGeom>
          <a:solidFill>
            <a:srgbClr val="FFFFFF"/>
          </a:solidFill>
          <a:ln/>
        </p:spPr>
      </p:sp>
      <p:sp>
        <p:nvSpPr>
          <p:cNvPr id="26" name="Shape 24"/>
          <p:cNvSpPr/>
          <p:nvPr/>
        </p:nvSpPr>
        <p:spPr>
          <a:xfrm>
            <a:off x="6949440" y="1481328"/>
            <a:ext cx="164592" cy="164592"/>
          </a:xfrm>
          <a:prstGeom prst="ellipse">
            <a:avLst/>
          </a:prstGeom>
          <a:solidFill>
            <a:schemeClr val="accent2"/>
          </a:solidFill>
          <a:ln/>
        </p:spPr>
      </p:sp>
      <p:sp>
        <p:nvSpPr>
          <p:cNvPr id="27" name="Text 25"/>
          <p:cNvSpPr txBox="1"/>
          <p:nvPr/>
        </p:nvSpPr>
        <p:spPr>
          <a:xfrm>
            <a:off x="717804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sip &amp; co </a:t>
            </a:r>
            <a:pPr indent="0" marL="0">
              <a:buNone/>
            </a:pPr>
            <a:r>
              <a:rPr lang="en-US" sz="1500" i="1" dirty="0">
                <a:solidFill>
                  <a:schemeClr val="tx1"/>
                </a:solidFill>
                <a:latin typeface="Cambria" pitchFamily="34" charset="0"/>
                <a:ea typeface="Cambria" pitchFamily="34" charset="-122"/>
                <a:cs typeface="Cambria" pitchFamily="34" charset="-120"/>
              </a:rPr>
              <a:t>silver</a:t>
            </a:r>
            <a:endParaRPr lang="en-US" sz="1500" dirty="0"/>
          </a:p>
        </p:txBody>
      </p:sp>
      <p:sp>
        <p:nvSpPr>
          <p:cNvPr id="28" name="Text 26"/>
          <p:cNvSpPr txBox="1"/>
          <p:nvPr/>
        </p:nvSpPr>
        <p:spPr>
          <a:xfrm>
            <a:off x="6949440" y="187452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22%</a:t>
            </a:r>
            <a:endParaRPr lang="en-US" sz="2600" dirty="0"/>
          </a:p>
        </p:txBody>
      </p:sp>
      <p:sp>
        <p:nvSpPr>
          <p:cNvPr id="29" name="Text 27"/>
          <p:cNvSpPr txBox="1"/>
          <p:nvPr/>
        </p:nvSpPr>
        <p:spPr>
          <a:xfrm>
            <a:off x="694944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French people are 65 or over</a:t>
            </a:r>
            <a:endParaRPr lang="en-US" sz="1100" dirty="0"/>
          </a:p>
        </p:txBody>
      </p:sp>
      <p:sp>
        <p:nvSpPr>
          <p:cNvPr id="30" name="Text 28"/>
          <p:cNvSpPr txBox="1"/>
          <p:nvPr/>
        </p:nvSpPr>
        <p:spPr>
          <a:xfrm>
            <a:off x="6949440" y="306324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14%</a:t>
            </a:r>
            <a:endParaRPr lang="en-US" sz="2600" dirty="0"/>
          </a:p>
        </p:txBody>
      </p:sp>
      <p:sp>
        <p:nvSpPr>
          <p:cNvPr id="31" name="Text 29"/>
          <p:cNvSpPr txBox="1"/>
          <p:nvPr/>
        </p:nvSpPr>
        <p:spPr>
          <a:xfrm>
            <a:off x="694944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of seniors living at home struggle to swallow a pill</a:t>
            </a:r>
            <a:endParaRPr lang="en-US" sz="1100" dirty="0"/>
          </a:p>
        </p:txBody>
      </p:sp>
      <p:sp>
        <p:nvSpPr>
          <p:cNvPr id="32"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Anses INCA 3 · Le Quotidien du Pharmacien · Synadiet · Les Échos Études / GERS · INSEE 2025 · dysphagia studies (details in appendix).</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COMPETITION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why a straw </a:t>
            </a:r>
            <a:pPr algn="l" indent="0" marL="0">
              <a:buNone/>
            </a:pPr>
            <a:r>
              <a:rPr lang="en-US" sz="2800" i="1" dirty="0">
                <a:solidFill>
                  <a:schemeClr val="tx1"/>
                </a:solidFill>
                <a:latin typeface="Cambria" pitchFamily="34" charset="0"/>
                <a:ea typeface="Cambria" pitchFamily="34" charset="-122"/>
                <a:cs typeface="Cambria" pitchFamily="34" charset="-120"/>
              </a:rPr>
              <a:t>rather than a capsule?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2011680"/>
                <a:gridCol w="1463040"/>
                <a:gridCol w="1737360"/>
                <a:gridCol w="1463040"/>
              </a:tblGrid>
              <a:tr h="384048">
                <a:tc>
                  <a:txBody>
                    <a:bodyPr/>
                    <a:lstStyle/>
                    <a:p>
                      <a:pPr indent="0" marL="0">
                        <a:buNone/>
                      </a:pP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bg2"/>
                          </a:solidFill>
                        </a:rPr>
                        <a:t>sip &amp; co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tx1"/>
                    </a:solidFill>
                  </a:tcPr>
                </a:tc>
                <a:tc>
                  <a:txBody>
                    <a:bodyPr/>
                    <a:lstStyle/>
                    <a:p>
                      <a:pPr indent="0" marL="0">
                        <a:buNone/>
                      </a:pPr>
                      <a:r>
                        <a:rPr lang="en-US" sz="1200" b="1" dirty="0">
                          <a:solidFill>
                            <a:schemeClr val="tx2"/>
                          </a:solidFill>
                        </a:rPr>
                        <a:t>capsules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gummies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powders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to swallow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nothing, just drink</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 to 3 capsules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 chew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 dissolve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children &amp; seniors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same habit at any age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difficult</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mistaken for sweets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taste often refused</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sugar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no added sugar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 to 4 g</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often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visible dose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yes, the beads disappear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enjoyable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your favourite drink</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yes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Our edge: the only format that works just as well for a 6-year-old as for their grandfather, and adds a glass of water with every dose.</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VALIDATION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what is done, </a:t>
            </a:r>
            <a:pPr algn="l" indent="0" marL="0">
              <a:buNone/>
            </a:pPr>
            <a:r>
              <a:rPr lang="en-US" sz="2800" i="1" dirty="0">
                <a:solidFill>
                  <a:schemeClr val="tx1"/>
                </a:solidFill>
                <a:latin typeface="Cambria" pitchFamily="34" charset="0"/>
                <a:ea typeface="Cambria" pitchFamily="34" charset="-122"/>
                <a:cs typeface="Cambria" pitchFamily="34" charset="-120"/>
              </a:rPr>
              <a:t>what is left to prove</a:t>
            </a:r>
            <a:endParaRPr lang="en-US" sz="2800" dirty="0"/>
          </a:p>
        </p:txBody>
      </p:sp>
      <p:sp>
        <p:nvSpPr>
          <p:cNvPr id="4" name="val-done"/>
          <p:cNvSpPr/>
          <p:nvPr/>
        </p:nvSpPr>
        <p:spPr>
          <a:xfrm>
            <a:off x="457200" y="1280160"/>
            <a:ext cx="3977640" cy="3108960"/>
          </a:xfrm>
          <a:prstGeom prst="roundRect">
            <a:avLst>
              <a:gd name="adj" fmla="val 2353"/>
            </a:avLst>
          </a:prstGeom>
          <a:solidFill>
            <a:srgbClr val="FFFFFF"/>
          </a:solidFill>
          <a:ln/>
        </p:spPr>
      </p:sp>
      <p:sp>
        <p:nvSpPr>
          <p:cNvPr id="5" name="Text 3"/>
          <p:cNvSpPr txBox="1"/>
          <p:nvPr/>
        </p:nvSpPr>
        <p:spPr>
          <a:xfrm>
            <a:off x="73152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already done</a:t>
            </a:r>
            <a:endParaRPr lang="en-US" sz="1800" dirty="0"/>
          </a:p>
        </p:txBody>
      </p:sp>
      <p:sp>
        <p:nvSpPr>
          <p:cNvPr id="6" name="Shape 4"/>
          <p:cNvSpPr/>
          <p:nvPr/>
        </p:nvSpPr>
        <p:spPr>
          <a:xfrm>
            <a:off x="731520" y="2020824"/>
            <a:ext cx="164592" cy="164592"/>
          </a:xfrm>
          <a:prstGeom prst="ellipse">
            <a:avLst/>
          </a:prstGeom>
          <a:solidFill>
            <a:schemeClr val="accent2"/>
          </a:solidFill>
          <a:ln/>
        </p:spPr>
      </p:sp>
      <p:sp>
        <p:nvSpPr>
          <p:cNvPr id="7" name="Text 5"/>
          <p:cNvSpPr txBox="1"/>
          <p:nvPr/>
        </p:nvSpPr>
        <p:spPr>
          <a:xfrm>
            <a:off x="102412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Market research (Synadiet, Anses, INSEE)</a:t>
            </a:r>
            <a:endParaRPr lang="en-US" sz="1300" dirty="0"/>
          </a:p>
        </p:txBody>
      </p:sp>
      <p:sp>
        <p:nvSpPr>
          <p:cNvPr id="8" name="Shape 6"/>
          <p:cNvSpPr/>
          <p:nvPr/>
        </p:nvSpPr>
        <p:spPr>
          <a:xfrm>
            <a:off x="731520" y="2478024"/>
            <a:ext cx="164592" cy="164592"/>
          </a:xfrm>
          <a:prstGeom prst="ellipse">
            <a:avLst/>
          </a:prstGeom>
          <a:solidFill>
            <a:schemeClr val="accent2"/>
          </a:solidFill>
          <a:ln/>
        </p:spPr>
      </p:sp>
      <p:sp>
        <p:nvSpPr>
          <p:cNvPr id="9" name="Text 7"/>
          <p:cNvSpPr txBox="1"/>
          <p:nvPr/>
        </p:nvSpPr>
        <p:spPr>
          <a:xfrm>
            <a:off x="102412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Personas and empathy map</a:t>
            </a:r>
            <a:endParaRPr lang="en-US" sz="1300" dirty="0"/>
          </a:p>
        </p:txBody>
      </p:sp>
      <p:sp>
        <p:nvSpPr>
          <p:cNvPr id="10" name="Shape 8"/>
          <p:cNvSpPr/>
          <p:nvPr/>
        </p:nvSpPr>
        <p:spPr>
          <a:xfrm>
            <a:off x="731520" y="2935224"/>
            <a:ext cx="164592" cy="164592"/>
          </a:xfrm>
          <a:prstGeom prst="ellipse">
            <a:avLst/>
          </a:prstGeom>
          <a:solidFill>
            <a:schemeClr val="accent2"/>
          </a:solidFill>
          <a:ln/>
        </p:spPr>
      </p:sp>
      <p:sp>
        <p:nvSpPr>
          <p:cNvPr id="11" name="Text 9"/>
          <p:cNvSpPr txBox="1"/>
          <p:nvPr/>
        </p:nvSpPr>
        <p:spPr>
          <a:xfrm>
            <a:off x="102412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Perceptual map against competitors</a:t>
            </a:r>
            <a:endParaRPr lang="en-US" sz="1300" dirty="0"/>
          </a:p>
        </p:txBody>
      </p:sp>
      <p:sp>
        <p:nvSpPr>
          <p:cNvPr id="12" name="Shape 10"/>
          <p:cNvSpPr/>
          <p:nvPr/>
        </p:nvSpPr>
        <p:spPr>
          <a:xfrm>
            <a:off x="731520" y="3392424"/>
            <a:ext cx="164592" cy="164592"/>
          </a:xfrm>
          <a:prstGeom prst="ellipse">
            <a:avLst/>
          </a:prstGeom>
          <a:solidFill>
            <a:schemeClr val="accent2"/>
          </a:solidFill>
          <a:ln/>
        </p:spPr>
      </p:sp>
      <p:sp>
        <p:nvSpPr>
          <p:cNvPr id="13" name="Text 11"/>
          <p:cNvSpPr txBox="1"/>
          <p:nvPr/>
        </p:nvSpPr>
        <p:spPr>
          <a:xfrm>
            <a:off x="102412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Brand identity and 16 straws defined</a:t>
            </a:r>
            <a:endParaRPr lang="en-US" sz="1300" dirty="0"/>
          </a:p>
        </p:txBody>
      </p:sp>
      <p:sp>
        <p:nvSpPr>
          <p:cNvPr id="14" name="Shape 12"/>
          <p:cNvSpPr/>
          <p:nvPr/>
        </p:nvSpPr>
        <p:spPr>
          <a:xfrm>
            <a:off x="731520" y="3849624"/>
            <a:ext cx="164592" cy="164592"/>
          </a:xfrm>
          <a:prstGeom prst="ellipse">
            <a:avLst/>
          </a:prstGeom>
          <a:solidFill>
            <a:schemeClr val="accent2"/>
          </a:solidFill>
          <a:ln/>
        </p:spPr>
      </p:sp>
      <p:sp>
        <p:nvSpPr>
          <p:cNvPr id="15" name="Text 13"/>
          <p:cNvSpPr txBox="1"/>
          <p:nvPr/>
        </p:nvSpPr>
        <p:spPr>
          <a:xfrm>
            <a:off x="102412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Showcase website with a waiting list</a:t>
            </a:r>
            <a:endParaRPr lang="en-US" sz="1300" dirty="0"/>
          </a:p>
        </p:txBody>
      </p:sp>
      <p:sp>
        <p:nvSpPr>
          <p:cNvPr id="16" name="val-next"/>
          <p:cNvSpPr/>
          <p:nvPr/>
        </p:nvSpPr>
        <p:spPr>
          <a:xfrm>
            <a:off x="4709160" y="1280160"/>
            <a:ext cx="3977640" cy="3108960"/>
          </a:xfrm>
          <a:prstGeom prst="roundRect">
            <a:avLst>
              <a:gd name="adj" fmla="val 2353"/>
            </a:avLst>
          </a:prstGeom>
          <a:solidFill>
            <a:srgbClr val="FFFFFF"/>
          </a:solidFill>
          <a:ln/>
        </p:spPr>
      </p:sp>
      <p:sp>
        <p:nvSpPr>
          <p:cNvPr id="17" name="Text 15"/>
          <p:cNvSpPr txBox="1"/>
          <p:nvPr/>
        </p:nvSpPr>
        <p:spPr>
          <a:xfrm>
            <a:off x="498348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next steps</a:t>
            </a:r>
            <a:endParaRPr lang="en-US" sz="1800" dirty="0"/>
          </a:p>
        </p:txBody>
      </p:sp>
      <p:sp>
        <p:nvSpPr>
          <p:cNvPr id="18" name="Shape 16"/>
          <p:cNvSpPr/>
          <p:nvPr/>
        </p:nvSpPr>
        <p:spPr>
          <a:xfrm>
            <a:off x="4983480" y="2020824"/>
            <a:ext cx="164592" cy="164592"/>
          </a:xfrm>
          <a:prstGeom prst="ellipse">
            <a:avLst/>
          </a:prstGeom>
          <a:solidFill>
            <a:schemeClr val="accent4"/>
          </a:solidFill>
          <a:ln/>
        </p:spPr>
      </p:sp>
      <p:sp>
        <p:nvSpPr>
          <p:cNvPr id="19" name="Text 17"/>
          <p:cNvSpPr txBox="1"/>
          <p:nvPr/>
        </p:nvSpPr>
        <p:spPr>
          <a:xfrm>
            <a:off x="527608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Consumer interviews in each target</a:t>
            </a:r>
            <a:endParaRPr lang="en-US" sz="1300" dirty="0"/>
          </a:p>
        </p:txBody>
      </p:sp>
      <p:sp>
        <p:nvSpPr>
          <p:cNvPr id="20" name="Shape 18"/>
          <p:cNvSpPr/>
          <p:nvPr/>
        </p:nvSpPr>
        <p:spPr>
          <a:xfrm>
            <a:off x="4983480" y="2478024"/>
            <a:ext cx="164592" cy="164592"/>
          </a:xfrm>
          <a:prstGeom prst="ellipse">
            <a:avLst/>
          </a:prstGeom>
          <a:solidFill>
            <a:schemeClr val="accent4"/>
          </a:solidFill>
          <a:ln/>
        </p:spPr>
      </p:sp>
      <p:sp>
        <p:nvSpPr>
          <p:cNvPr id="21" name="Text 19"/>
          <p:cNvSpPr txBox="1"/>
          <p:nvPr/>
        </p:nvSpPr>
        <p:spPr>
          <a:xfrm>
            <a:off x="527608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Taste and dissolution tests</a:t>
            </a:r>
            <a:endParaRPr lang="en-US" sz="1300" dirty="0"/>
          </a:p>
        </p:txBody>
      </p:sp>
      <p:sp>
        <p:nvSpPr>
          <p:cNvPr id="22" name="Shape 20"/>
          <p:cNvSpPr/>
          <p:nvPr/>
        </p:nvSpPr>
        <p:spPr>
          <a:xfrm>
            <a:off x="4983480" y="2935224"/>
            <a:ext cx="164592" cy="164592"/>
          </a:xfrm>
          <a:prstGeom prst="ellipse">
            <a:avLst/>
          </a:prstGeom>
          <a:solidFill>
            <a:schemeClr val="accent4"/>
          </a:solidFill>
          <a:ln/>
        </p:spPr>
      </p:sp>
      <p:sp>
        <p:nvSpPr>
          <p:cNvPr id="23" name="Text 21"/>
          <p:cNvSpPr txBox="1"/>
          <p:nvPr/>
        </p:nvSpPr>
        <p:spPr>
          <a:xfrm>
            <a:off x="527608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Quote and prototype with the manufacturer</a:t>
            </a:r>
            <a:endParaRPr lang="en-US" sz="1300" dirty="0"/>
          </a:p>
        </p:txBody>
      </p:sp>
      <p:sp>
        <p:nvSpPr>
          <p:cNvPr id="24" name="Shape 22"/>
          <p:cNvSpPr/>
          <p:nvPr/>
        </p:nvSpPr>
        <p:spPr>
          <a:xfrm>
            <a:off x="4983480" y="3392424"/>
            <a:ext cx="164592" cy="164592"/>
          </a:xfrm>
          <a:prstGeom prst="ellipse">
            <a:avLst/>
          </a:prstGeom>
          <a:solidFill>
            <a:schemeClr val="accent4"/>
          </a:solidFill>
          <a:ln/>
        </p:spPr>
      </p:sp>
      <p:sp>
        <p:nvSpPr>
          <p:cNvPr id="25" name="Text 23"/>
          <p:cNvSpPr txBox="1"/>
          <p:nvPr/>
        </p:nvSpPr>
        <p:spPr>
          <a:xfrm>
            <a:off x="527608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Regulatory approval of the formulas</a:t>
            </a:r>
            <a:endParaRPr lang="en-US" sz="1300" dirty="0"/>
          </a:p>
        </p:txBody>
      </p:sp>
      <p:sp>
        <p:nvSpPr>
          <p:cNvPr id="26" name="Shape 24"/>
          <p:cNvSpPr/>
          <p:nvPr/>
        </p:nvSpPr>
        <p:spPr>
          <a:xfrm>
            <a:off x="4983480" y="3849624"/>
            <a:ext cx="164592" cy="164592"/>
          </a:xfrm>
          <a:prstGeom prst="ellipse">
            <a:avLst/>
          </a:prstGeom>
          <a:solidFill>
            <a:schemeClr val="accent4"/>
          </a:solidFill>
          <a:ln/>
        </p:spPr>
      </p:sp>
      <p:sp>
        <p:nvSpPr>
          <p:cNvPr id="27" name="Text 25"/>
          <p:cNvSpPr txBox="1"/>
          <p:nvPr/>
        </p:nvSpPr>
        <p:spPr>
          <a:xfrm>
            <a:off x="527608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First sign-ups on the waiting list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BUSINESS MODEL</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how sip &amp; co </a:t>
            </a:r>
            <a:pPr algn="l" indent="0" marL="0">
              <a:buNone/>
            </a:pPr>
            <a:r>
              <a:rPr lang="en-US" sz="2800" i="1" dirty="0">
                <a:solidFill>
                  <a:schemeClr val="tx1"/>
                </a:solidFill>
                <a:latin typeface="Cambria" pitchFamily="34" charset="0"/>
                <a:ea typeface="Cambria" pitchFamily="34" charset="-122"/>
                <a:cs typeface="Cambria" pitchFamily="34" charset="-120"/>
              </a:rPr>
              <a:t>makes money</a:t>
            </a:r>
            <a:endParaRPr lang="en-US" sz="2800" dirty="0"/>
          </a:p>
        </p:txBody>
      </p:sp>
      <p:sp>
        <p:nvSpPr>
          <p:cNvPr id="4" name="stream0"/>
          <p:cNvSpPr/>
          <p:nvPr/>
        </p:nvSpPr>
        <p:spPr>
          <a:xfrm>
            <a:off x="457200" y="1280160"/>
            <a:ext cx="4572000" cy="868680"/>
          </a:xfrm>
          <a:prstGeom prst="roundRect">
            <a:avLst>
              <a:gd name="adj" fmla="val 8421"/>
            </a:avLst>
          </a:prstGeom>
          <a:solidFill>
            <a:srgbClr val="FFFFFF"/>
          </a:solidFill>
          <a:ln/>
        </p:spPr>
      </p:sp>
      <p:sp>
        <p:nvSpPr>
          <p:cNvPr id="5" name="Shape 3"/>
          <p:cNvSpPr/>
          <p:nvPr/>
        </p:nvSpPr>
        <p:spPr>
          <a:xfrm>
            <a:off x="685800" y="1581912"/>
            <a:ext cx="256032" cy="256032"/>
          </a:xfrm>
          <a:prstGeom prst="ellipse">
            <a:avLst/>
          </a:prstGeom>
          <a:solidFill>
            <a:schemeClr val="accent4"/>
          </a:solidFill>
          <a:ln/>
        </p:spPr>
      </p:sp>
      <p:sp>
        <p:nvSpPr>
          <p:cNvPr id="6" name="Text 4"/>
          <p:cNvSpPr txBox="1"/>
          <p:nvPr/>
        </p:nvSpPr>
        <p:spPr>
          <a:xfrm>
            <a:off x="1143000" y="1389888"/>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online subscription</a:t>
            </a:r>
            <a:endParaRPr lang="en-US" sz="1500" dirty="0"/>
          </a:p>
        </p:txBody>
      </p:sp>
      <p:sp>
        <p:nvSpPr>
          <p:cNvPr id="7" name="Text 5"/>
          <p:cNvSpPr txBox="1"/>
          <p:nvPr/>
        </p:nvSpPr>
        <p:spPr>
          <a:xfrm>
            <a:off x="1143000" y="1691640"/>
            <a:ext cx="3749040" cy="384048"/>
          </a:xfrm>
          <a:prstGeom prst="rect">
            <a:avLst/>
          </a:prstGeom>
          <a:noFill/>
          <a:ln/>
        </p:spPr>
        <p:txBody>
          <a:bodyPr wrap="square" lIns="0" tIns="0" rIns="0" bIns="0" rtlCol="0" anchor="t"/>
          <a:lstStyle/>
          <a:p>
            <a:pPr indent="0" marL="0">
              <a:buNone/>
            </a:pPr>
            <a:r>
              <a:rPr lang="en-US" sz="1200" dirty="0">
                <a:solidFill>
                  <a:schemeClr val="tx2"/>
                </a:solidFill>
              </a:rPr>
              <a:t>The core of the model: recurring revenue, delivered monthly, pause in one click.</a:t>
            </a:r>
            <a:endParaRPr lang="en-US" sz="1200" dirty="0"/>
          </a:p>
        </p:txBody>
      </p:sp>
      <p:sp>
        <p:nvSpPr>
          <p:cNvPr id="8" name="stream1"/>
          <p:cNvSpPr/>
          <p:nvPr/>
        </p:nvSpPr>
        <p:spPr>
          <a:xfrm>
            <a:off x="457200" y="2304288"/>
            <a:ext cx="4572000" cy="868680"/>
          </a:xfrm>
          <a:prstGeom prst="roundRect">
            <a:avLst>
              <a:gd name="adj" fmla="val 8421"/>
            </a:avLst>
          </a:prstGeom>
          <a:solidFill>
            <a:srgbClr val="FFFFFF"/>
          </a:solidFill>
          <a:ln/>
        </p:spPr>
      </p:sp>
      <p:sp>
        <p:nvSpPr>
          <p:cNvPr id="9" name="Shape 7"/>
          <p:cNvSpPr/>
          <p:nvPr/>
        </p:nvSpPr>
        <p:spPr>
          <a:xfrm>
            <a:off x="685800" y="2606040"/>
            <a:ext cx="256032" cy="256032"/>
          </a:xfrm>
          <a:prstGeom prst="ellipse">
            <a:avLst/>
          </a:prstGeom>
          <a:solidFill>
            <a:schemeClr val="accent1"/>
          </a:solidFill>
          <a:ln/>
        </p:spPr>
      </p:sp>
      <p:sp>
        <p:nvSpPr>
          <p:cNvPr id="10" name="Text 8"/>
          <p:cNvSpPr txBox="1"/>
          <p:nvPr/>
        </p:nvSpPr>
        <p:spPr>
          <a:xfrm>
            <a:off x="1143000" y="2414016"/>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gift sets</a:t>
            </a:r>
            <a:endParaRPr lang="en-US" sz="1500" dirty="0"/>
          </a:p>
        </p:txBody>
      </p:sp>
      <p:sp>
        <p:nvSpPr>
          <p:cNvPr id="11" name="Text 9"/>
          <p:cNvSpPr txBox="1"/>
          <p:nvPr/>
        </p:nvSpPr>
        <p:spPr>
          <a:xfrm>
            <a:off x="1143000" y="2715768"/>
            <a:ext cx="3749040" cy="384048"/>
          </a:xfrm>
          <a:prstGeom prst="rect">
            <a:avLst/>
          </a:prstGeom>
          <a:noFill/>
          <a:ln/>
        </p:spPr>
        <p:txBody>
          <a:bodyPr wrap="square" lIns="0" tIns="0" rIns="0" bIns="0" rtlCol="0" anchor="t"/>
          <a:lstStyle/>
          <a:p>
            <a:pPr indent="0" marL="0">
              <a:buNone/>
            </a:pPr>
            <a:r>
              <a:rPr lang="en-US" sz="1200" dirty="0">
                <a:solidFill>
                  <a:schemeClr val="tx2"/>
                </a:solidFill>
              </a:rPr>
              <a:t>Discovery set, family box: a format people give as a gift.</a:t>
            </a:r>
            <a:endParaRPr lang="en-US" sz="1200" dirty="0"/>
          </a:p>
        </p:txBody>
      </p:sp>
      <p:sp>
        <p:nvSpPr>
          <p:cNvPr id="12" name="stream2"/>
          <p:cNvSpPr/>
          <p:nvPr/>
        </p:nvSpPr>
        <p:spPr>
          <a:xfrm>
            <a:off x="457200" y="3328416"/>
            <a:ext cx="4572000" cy="868680"/>
          </a:xfrm>
          <a:prstGeom prst="roundRect">
            <a:avLst>
              <a:gd name="adj" fmla="val 8421"/>
            </a:avLst>
          </a:prstGeom>
          <a:solidFill>
            <a:srgbClr val="FFFFFF"/>
          </a:solidFill>
          <a:ln/>
        </p:spPr>
      </p:sp>
      <p:sp>
        <p:nvSpPr>
          <p:cNvPr id="13" name="Shape 11"/>
          <p:cNvSpPr/>
          <p:nvPr/>
        </p:nvSpPr>
        <p:spPr>
          <a:xfrm>
            <a:off x="685800" y="3630168"/>
            <a:ext cx="256032" cy="256032"/>
          </a:xfrm>
          <a:prstGeom prst="ellipse">
            <a:avLst/>
          </a:prstGeom>
          <a:solidFill>
            <a:schemeClr val="accent2"/>
          </a:solidFill>
          <a:ln/>
        </p:spPr>
      </p:sp>
      <p:sp>
        <p:nvSpPr>
          <p:cNvPr id="14" name="Text 12"/>
          <p:cNvSpPr txBox="1"/>
          <p:nvPr/>
        </p:nvSpPr>
        <p:spPr>
          <a:xfrm>
            <a:off x="1143000" y="3438144"/>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pharmacies</a:t>
            </a:r>
            <a:endParaRPr lang="en-US" sz="1500" dirty="0"/>
          </a:p>
        </p:txBody>
      </p:sp>
      <p:sp>
        <p:nvSpPr>
          <p:cNvPr id="15" name="Text 13"/>
          <p:cNvSpPr txBox="1"/>
          <p:nvPr/>
        </p:nvSpPr>
        <p:spPr>
          <a:xfrm>
            <a:off x="1143000" y="3739896"/>
            <a:ext cx="3749040" cy="384048"/>
          </a:xfrm>
          <a:prstGeom prst="rect">
            <a:avLst/>
          </a:prstGeom>
          <a:noFill/>
          <a:ln/>
        </p:spPr>
        <p:txBody>
          <a:bodyPr wrap="square" lIns="0" tIns="0" rIns="0" bIns="0" rtlCol="0" anchor="t"/>
          <a:lstStyle/>
          <a:p>
            <a:pPr indent="0" marL="0">
              <a:buNone/>
            </a:pPr>
            <a:r>
              <a:rPr lang="en-US" sz="1200" dirty="0">
                <a:solidFill>
                  <a:schemeClr val="tx2"/>
                </a:solidFill>
              </a:rPr>
              <a:t>In a second phase: the #1 channel for supplements in France.</a:t>
            </a:r>
            <a:endParaRPr lang="en-US" sz="1200" dirty="0"/>
          </a:p>
        </p:txBody>
      </p:sp>
      <p:sp>
        <p:nvSpPr>
          <p:cNvPr id="16" name="price-card"/>
          <p:cNvSpPr/>
          <p:nvPr/>
        </p:nvSpPr>
        <p:spPr>
          <a:xfrm>
            <a:off x="5394960" y="1280160"/>
            <a:ext cx="3291840" cy="2926080"/>
          </a:xfrm>
          <a:prstGeom prst="roundRect">
            <a:avLst>
              <a:gd name="adj" fmla="val 2500"/>
            </a:avLst>
          </a:prstGeom>
          <a:solidFill>
            <a:schemeClr val="tx1"/>
          </a:solidFill>
          <a:ln/>
        </p:spPr>
      </p:sp>
      <p:sp>
        <p:nvSpPr>
          <p:cNvPr id="17" name="Text 15"/>
          <p:cNvSpPr txBox="1"/>
          <p:nvPr/>
        </p:nvSpPr>
        <p:spPr>
          <a:xfrm>
            <a:off x="5669280" y="1463040"/>
            <a:ext cx="2743200" cy="274320"/>
          </a:xfrm>
          <a:prstGeom prst="rect">
            <a:avLst/>
          </a:prstGeom>
          <a:noFill/>
          <a:ln/>
        </p:spPr>
        <p:txBody>
          <a:bodyPr wrap="square" lIns="0" tIns="0" rIns="0" bIns="0" rtlCol="0" anchor="ctr"/>
          <a:lstStyle/>
          <a:p>
            <a:pPr indent="0" marL="0">
              <a:buNone/>
            </a:pPr>
            <a:r>
              <a:rPr lang="en-US" sz="1200" b="1" spc="100" kern="0" dirty="0">
                <a:solidFill>
                  <a:srgbClr val="A99F96"/>
                </a:solidFill>
              </a:rPr>
              <a:t>indicative prices</a:t>
            </a:r>
            <a:endParaRPr lang="en-US" sz="1200" dirty="0"/>
          </a:p>
        </p:txBody>
      </p:sp>
      <p:sp>
        <p:nvSpPr>
          <p:cNvPr id="18" name="Text 16"/>
          <p:cNvSpPr txBox="1"/>
          <p:nvPr/>
        </p:nvSpPr>
        <p:spPr>
          <a:xfrm>
            <a:off x="5669280" y="1783080"/>
            <a:ext cx="2834640" cy="502920"/>
          </a:xfrm>
          <a:prstGeom prst="rect">
            <a:avLst/>
          </a:prstGeom>
          <a:noFill/>
          <a:ln/>
        </p:spPr>
        <p:txBody>
          <a:bodyPr wrap="square" lIns="0" tIns="0" rIns="0" bIns="0" rtlCol="0" anchor="ctr"/>
          <a:lstStyle/>
          <a:p>
            <a:pPr indent="0" marL="0">
              <a:buNone/>
            </a:pPr>
            <a:r>
              <a:rPr lang="en-US" sz="3000" b="1" dirty="0">
                <a:solidFill>
                  <a:schemeClr val="bg2"/>
                </a:solidFill>
              </a:rPr>
              <a:t>€8.90 – €9.90</a:t>
            </a:r>
            <a:endParaRPr lang="en-US" sz="3000" dirty="0"/>
          </a:p>
        </p:txBody>
      </p:sp>
      <p:sp>
        <p:nvSpPr>
          <p:cNvPr id="19" name="Text 17"/>
          <p:cNvSpPr txBox="1"/>
          <p:nvPr/>
        </p:nvSpPr>
        <p:spPr>
          <a:xfrm>
            <a:off x="5669280" y="22860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per box of 7 straws</a:t>
            </a:r>
            <a:endParaRPr lang="en-US" sz="1300" dirty="0"/>
          </a:p>
        </p:txBody>
      </p:sp>
      <p:sp>
        <p:nvSpPr>
          <p:cNvPr id="20" name="Text 18"/>
          <p:cNvSpPr txBox="1"/>
          <p:nvPr/>
        </p:nvSpPr>
        <p:spPr>
          <a:xfrm>
            <a:off x="5669280" y="2697480"/>
            <a:ext cx="2743200" cy="502920"/>
          </a:xfrm>
          <a:prstGeom prst="rect">
            <a:avLst/>
          </a:prstGeom>
          <a:noFill/>
          <a:ln/>
        </p:spPr>
        <p:txBody>
          <a:bodyPr wrap="square" lIns="0" tIns="0" rIns="0" bIns="0" rtlCol="0" anchor="ctr"/>
          <a:lstStyle/>
          <a:p>
            <a:pPr indent="0" marL="0">
              <a:buNone/>
            </a:pPr>
            <a:r>
              <a:rPr lang="en-US" sz="3000" b="1" dirty="0">
                <a:solidFill>
                  <a:schemeClr val="bg2"/>
                </a:solidFill>
              </a:rPr>
              <a:t>≈ €1</a:t>
            </a:r>
            <a:endParaRPr lang="en-US" sz="3000" dirty="0"/>
          </a:p>
        </p:txBody>
      </p:sp>
      <p:sp>
        <p:nvSpPr>
          <p:cNvPr id="21" name="Text 19"/>
          <p:cNvSpPr txBox="1"/>
          <p:nvPr/>
        </p:nvSpPr>
        <p:spPr>
          <a:xfrm>
            <a:off x="5669280" y="32004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per straw on subscription</a:t>
            </a:r>
            <a:endParaRPr lang="en-US" sz="1300" dirty="0"/>
          </a:p>
        </p:txBody>
      </p:sp>
      <p:sp>
        <p:nvSpPr>
          <p:cNvPr id="22" name="Text 20"/>
          <p:cNvSpPr txBox="1"/>
          <p:nvPr/>
        </p:nvSpPr>
        <p:spPr>
          <a:xfrm>
            <a:off x="5669280" y="3520440"/>
            <a:ext cx="2834640" cy="548640"/>
          </a:xfrm>
          <a:prstGeom prst="rect">
            <a:avLst/>
          </a:prstGeom>
          <a:noFill/>
          <a:ln/>
        </p:spPr>
        <p:txBody>
          <a:bodyPr wrap="square" lIns="0" tIns="0" rIns="0" bIns="0" rtlCol="0" anchor="ctr"/>
          <a:lstStyle/>
          <a:p>
            <a:pPr indent="0" marL="0">
              <a:buNone/>
            </a:pPr>
            <a:r>
              <a:rPr lang="en-US" sz="1100" i="1" dirty="0">
                <a:solidFill>
                  <a:srgbClr val="A99F96"/>
                </a:solidFill>
              </a:rPr>
              <a:t>Prices are hypothetical for now: production costs will be known once the manufacturer sends quotes.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GROWTH STRATEGY</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range first, </a:t>
            </a:r>
            <a:pPr algn="l" indent="0" marL="0">
              <a:buNone/>
            </a:pPr>
            <a:r>
              <a:rPr lang="en-US" sz="2800" i="1" dirty="0">
                <a:solidFill>
                  <a:schemeClr val="tx1"/>
                </a:solidFill>
                <a:latin typeface="Cambria" pitchFamily="34" charset="0"/>
                <a:ea typeface="Cambria" pitchFamily="34" charset="-122"/>
                <a:cs typeface="Cambria" pitchFamily="34" charset="-120"/>
              </a:rPr>
              <a:t>then the whole family</a:t>
            </a:r>
            <a:endParaRPr lang="en-US" sz="2800" dirty="0"/>
          </a:p>
        </p:txBody>
      </p:sp>
      <p:sp>
        <p:nvSpPr>
          <p:cNvPr id="4" name="Shape 2"/>
          <p:cNvSpPr/>
          <p:nvPr/>
        </p:nvSpPr>
        <p:spPr>
          <a:xfrm>
            <a:off x="640080" y="1572768"/>
            <a:ext cx="7863840" cy="0"/>
          </a:xfrm>
          <a:prstGeom prst="line">
            <a:avLst/>
          </a:prstGeom>
          <a:noFill/>
          <a:ln w="19050">
            <a:solidFill>
              <a:srgbClr val="D6CFC6"/>
            </a:solidFill>
            <a:prstDash val="solid"/>
          </a:ln>
        </p:spPr>
      </p:sp>
      <p:sp>
        <p:nvSpPr>
          <p:cNvPr id="5" name="Shape 3"/>
          <p:cNvSpPr/>
          <p:nvPr/>
        </p:nvSpPr>
        <p:spPr>
          <a:xfrm>
            <a:off x="502920" y="1417320"/>
            <a:ext cx="310896" cy="310896"/>
          </a:xfrm>
          <a:prstGeom prst="ellipse">
            <a:avLst/>
          </a:prstGeom>
          <a:solidFill>
            <a:schemeClr val="accent4"/>
          </a:solidFill>
          <a:ln w="38100">
            <a:solidFill>
              <a:schemeClr val="bg2"/>
            </a:solidFill>
            <a:prstDash val="solid"/>
          </a:ln>
        </p:spPr>
      </p:sp>
      <p:sp>
        <p:nvSpPr>
          <p:cNvPr id="6" name="Text 4"/>
          <p:cNvSpPr txBox="1"/>
          <p:nvPr/>
        </p:nvSpPr>
        <p:spPr>
          <a:xfrm>
            <a:off x="45720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1</a:t>
            </a:r>
            <a:endParaRPr lang="en-US" sz="1000" dirty="0"/>
          </a:p>
        </p:txBody>
      </p:sp>
      <p:sp>
        <p:nvSpPr>
          <p:cNvPr id="7" name="Text 5"/>
          <p:cNvSpPr txBox="1"/>
          <p:nvPr/>
        </p:nvSpPr>
        <p:spPr>
          <a:xfrm>
            <a:off x="45720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8" name="Text 6"/>
          <p:cNvSpPr txBox="1"/>
          <p:nvPr/>
        </p:nvSpPr>
        <p:spPr>
          <a:xfrm>
            <a:off x="45720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Online launch of sip &amp; co active: community and micro-influencers.</a:t>
            </a:r>
            <a:endParaRPr lang="en-US" sz="1200" dirty="0"/>
          </a:p>
        </p:txBody>
      </p:sp>
      <p:sp>
        <p:nvSpPr>
          <p:cNvPr id="9" name="Shape 7"/>
          <p:cNvSpPr/>
          <p:nvPr/>
        </p:nvSpPr>
        <p:spPr>
          <a:xfrm>
            <a:off x="2606040" y="1417320"/>
            <a:ext cx="310896" cy="310896"/>
          </a:xfrm>
          <a:prstGeom prst="ellipse">
            <a:avLst/>
          </a:prstGeom>
          <a:solidFill>
            <a:schemeClr val="accent1"/>
          </a:solidFill>
          <a:ln w="38100">
            <a:solidFill>
              <a:schemeClr val="bg2"/>
            </a:solidFill>
            <a:prstDash val="solid"/>
          </a:ln>
        </p:spPr>
      </p:sp>
      <p:sp>
        <p:nvSpPr>
          <p:cNvPr id="10" name="Text 8"/>
          <p:cNvSpPr txBox="1"/>
          <p:nvPr/>
        </p:nvSpPr>
        <p:spPr>
          <a:xfrm>
            <a:off x="256032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2</a:t>
            </a:r>
            <a:endParaRPr lang="en-US" sz="1000" dirty="0"/>
          </a:p>
        </p:txBody>
      </p:sp>
      <p:sp>
        <p:nvSpPr>
          <p:cNvPr id="11" name="Text 9"/>
          <p:cNvSpPr txBox="1"/>
          <p:nvPr/>
        </p:nvSpPr>
        <p:spPr>
          <a:xfrm>
            <a:off x="256032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12" name="Text 10"/>
          <p:cNvSpPr txBox="1"/>
          <p:nvPr/>
        </p:nvSpPr>
        <p:spPr>
          <a:xfrm>
            <a:off x="256032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sip &amp; co luna for the same customers, at every life stage.</a:t>
            </a:r>
            <a:endParaRPr lang="en-US" sz="1200" dirty="0"/>
          </a:p>
        </p:txBody>
      </p:sp>
      <p:sp>
        <p:nvSpPr>
          <p:cNvPr id="13" name="Shape 11"/>
          <p:cNvSpPr/>
          <p:nvPr/>
        </p:nvSpPr>
        <p:spPr>
          <a:xfrm>
            <a:off x="4709160" y="1417320"/>
            <a:ext cx="310896" cy="310896"/>
          </a:xfrm>
          <a:prstGeom prst="ellipse">
            <a:avLst/>
          </a:prstGeom>
          <a:solidFill>
            <a:schemeClr val="accent3"/>
          </a:solidFill>
          <a:ln w="38100">
            <a:solidFill>
              <a:schemeClr val="bg2"/>
            </a:solidFill>
            <a:prstDash val="solid"/>
          </a:ln>
        </p:spPr>
      </p:sp>
      <p:sp>
        <p:nvSpPr>
          <p:cNvPr id="14" name="Text 12"/>
          <p:cNvSpPr txBox="1"/>
          <p:nvPr/>
        </p:nvSpPr>
        <p:spPr>
          <a:xfrm>
            <a:off x="466344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3</a:t>
            </a:r>
            <a:endParaRPr lang="en-US" sz="1000" dirty="0"/>
          </a:p>
        </p:txBody>
      </p:sp>
      <p:sp>
        <p:nvSpPr>
          <p:cNvPr id="15" name="Text 13"/>
          <p:cNvSpPr txBox="1"/>
          <p:nvPr/>
        </p:nvSpPr>
        <p:spPr>
          <a:xfrm>
            <a:off x="466344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16" name="Text 14"/>
          <p:cNvSpPr txBox="1"/>
          <p:nvPr/>
        </p:nvSpPr>
        <p:spPr>
          <a:xfrm>
            <a:off x="466344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sip &amp; co mini: customers who are mothers buy it for their children.</a:t>
            </a:r>
            <a:endParaRPr lang="en-US" sz="1200" dirty="0"/>
          </a:p>
        </p:txBody>
      </p:sp>
      <p:sp>
        <p:nvSpPr>
          <p:cNvPr id="17" name="Shape 15"/>
          <p:cNvSpPr/>
          <p:nvPr/>
        </p:nvSpPr>
        <p:spPr>
          <a:xfrm>
            <a:off x="6812280" y="1417320"/>
            <a:ext cx="310896" cy="310896"/>
          </a:xfrm>
          <a:prstGeom prst="ellipse">
            <a:avLst/>
          </a:prstGeom>
          <a:solidFill>
            <a:schemeClr val="accent2"/>
          </a:solidFill>
          <a:ln w="38100">
            <a:solidFill>
              <a:schemeClr val="bg2"/>
            </a:solidFill>
            <a:prstDash val="solid"/>
          </a:ln>
        </p:spPr>
      </p:sp>
      <p:sp>
        <p:nvSpPr>
          <p:cNvPr id="18" name="Text 16"/>
          <p:cNvSpPr txBox="1"/>
          <p:nvPr/>
        </p:nvSpPr>
        <p:spPr>
          <a:xfrm>
            <a:off x="676656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4</a:t>
            </a:r>
            <a:endParaRPr lang="en-US" sz="1000" dirty="0"/>
          </a:p>
        </p:txBody>
      </p:sp>
      <p:sp>
        <p:nvSpPr>
          <p:cNvPr id="19" name="Text 17"/>
          <p:cNvSpPr txBox="1"/>
          <p:nvPr/>
        </p:nvSpPr>
        <p:spPr>
          <a:xfrm>
            <a:off x="676656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sip &amp; co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0" name="Text 18"/>
          <p:cNvSpPr txBox="1"/>
          <p:nvPr/>
        </p:nvSpPr>
        <p:spPr>
          <a:xfrm>
            <a:off x="676656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sip &amp; co silver, through pharmacies and senior residences.</a:t>
            </a:r>
            <a:endParaRPr lang="en-US" sz="1200" dirty="0"/>
          </a:p>
        </p:txBody>
      </p:sp>
      <p:sp>
        <p:nvSpPr>
          <p:cNvPr id="21" name="acq"/>
          <p:cNvSpPr/>
          <p:nvPr/>
        </p:nvSpPr>
        <p:spPr>
          <a:xfrm>
            <a:off x="457200" y="3520440"/>
            <a:ext cx="8229600" cy="777240"/>
          </a:xfrm>
          <a:prstGeom prst="roundRect">
            <a:avLst>
              <a:gd name="adj" fmla="val 9412"/>
            </a:avLst>
          </a:prstGeom>
          <a:solidFill>
            <a:srgbClr val="FFFFFF"/>
          </a:solidFill>
          <a:ln/>
        </p:spPr>
      </p:sp>
      <p:sp>
        <p:nvSpPr>
          <p:cNvPr id="22" name="Text 20"/>
          <p:cNvSpPr txBox="1"/>
          <p:nvPr/>
        </p:nvSpPr>
        <p:spPr>
          <a:xfrm>
            <a:off x="731520" y="3520440"/>
            <a:ext cx="7772400" cy="777240"/>
          </a:xfrm>
          <a:prstGeom prst="rect">
            <a:avLst/>
          </a:prstGeom>
          <a:noFill/>
          <a:ln/>
        </p:spPr>
        <p:txBody>
          <a:bodyPr wrap="square" lIns="0" tIns="0" rIns="0" bIns="0" rtlCol="0" anchor="ctr"/>
          <a:lstStyle/>
          <a:p>
            <a:pPr indent="0" marL="0">
              <a:buNone/>
            </a:pPr>
            <a:r>
              <a:rPr lang="en-US" sz="1300" b="1" dirty="0">
                <a:solidFill>
                  <a:schemeClr val="tx1"/>
                </a:solidFill>
              </a:rPr>
              <a:t>acquisition  </a:t>
            </a:r>
            <a:pPr indent="0" marL="0">
              <a:buNone/>
            </a:pPr>
            <a:r>
              <a:rPr lang="en-US" sz="1300" dirty="0">
                <a:solidFill>
                  <a:schemeClr val="tx2"/>
                </a:solidFill>
              </a:rPr>
              <a:t>wellness micro-creators · family referrals · pharmacist advice · "a day with sip &amp; co" content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TEAM</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founder, </a:t>
            </a:r>
            <a:pPr algn="l" indent="0" marL="0">
              <a:buNone/>
            </a:pPr>
            <a:r>
              <a:rPr lang="en-US" sz="2800" i="1" dirty="0">
                <a:solidFill>
                  <a:schemeClr val="tx1"/>
                </a:solidFill>
                <a:latin typeface="Cambria" pitchFamily="34" charset="0"/>
                <a:ea typeface="Cambria" pitchFamily="34" charset="-122"/>
                <a:cs typeface="Cambria" pitchFamily="34" charset="-120"/>
              </a:rPr>
              <a:t>key partners</a:t>
            </a:r>
            <a:endParaRPr lang="en-US" sz="2800" dirty="0"/>
          </a:p>
        </p:txBody>
      </p:sp>
      <p:pic>
        <p:nvPicPr>
          <p:cNvPr id="4" name="nisrine" descr="Portrait of Nisrine Margoum">    </p:cNvPr>
          <p:cNvPicPr>
            <a:picLocks noChangeAspect="1"/>
          </p:cNvPicPr>
          <p:nvPr/>
        </p:nvPicPr>
        <p:blipFill>
          <a:blip r:embed="rId1"/>
          <a:stretch>
            <a:fillRect/>
          </a:stretch>
        </p:blipFill>
        <p:spPr>
          <a:xfrm>
            <a:off x="457200" y="1280160"/>
            <a:ext cx="1371600" cy="1371600"/>
          </a:xfrm>
          <a:prstGeom prst="ellipse">
            <a:avLst/>
          </a:prstGeom>
        </p:spPr>
      </p:pic>
      <p:sp>
        <p:nvSpPr>
          <p:cNvPr id="5" name="Text 2"/>
          <p:cNvSpPr txBox="1"/>
          <p:nvPr/>
        </p:nvSpPr>
        <p:spPr>
          <a:xfrm>
            <a:off x="2011680" y="14173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Nisrine Margoum</a:t>
            </a:r>
            <a:endParaRPr lang="en-US" sz="1800" dirty="0"/>
          </a:p>
        </p:txBody>
      </p:sp>
      <p:sp>
        <p:nvSpPr>
          <p:cNvPr id="6" name="Text 3"/>
          <p:cNvSpPr txBox="1"/>
          <p:nvPr/>
        </p:nvSpPr>
        <p:spPr>
          <a:xfrm>
            <a:off x="2011680" y="1783080"/>
            <a:ext cx="2560320" cy="457200"/>
          </a:xfrm>
          <a:prstGeom prst="rect">
            <a:avLst/>
          </a:prstGeom>
          <a:noFill/>
          <a:ln/>
        </p:spPr>
        <p:txBody>
          <a:bodyPr wrap="square" lIns="0" tIns="0" rIns="0" bIns="0" rtlCol="0" anchor="t"/>
          <a:lstStyle/>
          <a:p>
            <a:pPr indent="0" marL="0">
              <a:buNone/>
            </a:pPr>
            <a:r>
              <a:rPr lang="en-US" sz="1200" dirty="0">
                <a:solidFill>
                  <a:schemeClr val="tx2"/>
                </a:solidFill>
              </a:rPr>
              <a:t>founder · product, brand, development</a:t>
            </a:r>
            <a:endParaRPr lang="en-US" sz="1200" dirty="0"/>
          </a:p>
        </p:txBody>
      </p:sp>
      <p:sp>
        <p:nvSpPr>
          <p:cNvPr id="7" name="Text 4"/>
          <p:cNvSpPr txBox="1"/>
          <p:nvPr/>
        </p:nvSpPr>
        <p:spPr>
          <a:xfrm>
            <a:off x="457200" y="283464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Master’s in Biology &amp; Health, product development</a:t>
            </a:r>
            <a:endParaRPr lang="en-US" sz="1300" dirty="0"/>
          </a:p>
          <a:p>
            <a:pPr marL="342900" indent="-342900">
              <a:spcAft>
                <a:spcPts val="600"/>
              </a:spcAft>
              <a:buSzPct val="100000"/>
              <a:buChar char="•"/>
            </a:pPr>
            <a:r>
              <a:rPr lang="en-US" sz="1300" dirty="0">
                <a:solidFill>
                  <a:schemeClr val="tx1"/>
                </a:solidFill>
              </a:rPr>
              <a:t>Former cosmetics product manager (active ingredients)</a:t>
            </a:r>
            <a:endParaRPr lang="en-US" sz="1300" dirty="0"/>
          </a:p>
          <a:p>
            <a:pPr marL="342900" indent="-342900">
              <a:spcAft>
                <a:spcPts val="600"/>
              </a:spcAft>
              <a:buSzPct val="100000"/>
              <a:buChar char="•"/>
            </a:pPr>
            <a:r>
              <a:rPr lang="en-US" sz="1300" dirty="0">
                <a:solidFill>
                  <a:schemeClr val="tx1"/>
                </a:solidFill>
              </a:rPr>
              <a:t>Master’s in Entrepreneurship &amp; Innovation, IAE Clermont-Auvergne</a:t>
            </a:r>
            <a:endParaRPr lang="en-US" sz="1300" dirty="0"/>
          </a:p>
          <a:p>
            <a:pPr marL="342900" indent="-342900">
              <a:spcAft>
                <a:spcPts val="600"/>
              </a:spcAft>
              <a:buSzPct val="100000"/>
              <a:buChar char="•"/>
            </a:pPr>
            <a:r>
              <a:rPr lang="en-US" sz="1300" dirty="0">
                <a:solidFill>
                  <a:schemeClr val="tx1"/>
                </a:solidFill>
              </a:rPr>
              <a:t>Organised national healthcare conferences</a:t>
            </a:r>
            <a:endParaRPr lang="en-US" sz="1300" dirty="0"/>
          </a:p>
        </p:txBody>
      </p:sp>
      <p:sp>
        <p:nvSpPr>
          <p:cNvPr id="8" name="Text 5"/>
          <p:cNvSpPr txBox="1"/>
          <p:nvPr/>
        </p:nvSpPr>
        <p:spPr>
          <a:xfrm>
            <a:off x="4846320" y="12801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the skills to bring on board</a:t>
            </a:r>
            <a:endParaRPr lang="en-US" sz="1600" dirty="0"/>
          </a:p>
        </p:txBody>
      </p:sp>
      <p:sp>
        <p:nvSpPr>
          <p:cNvPr id="9" name="part0"/>
          <p:cNvSpPr/>
          <p:nvPr/>
        </p:nvSpPr>
        <p:spPr>
          <a:xfrm>
            <a:off x="4846320" y="1737360"/>
            <a:ext cx="3840480" cy="548640"/>
          </a:xfrm>
          <a:prstGeom prst="roundRect">
            <a:avLst>
              <a:gd name="adj" fmla="val 13333"/>
            </a:avLst>
          </a:prstGeom>
          <a:solidFill>
            <a:srgbClr val="FFFFFF"/>
          </a:solidFill>
          <a:ln/>
        </p:spPr>
      </p:sp>
      <p:sp>
        <p:nvSpPr>
          <p:cNvPr id="10" name="Shape 7"/>
          <p:cNvSpPr/>
          <p:nvPr/>
        </p:nvSpPr>
        <p:spPr>
          <a:xfrm>
            <a:off x="5029200" y="1929384"/>
            <a:ext cx="164592" cy="164592"/>
          </a:xfrm>
          <a:prstGeom prst="ellipse">
            <a:avLst/>
          </a:prstGeom>
          <a:solidFill>
            <a:schemeClr val="accent4"/>
          </a:solidFill>
          <a:ln/>
        </p:spPr>
      </p:sp>
      <p:sp>
        <p:nvSpPr>
          <p:cNvPr id="11" name="Text 8"/>
          <p:cNvSpPr txBox="1"/>
          <p:nvPr/>
        </p:nvSpPr>
        <p:spPr>
          <a:xfrm>
            <a:off x="5349240" y="1737360"/>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manufacturing partner</a:t>
            </a:r>
            <a:endParaRPr lang="en-US" sz="1300" dirty="0"/>
          </a:p>
          <a:p>
            <a:pPr indent="0" marL="0">
              <a:buNone/>
            </a:pPr>
            <a:r>
              <a:rPr lang="en-US" sz="1100" dirty="0">
                <a:solidFill>
                  <a:schemeClr val="tx2"/>
                </a:solidFill>
              </a:rPr>
              <a:t>straw technology, production</a:t>
            </a:r>
            <a:endParaRPr lang="en-US" sz="1300" dirty="0"/>
          </a:p>
        </p:txBody>
      </p:sp>
      <p:sp>
        <p:nvSpPr>
          <p:cNvPr id="12" name="part1"/>
          <p:cNvSpPr/>
          <p:nvPr/>
        </p:nvSpPr>
        <p:spPr>
          <a:xfrm>
            <a:off x="4846320" y="2395728"/>
            <a:ext cx="3840480" cy="548640"/>
          </a:xfrm>
          <a:prstGeom prst="roundRect">
            <a:avLst>
              <a:gd name="adj" fmla="val 13333"/>
            </a:avLst>
          </a:prstGeom>
          <a:solidFill>
            <a:srgbClr val="FFFFFF"/>
          </a:solidFill>
          <a:ln/>
        </p:spPr>
      </p:sp>
      <p:sp>
        <p:nvSpPr>
          <p:cNvPr id="13" name="Shape 10"/>
          <p:cNvSpPr/>
          <p:nvPr/>
        </p:nvSpPr>
        <p:spPr>
          <a:xfrm>
            <a:off x="5029200" y="2587752"/>
            <a:ext cx="164592" cy="164592"/>
          </a:xfrm>
          <a:prstGeom prst="ellipse">
            <a:avLst/>
          </a:prstGeom>
          <a:solidFill>
            <a:schemeClr val="accent2"/>
          </a:solidFill>
          <a:ln/>
        </p:spPr>
      </p:sp>
      <p:sp>
        <p:nvSpPr>
          <p:cNvPr id="14" name="Text 11"/>
          <p:cNvSpPr txBox="1"/>
          <p:nvPr/>
        </p:nvSpPr>
        <p:spPr>
          <a:xfrm>
            <a:off x="5349240" y="2395728"/>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regulatory expert</a:t>
            </a:r>
            <a:endParaRPr lang="en-US" sz="1300" dirty="0"/>
          </a:p>
          <a:p>
            <a:pPr indent="0" marL="0">
              <a:buNone/>
            </a:pPr>
            <a:r>
              <a:rPr lang="en-US" sz="1100" dirty="0">
                <a:solidFill>
                  <a:schemeClr val="tx2"/>
                </a:solidFill>
              </a:rPr>
              <a:t>compliant formulas and claims</a:t>
            </a:r>
            <a:endParaRPr lang="en-US" sz="1300" dirty="0"/>
          </a:p>
        </p:txBody>
      </p:sp>
      <p:sp>
        <p:nvSpPr>
          <p:cNvPr id="15" name="part2"/>
          <p:cNvSpPr/>
          <p:nvPr/>
        </p:nvSpPr>
        <p:spPr>
          <a:xfrm>
            <a:off x="4846320" y="3054096"/>
            <a:ext cx="3840480" cy="548640"/>
          </a:xfrm>
          <a:prstGeom prst="roundRect">
            <a:avLst>
              <a:gd name="adj" fmla="val 13333"/>
            </a:avLst>
          </a:prstGeom>
          <a:solidFill>
            <a:srgbClr val="FFFFFF"/>
          </a:solidFill>
          <a:ln/>
        </p:spPr>
      </p:sp>
      <p:sp>
        <p:nvSpPr>
          <p:cNvPr id="16" name="Shape 13"/>
          <p:cNvSpPr/>
          <p:nvPr/>
        </p:nvSpPr>
        <p:spPr>
          <a:xfrm>
            <a:off x="5029200" y="3246120"/>
            <a:ext cx="164592" cy="164592"/>
          </a:xfrm>
          <a:prstGeom prst="ellipse">
            <a:avLst/>
          </a:prstGeom>
          <a:solidFill>
            <a:schemeClr val="accent1"/>
          </a:solidFill>
          <a:ln/>
        </p:spPr>
      </p:sp>
      <p:sp>
        <p:nvSpPr>
          <p:cNvPr id="17" name="Text 14"/>
          <p:cNvSpPr txBox="1"/>
          <p:nvPr/>
        </p:nvSpPr>
        <p:spPr>
          <a:xfrm>
            <a:off x="5349240" y="3054096"/>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health advisory board</a:t>
            </a:r>
            <a:endParaRPr lang="en-US" sz="1300" dirty="0"/>
          </a:p>
          <a:p>
            <a:pPr indent="0" marL="0">
              <a:buNone/>
            </a:pPr>
            <a:r>
              <a:rPr lang="en-US" sz="1100" dirty="0">
                <a:solidFill>
                  <a:schemeClr val="tx2"/>
                </a:solidFill>
              </a:rPr>
              <a:t>paediatrician, midwife, geriatrician</a:t>
            </a:r>
            <a:endParaRPr lang="en-US" sz="1300" dirty="0"/>
          </a:p>
        </p:txBody>
      </p:sp>
      <p:sp>
        <p:nvSpPr>
          <p:cNvPr id="18" name="part3"/>
          <p:cNvSpPr/>
          <p:nvPr/>
        </p:nvSpPr>
        <p:spPr>
          <a:xfrm>
            <a:off x="4846320" y="3712464"/>
            <a:ext cx="3840480" cy="548640"/>
          </a:xfrm>
          <a:prstGeom prst="roundRect">
            <a:avLst>
              <a:gd name="adj" fmla="val 13333"/>
            </a:avLst>
          </a:prstGeom>
          <a:solidFill>
            <a:srgbClr val="FFFFFF"/>
          </a:solidFill>
          <a:ln/>
        </p:spPr>
      </p:sp>
      <p:sp>
        <p:nvSpPr>
          <p:cNvPr id="19" name="Shape 16"/>
          <p:cNvSpPr/>
          <p:nvPr/>
        </p:nvSpPr>
        <p:spPr>
          <a:xfrm>
            <a:off x="5029200" y="3904488"/>
            <a:ext cx="164592" cy="164592"/>
          </a:xfrm>
          <a:prstGeom prst="ellipse">
            <a:avLst/>
          </a:prstGeom>
          <a:solidFill>
            <a:schemeClr val="accent3"/>
          </a:solidFill>
          <a:ln/>
        </p:spPr>
      </p:sp>
      <p:sp>
        <p:nvSpPr>
          <p:cNvPr id="20" name="Text 17"/>
          <p:cNvSpPr txBox="1"/>
          <p:nvPr/>
        </p:nvSpPr>
        <p:spPr>
          <a:xfrm>
            <a:off x="5349240" y="3712464"/>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e-commerce &amp; growth</a:t>
            </a:r>
            <a:endParaRPr lang="en-US" sz="1300" dirty="0"/>
          </a:p>
          <a:p>
            <a:pPr indent="0" marL="0">
              <a:buNone/>
            </a:pPr>
            <a:r>
              <a:rPr lang="en-US" sz="1100" dirty="0">
                <a:solidFill>
                  <a:schemeClr val="tx2"/>
                </a:solidFill>
              </a:rPr>
              <a:t>website, subscription, acquisition</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FINANCIAL OUTLOOK &amp; ASK</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the </a:t>
            </a:r>
            <a:pPr algn="l" indent="0" marL="0">
              <a:buNone/>
            </a:pPr>
            <a:r>
              <a:rPr lang="en-US" sz="2800" i="1" dirty="0">
                <a:solidFill>
                  <a:schemeClr val="tx1"/>
                </a:solidFill>
                <a:latin typeface="Cambria" pitchFamily="34" charset="0"/>
                <a:ea typeface="Cambria" pitchFamily="34" charset="-122"/>
                <a:cs typeface="Cambria" pitchFamily="34" charset="-120"/>
              </a:rPr>
              <a:t>funding need</a:t>
            </a:r>
            <a:endParaRPr lang="en-US" sz="2800" dirty="0"/>
          </a:p>
        </p:txBody>
      </p:sp>
      <p:sp>
        <p:nvSpPr>
          <p:cNvPr id="4" name="Text 2"/>
          <p:cNvSpPr txBox="1"/>
          <p:nvPr/>
        </p:nvSpPr>
        <p:spPr>
          <a:xfrm>
            <a:off x="457200" y="1280160"/>
            <a:ext cx="3291840" cy="685800"/>
          </a:xfrm>
          <a:prstGeom prst="rect">
            <a:avLst/>
          </a:prstGeom>
          <a:noFill/>
          <a:ln/>
        </p:spPr>
        <p:txBody>
          <a:bodyPr wrap="square" lIns="0" tIns="0" rIns="0" bIns="0" rtlCol="0" anchor="ctr"/>
          <a:lstStyle/>
          <a:p>
            <a:pPr indent="0" marL="0">
              <a:buNone/>
            </a:pPr>
            <a:r>
              <a:rPr lang="en-US" sz="4000" b="1" dirty="0">
                <a:solidFill>
                  <a:schemeClr val="tx1"/>
                </a:solidFill>
              </a:rPr>
              <a:t>≈ €150k</a:t>
            </a:r>
            <a:endParaRPr lang="en-US" sz="4000" dirty="0"/>
          </a:p>
        </p:txBody>
      </p:sp>
      <p:sp>
        <p:nvSpPr>
          <p:cNvPr id="5" name="Text 3"/>
          <p:cNvSpPr txBox="1"/>
          <p:nvPr/>
        </p:nvSpPr>
        <p:spPr>
          <a:xfrm>
            <a:off x="457200" y="1965960"/>
            <a:ext cx="3291840" cy="502920"/>
          </a:xfrm>
          <a:prstGeom prst="rect">
            <a:avLst/>
          </a:prstGeom>
          <a:noFill/>
          <a:ln/>
        </p:spPr>
        <p:txBody>
          <a:bodyPr wrap="square" lIns="0" tIns="0" rIns="0" bIns="0" rtlCol="0" anchor="t"/>
          <a:lstStyle/>
          <a:p>
            <a:pPr indent="0" marL="0">
              <a:buNone/>
            </a:pPr>
            <a:r>
              <a:rPr lang="en-US" sz="1300" dirty="0">
                <a:solidFill>
                  <a:schemeClr val="tx2"/>
                </a:solidFill>
              </a:rPr>
              <a:t>in seed funding for: product tests → sip &amp; co active launch → first subscribers</a:t>
            </a:r>
            <a:endParaRPr lang="en-US" sz="1300" dirty="0"/>
          </a:p>
        </p:txBody>
      </p:sp>
      <p:graphicFrame>
        <p:nvGraphicFramePr>
          <p:cNvPr id="6" name="Chart 0" descr=""/>
          <p:cNvGraphicFramePr/>
          <p:nvPr/>
        </p:nvGraphicFramePr>
        <p:xfrm>
          <a:off x="365760" y="2468880"/>
          <a:ext cx="3566160" cy="1965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480560" y="1280160"/>
            <a:ext cx="420624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where the funding comes from</a:t>
            </a:r>
            <a:endParaRPr lang="en-US" sz="1600" dirty="0"/>
          </a:p>
        </p:txBody>
      </p:sp>
      <p:sp>
        <p:nvSpPr>
          <p:cNvPr id="8" name="fund0"/>
          <p:cNvSpPr/>
          <p:nvPr/>
        </p:nvSpPr>
        <p:spPr>
          <a:xfrm>
            <a:off x="4480560" y="1737360"/>
            <a:ext cx="4206240" cy="548640"/>
          </a:xfrm>
          <a:prstGeom prst="roundRect">
            <a:avLst>
              <a:gd name="adj" fmla="val 13333"/>
            </a:avLst>
          </a:prstGeom>
          <a:solidFill>
            <a:srgbClr val="FFFFFF"/>
          </a:solidFill>
          <a:ln/>
        </p:spPr>
      </p:sp>
      <p:sp>
        <p:nvSpPr>
          <p:cNvPr id="9" name="Shape 6"/>
          <p:cNvSpPr/>
          <p:nvPr/>
        </p:nvSpPr>
        <p:spPr>
          <a:xfrm>
            <a:off x="4645152" y="1929384"/>
            <a:ext cx="164592" cy="164592"/>
          </a:xfrm>
          <a:prstGeom prst="ellipse">
            <a:avLst/>
          </a:prstGeom>
          <a:solidFill>
            <a:schemeClr val="accent4"/>
          </a:solidFill>
          <a:ln/>
        </p:spPr>
      </p:sp>
      <p:sp>
        <p:nvSpPr>
          <p:cNvPr id="10" name="Text 7"/>
          <p:cNvSpPr txBox="1"/>
          <p:nvPr/>
        </p:nvSpPr>
        <p:spPr>
          <a:xfrm>
            <a:off x="4937760" y="173736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personal contribution</a:t>
            </a:r>
            <a:endParaRPr lang="en-US" sz="1300" dirty="0"/>
          </a:p>
          <a:p>
            <a:pPr indent="0" marL="0">
              <a:buNone/>
            </a:pPr>
            <a:r>
              <a:rPr lang="en-US" sz="1100" dirty="0">
                <a:solidFill>
                  <a:schemeClr val="tx2"/>
                </a:solidFill>
              </a:rPr>
              <a:t>The founder invests in her own project</a:t>
            </a:r>
            <a:endParaRPr lang="en-US" sz="1300" dirty="0"/>
          </a:p>
        </p:txBody>
      </p:sp>
      <p:sp>
        <p:nvSpPr>
          <p:cNvPr id="11" name="Text 8"/>
          <p:cNvSpPr txBox="1"/>
          <p:nvPr/>
        </p:nvSpPr>
        <p:spPr>
          <a:xfrm>
            <a:off x="7726680" y="173736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NOW</a:t>
            </a:r>
            <a:endParaRPr lang="en-US" sz="900" dirty="0"/>
          </a:p>
        </p:txBody>
      </p:sp>
      <p:sp>
        <p:nvSpPr>
          <p:cNvPr id="12" name="fund1"/>
          <p:cNvSpPr/>
          <p:nvPr/>
        </p:nvSpPr>
        <p:spPr>
          <a:xfrm>
            <a:off x="4480560" y="2377440"/>
            <a:ext cx="4206240" cy="548640"/>
          </a:xfrm>
          <a:prstGeom prst="roundRect">
            <a:avLst>
              <a:gd name="adj" fmla="val 13333"/>
            </a:avLst>
          </a:prstGeom>
          <a:solidFill>
            <a:srgbClr val="FFFFFF"/>
          </a:solidFill>
          <a:ln/>
        </p:spPr>
      </p:sp>
      <p:sp>
        <p:nvSpPr>
          <p:cNvPr id="13" name="Shape 10"/>
          <p:cNvSpPr/>
          <p:nvPr/>
        </p:nvSpPr>
        <p:spPr>
          <a:xfrm>
            <a:off x="4645152" y="2569464"/>
            <a:ext cx="164592" cy="164592"/>
          </a:xfrm>
          <a:prstGeom prst="ellipse">
            <a:avLst/>
          </a:prstGeom>
          <a:solidFill>
            <a:schemeClr val="accent1"/>
          </a:solidFill>
          <a:ln/>
        </p:spPr>
      </p:sp>
      <p:sp>
        <p:nvSpPr>
          <p:cNvPr id="14" name="Text 11"/>
          <p:cNvSpPr txBox="1"/>
          <p:nvPr/>
        </p:nvSpPr>
        <p:spPr>
          <a:xfrm>
            <a:off x="4937760" y="237744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love money</a:t>
            </a:r>
            <a:endParaRPr lang="en-US" sz="1300" dirty="0"/>
          </a:p>
          <a:p>
            <a:pPr indent="0" marL="0">
              <a:buNone/>
            </a:pPr>
            <a:r>
              <a:rPr lang="en-US" sz="1100" dirty="0">
                <a:solidFill>
                  <a:schemeClr val="tx2"/>
                </a:solidFill>
              </a:rPr>
              <a:t>Family and friends, the first circle of trust</a:t>
            </a:r>
            <a:endParaRPr lang="en-US" sz="1300" dirty="0"/>
          </a:p>
        </p:txBody>
      </p:sp>
      <p:sp>
        <p:nvSpPr>
          <p:cNvPr id="15" name="Text 12"/>
          <p:cNvSpPr txBox="1"/>
          <p:nvPr/>
        </p:nvSpPr>
        <p:spPr>
          <a:xfrm>
            <a:off x="7726680" y="237744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NOW</a:t>
            </a:r>
            <a:endParaRPr lang="en-US" sz="900" dirty="0"/>
          </a:p>
        </p:txBody>
      </p:sp>
      <p:sp>
        <p:nvSpPr>
          <p:cNvPr id="16" name="fund2"/>
          <p:cNvSpPr/>
          <p:nvPr/>
        </p:nvSpPr>
        <p:spPr>
          <a:xfrm>
            <a:off x="4480560" y="3017520"/>
            <a:ext cx="4206240" cy="548640"/>
          </a:xfrm>
          <a:prstGeom prst="roundRect">
            <a:avLst>
              <a:gd name="adj" fmla="val 13333"/>
            </a:avLst>
          </a:prstGeom>
          <a:solidFill>
            <a:srgbClr val="FFFFFF"/>
          </a:solidFill>
          <a:ln/>
        </p:spPr>
      </p:sp>
      <p:sp>
        <p:nvSpPr>
          <p:cNvPr id="17" name="Shape 14"/>
          <p:cNvSpPr/>
          <p:nvPr/>
        </p:nvSpPr>
        <p:spPr>
          <a:xfrm>
            <a:off x="4645152" y="3209544"/>
            <a:ext cx="164592" cy="164592"/>
          </a:xfrm>
          <a:prstGeom prst="ellipse">
            <a:avLst/>
          </a:prstGeom>
          <a:solidFill>
            <a:schemeClr val="accent2"/>
          </a:solidFill>
          <a:ln/>
        </p:spPr>
      </p:sp>
      <p:sp>
        <p:nvSpPr>
          <p:cNvPr id="18" name="Text 15"/>
          <p:cNvSpPr txBox="1"/>
          <p:nvPr/>
        </p:nvSpPr>
        <p:spPr>
          <a:xfrm>
            <a:off x="4937760" y="301752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honour loans &amp; grants</a:t>
            </a:r>
            <a:endParaRPr lang="en-US" sz="1300" dirty="0"/>
          </a:p>
          <a:p>
            <a:pPr indent="0" marL="0">
              <a:buNone/>
            </a:pPr>
            <a:r>
              <a:rPr lang="en-US" sz="1100" dirty="0">
                <a:solidFill>
                  <a:schemeClr val="tx2"/>
                </a:solidFill>
              </a:rPr>
              <a:t>Initiative France, Réseau Entreprendre, Bpifrance</a:t>
            </a:r>
            <a:endParaRPr lang="en-US" sz="1300" dirty="0"/>
          </a:p>
        </p:txBody>
      </p:sp>
      <p:sp>
        <p:nvSpPr>
          <p:cNvPr id="19" name="Text 16"/>
          <p:cNvSpPr txBox="1"/>
          <p:nvPr/>
        </p:nvSpPr>
        <p:spPr>
          <a:xfrm>
            <a:off x="7726680" y="301752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NEXT</a:t>
            </a:r>
            <a:endParaRPr lang="en-US" sz="900" dirty="0"/>
          </a:p>
        </p:txBody>
      </p:sp>
      <p:sp>
        <p:nvSpPr>
          <p:cNvPr id="20" name="disclaimer"/>
          <p:cNvSpPr/>
          <p:nvPr/>
        </p:nvSpPr>
        <p:spPr>
          <a:xfrm>
            <a:off x="4480560" y="3703320"/>
            <a:ext cx="4206240" cy="685800"/>
          </a:xfrm>
          <a:prstGeom prst="roundRect">
            <a:avLst>
              <a:gd name="adj" fmla="val 10667"/>
            </a:avLst>
          </a:prstGeom>
          <a:solidFill>
            <a:schemeClr val="accent5"/>
          </a:solidFill>
          <a:ln/>
        </p:spPr>
      </p:sp>
      <p:sp>
        <p:nvSpPr>
          <p:cNvPr id="21" name="Text 18"/>
          <p:cNvSpPr txBox="1"/>
          <p:nvPr/>
        </p:nvSpPr>
        <p:spPr>
          <a:xfrm>
            <a:off x="4663440" y="3703320"/>
            <a:ext cx="3931920" cy="685800"/>
          </a:xfrm>
          <a:prstGeom prst="rect">
            <a:avLst/>
          </a:prstGeom>
          <a:noFill/>
          <a:ln/>
        </p:spPr>
        <p:txBody>
          <a:bodyPr wrap="square" lIns="0" tIns="0" rIns="0" bIns="0" rtlCol="0" anchor="ctr"/>
          <a:lstStyle/>
          <a:p>
            <a:pPr indent="0" marL="0">
              <a:buNone/>
            </a:pPr>
            <a:r>
              <a:rPr lang="en-US" sz="1100" dirty="0">
                <a:solidFill>
                  <a:schemeClr val="tx1"/>
                </a:solidFill>
              </a:rPr>
              <a:t>Hypothetical, indicative amounts: production costs are not known yet. Profitability will rely on the subscription and will be calculated once quotes come in.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close-photo" descr="close-photo">    </p:cNvPr>
          <p:cNvPicPr>
            <a:picLocks noChangeAspect="1"/>
          </p:cNvPicPr>
          <p:nvPr/>
        </p:nvPicPr>
        <p:blipFill>
          <a:blip r:embed="rId1"/>
          <a:stretch>
            <a:fillRect/>
          </a:stretch>
        </p:blipFill>
        <p:spPr>
          <a:xfrm>
            <a:off x="5120640" y="0"/>
            <a:ext cx="4023360" cy="5143500"/>
          </a:xfrm>
          <a:prstGeom prst="rect">
            <a:avLst/>
          </a:prstGeom>
        </p:spPr>
      </p:pic>
      <p:sp>
        <p:nvSpPr>
          <p:cNvPr id="3" name="bead0"/>
          <p:cNvSpPr/>
          <p:nvPr/>
        </p:nvSpPr>
        <p:spPr>
          <a:xfrm>
            <a:off x="502920" y="1051560"/>
            <a:ext cx="164592" cy="164592"/>
          </a:xfrm>
          <a:prstGeom prst="ellipse">
            <a:avLst/>
          </a:prstGeom>
          <a:solidFill>
            <a:schemeClr val="accent3"/>
          </a:solidFill>
          <a:ln/>
        </p:spPr>
      </p:sp>
      <p:sp>
        <p:nvSpPr>
          <p:cNvPr id="4" name="bead1"/>
          <p:cNvSpPr/>
          <p:nvPr/>
        </p:nvSpPr>
        <p:spPr>
          <a:xfrm>
            <a:off x="758952" y="1051560"/>
            <a:ext cx="164592" cy="164592"/>
          </a:xfrm>
          <a:prstGeom prst="ellipse">
            <a:avLst/>
          </a:prstGeom>
          <a:solidFill>
            <a:schemeClr val="accent4"/>
          </a:solidFill>
          <a:ln/>
        </p:spPr>
      </p:sp>
      <p:sp>
        <p:nvSpPr>
          <p:cNvPr id="5" name="bead2"/>
          <p:cNvSpPr/>
          <p:nvPr/>
        </p:nvSpPr>
        <p:spPr>
          <a:xfrm>
            <a:off x="1014984" y="1051560"/>
            <a:ext cx="164592" cy="164592"/>
          </a:xfrm>
          <a:prstGeom prst="ellipse">
            <a:avLst/>
          </a:prstGeom>
          <a:solidFill>
            <a:schemeClr val="accent1"/>
          </a:solidFill>
          <a:ln/>
        </p:spPr>
      </p:sp>
      <p:sp>
        <p:nvSpPr>
          <p:cNvPr id="6" name="bead3"/>
          <p:cNvSpPr/>
          <p:nvPr/>
        </p:nvSpPr>
        <p:spPr>
          <a:xfrm>
            <a:off x="1271016" y="1051560"/>
            <a:ext cx="164592" cy="164592"/>
          </a:xfrm>
          <a:prstGeom prst="ellipse">
            <a:avLst/>
          </a:prstGeom>
          <a:solidFill>
            <a:schemeClr val="accent2"/>
          </a:solidFill>
          <a:ln/>
        </p:spPr>
      </p:sp>
      <p:sp>
        <p:nvSpPr>
          <p:cNvPr id="7" name="Text 4"/>
          <p:cNvSpPr txBox="1"/>
          <p:nvPr/>
        </p:nvSpPr>
        <p:spPr>
          <a:xfrm>
            <a:off x="457200" y="1371600"/>
            <a:ext cx="4389120" cy="1371600"/>
          </a:xfrm>
          <a:prstGeom prst="rect">
            <a:avLst/>
          </a:prstGeom>
          <a:noFill/>
          <a:ln/>
        </p:spPr>
        <p:txBody>
          <a:bodyPr wrap="square" lIns="0" tIns="0" rIns="0" bIns="0" rtlCol="0" anchor="t"/>
          <a:lstStyle/>
          <a:p>
            <a:pPr indent="0" marL="0">
              <a:buNone/>
            </a:pPr>
            <a:r>
              <a:rPr lang="en-US" sz="3200" dirty="0">
                <a:solidFill>
                  <a:schemeClr val="bg2"/>
                </a:solidFill>
              </a:rPr>
              <a:t>so, </a:t>
            </a:r>
            <a:pPr indent="0" marL="0">
              <a:buNone/>
            </a:pPr>
            <a:r>
              <a:rPr lang="en-US" sz="3200" i="1" dirty="0">
                <a:solidFill>
                  <a:schemeClr val="bg2"/>
                </a:solidFill>
                <a:latin typeface="Cambria" pitchFamily="34" charset="0"/>
                <a:ea typeface="Cambria" pitchFamily="34" charset="-122"/>
                <a:cs typeface="Cambria" pitchFamily="34" charset="-120"/>
              </a:rPr>
              <a:t>would you take another sip?</a:t>
            </a:r>
            <a:endParaRPr lang="en-US" sz="3200" dirty="0"/>
          </a:p>
        </p:txBody>
      </p:sp>
      <p:sp>
        <p:nvSpPr>
          <p:cNvPr id="8" name="Text 5"/>
          <p:cNvSpPr txBox="1"/>
          <p:nvPr/>
        </p:nvSpPr>
        <p:spPr>
          <a:xfrm>
            <a:off x="457200" y="2880360"/>
            <a:ext cx="4206240" cy="594360"/>
          </a:xfrm>
          <a:prstGeom prst="rect">
            <a:avLst/>
          </a:prstGeom>
          <a:noFill/>
          <a:ln/>
        </p:spPr>
        <p:txBody>
          <a:bodyPr wrap="square" lIns="0" tIns="0" rIns="0" bIns="0" rtlCol="0" anchor="ctr"/>
          <a:lstStyle/>
          <a:p>
            <a:pPr indent="0" marL="0">
              <a:buNone/>
            </a:pPr>
            <a:r>
              <a:rPr lang="en-US" sz="1400" dirty="0">
                <a:solidFill>
                  <a:srgbClr val="D6CFC6"/>
                </a:solidFill>
              </a:rPr>
              <a:t>sip &amp; co, the active straw: one habit, four ranges, the whole family.</a:t>
            </a:r>
            <a:endParaRPr lang="en-US" sz="1400" dirty="0"/>
          </a:p>
        </p:txBody>
      </p:sp>
      <p:sp>
        <p:nvSpPr>
          <p:cNvPr id="9" name="Text 6"/>
          <p:cNvSpPr txBox="1"/>
          <p:nvPr/>
        </p:nvSpPr>
        <p:spPr>
          <a:xfrm>
            <a:off x="457200" y="4343400"/>
            <a:ext cx="4206240" cy="274320"/>
          </a:xfrm>
          <a:prstGeom prst="rect">
            <a:avLst/>
          </a:prstGeom>
          <a:noFill/>
          <a:ln/>
        </p:spPr>
        <p:txBody>
          <a:bodyPr wrap="square" lIns="0" tIns="0" rIns="0" bIns="0" rtlCol="0" anchor="ctr"/>
          <a:lstStyle/>
          <a:p>
            <a:pPr indent="0" marL="0">
              <a:buNone/>
            </a:pPr>
            <a:r>
              <a:rPr lang="en-US" sz="1100" dirty="0">
                <a:solidFill>
                  <a:srgbClr val="A99F96"/>
                </a:solidFill>
              </a:rPr>
              <a:t>Thank you · Nisrine Margoum, founder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APPENDIX</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sources </a:t>
            </a:r>
            <a:pPr algn="l" indent="0" marL="0">
              <a:buNone/>
            </a:pPr>
            <a:r>
              <a:rPr lang="en-US" sz="2800" i="1" dirty="0">
                <a:solidFill>
                  <a:schemeClr val="tx1"/>
                </a:solidFill>
                <a:latin typeface="Cambria" pitchFamily="34" charset="0"/>
                <a:ea typeface="Cambria" pitchFamily="34" charset="-122"/>
                <a:cs typeface="Cambria" pitchFamily="34" charset="-120"/>
              </a:rPr>
              <a:t>for the figures</a:t>
            </a:r>
            <a:endParaRPr lang="en-US" sz="2800" dirty="0"/>
          </a:p>
        </p:txBody>
      </p:sp>
      <p:sp>
        <p:nvSpPr>
          <p:cNvPr id="4" name="Text 2"/>
          <p:cNvSpPr txBox="1"/>
          <p:nvPr/>
        </p:nvSpPr>
        <p:spPr>
          <a:xfrm>
            <a:off x="457200" y="1280160"/>
            <a:ext cx="822960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chemeClr val="tx1"/>
                </a:solidFill>
              </a:rPr>
              <a:t>Synadiet / Toluna Harris Interactive, barometer and 2025 market figures (Claude Bernard press release, March 2026): sales +2.6%, about 2/3 of French people are consumers.</a:t>
            </a:r>
            <a:endParaRPr lang="en-US" sz="1100" dirty="0"/>
          </a:p>
          <a:p>
            <a:pPr marL="342900" indent="-342900">
              <a:spcAft>
                <a:spcPts val="500"/>
              </a:spcAft>
              <a:buSzPct val="100000"/>
              <a:buChar char="•"/>
            </a:pPr>
            <a:r>
              <a:rPr lang="en-US" sz="1100" dirty="0">
                <a:solidFill>
                  <a:schemeClr val="tx1"/>
                </a:solidFill>
              </a:rPr>
              <a:t>Le Quotidien du Pharmacien / IQVIA: pharmacies account for 55% of sales; gummies +40% (first 5 months of 2023); Synadiet Observatory 2021: 57% of consumers are women.</a:t>
            </a:r>
            <a:endParaRPr lang="en-US" sz="1100" dirty="0"/>
          </a:p>
          <a:p>
            <a:pPr marL="342900" indent="-342900">
              <a:spcAft>
                <a:spcPts val="500"/>
              </a:spcAft>
              <a:buSzPct val="100000"/>
              <a:buChar char="•"/>
            </a:pPr>
            <a:r>
              <a:rPr lang="en-US" sz="1100" dirty="0">
                <a:solidFill>
                  <a:schemeClr val="tx1"/>
                </a:solidFill>
              </a:rPr>
              <a:t>Anses, INCA 2 and INCA 3 studies: 19% of 3 to 17-year-olds and 29% of adults take supplements or nutrient-based medicines; consumption has doubled.</a:t>
            </a:r>
            <a:endParaRPr lang="en-US" sz="1100" dirty="0"/>
          </a:p>
          <a:p>
            <a:pPr marL="342900" indent="-342900">
              <a:spcAft>
                <a:spcPts val="500"/>
              </a:spcAft>
              <a:buSzPct val="100000"/>
              <a:buChar char="•"/>
            </a:pPr>
            <a:r>
              <a:rPr lang="en-US" sz="1100" dirty="0">
                <a:solidFill>
                  <a:schemeClr val="tx1"/>
                </a:solidFill>
              </a:rPr>
              <a:t>Les Échos Études / GERS Data, via Valbiotis (2026): menopause supplement sales in pharmacies €21.4M in 2024 (+9%); 14 million women affected.</a:t>
            </a:r>
            <a:endParaRPr lang="en-US" sz="1100" dirty="0"/>
          </a:p>
          <a:p>
            <a:pPr marL="342900" indent="-342900">
              <a:spcAft>
                <a:spcPts val="500"/>
              </a:spcAft>
              <a:buSzPct val="100000"/>
              <a:buChar char="•"/>
            </a:pPr>
            <a:r>
              <a:rPr lang="en-US" sz="1100" dirty="0">
                <a:solidFill>
                  <a:schemeClr val="tx1"/>
                </a:solidFill>
              </a:rPr>
              <a:t>INSEE, 2025 demographic report: 22% of the population is 65 or over.</a:t>
            </a:r>
            <a:endParaRPr lang="en-US" sz="1100" dirty="0"/>
          </a:p>
          <a:p>
            <a:pPr marL="342900" indent="-342900">
              <a:spcAft>
                <a:spcPts val="500"/>
              </a:spcAft>
              <a:buSzPct val="100000"/>
              <a:buChar char="•"/>
            </a:pPr>
            <a:r>
              <a:rPr lang="en-US" sz="1100" dirty="0">
                <a:solidFill>
                  <a:schemeClr val="tx1"/>
                </a:solidFill>
              </a:rPr>
              <a:t>Literature reviews on pill dysphagia (PMC): 15–20% of adults; about 14% of seniors living at home.</a:t>
            </a:r>
            <a:endParaRPr lang="en-US" sz="1100" dirty="0"/>
          </a:p>
          <a:p>
            <a:pPr marL="342900" indent="-342900">
              <a:spcAft>
                <a:spcPts val="500"/>
              </a:spcAft>
              <a:buSzPct val="100000"/>
              <a:buChar char="•"/>
            </a:pPr>
            <a:r>
              <a:rPr lang="en-US" sz="1100" dirty="0">
                <a:solidFill>
                  <a:schemeClr val="tx1"/>
                </a:solidFill>
              </a:rPr>
              <a:t>WHO, Adherence to long-term therapies (2003): about 50% adherence in developed countries. Kantar (2025): energy, immunity, stress and sleep.</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traw">
  <a:themeElements>
    <a:clrScheme name="straw">
      <a:dk1>
        <a:srgbClr val="1F1C19"/>
      </a:dk1>
      <a:lt1>
        <a:srgbClr val="FFFFFF"/>
      </a:lt1>
      <a:dk2>
        <a:srgbClr val="5E5650"/>
      </a:dk2>
      <a:lt2>
        <a:srgbClr val="F4F2EF"/>
      </a:lt2>
      <a:accent1>
        <a:srgbClr val="C8475A"/>
      </a:accent1>
      <a:accent2>
        <a:srgbClr val="2E9C9A"/>
      </a:accent2>
      <a:accent3>
        <a:srgbClr val="F5B700"/>
      </a:accent3>
      <a:accent4>
        <a:srgbClr val="D98A6C"/>
      </a:accent4>
      <a:accent5>
        <a:srgbClr val="E9E4DD"/>
      </a:accent5>
      <a:accent6>
        <a:srgbClr val="8C4A6B"/>
      </a:accent6>
      <a:hlink>
        <a:srgbClr val="2E9C9A"/>
      </a:hlink>
      <a:folHlink>
        <a:srgbClr val="8C4A6B"/>
      </a:folHlink>
    </a:clrScheme>
    <a:fontScheme name="stra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 &amp; co, the active straw: investor pitch</dc:title>
  <dc:subject>PptxGenJS Presentation</dc:subject>
  <dc:creator>Nisrine Margoum</dc:creator>
  <cp:lastModifiedBy>Nisrine Margoum</cp:lastModifiedBy>
  <cp:revision>1</cp:revision>
  <dcterms:created xsi:type="dcterms:W3CDTF">2026-10-11T11:43:03Z</dcterms:created>
  <dcterms:modified xsi:type="dcterms:W3CDTF">2026-10-11T11:43:03Z</dcterms:modified>
</cp:coreProperties>
</file>