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77759d49-00f2-e063-65f9-fbc6e1409d7b}">
          <p14:sldIdLst>
            <p14:sldId id="256"/>
          </p14:sldIdLst>
        </p14:section>
        <p14:section name="Projet" id="{bfff9570-b4a4-c2bd-0297-4ae4a858fb83}">
          <p14:sldIdLst>
            <p14:sldId id="257"/>
            <p14:sldId id="258"/>
          </p14:sldIdLst>
        </p14:section>
        <p14:section name="Lancement" id="{bd5c0a76-e0c4-47b1-b843-b942cd7a7592}">
          <p14:sldIdLst>
            <p14:sldId id="259"/>
            <p14:sldId id="260"/>
          </p14:sldIdLst>
        </p14:section>
        <p14:section name="Calendrier" id="{ca0b8faf-4c4c-3eb6-4ddd-8353560bffae}">
          <p14:sldIdLst>
            <p14:sldId id="261"/>
            <p14:sldId id="262"/>
            <p14:sldId id="263"/>
          </p14:sldIdLst>
        </p14:section>
        <p14:section name="Après" id="{d2aa984b-cbc6-0a4f-afa9-3a546950f728}">
          <p14:sldIdLst>
            <p14:sldId id="264"/>
            <p14:sldId id="265"/>
          </p14:sldIdLst>
        </p14:section>
        <p14:section name="Conclusion" id="{cd3a6bf0-de59-ee49-47c3-72bbca256f04}">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où en est mon projet sip lab : ce qui est fait, où j'en suis aujourd'hui, et le calendrier jusqu'à la soutenance de fin mars, puis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rapide du projet : une paille active qui contient des micro-billes d'actifs. On boit, la dose est prise. Le concept repose aussi sur le rituel : donner envie de prendre ses compléments. La marque comporte quatre gammes.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est très récent : l'idée date d'il y a environ trois semaines. Depuis, j'ai réalisé l'étude de marché, la stratégie marketing avec le choix de la gamme luna, l'identité de marque avec le site, et le pitch. J'ai aussi contacté le fabricant Unistraw, et j'attends sa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 lancement, je pense commencer par la gamme luna, la santé féminine. C'est un besoin qui revient chaque mois, donc adapté à l'abonnement. Le marché grandit, il existe peu de solutions simples calées sur le cycle, la cible est facile à toucher en ligne, et c'est cohérent avec ma formation. Les autres gammes viendront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clé du moment, c'est le fabricant. J'ai contacté Unistraw, qui maîtrise la technologie des pailles à billes. Je leur ai demandé la faisabilité avec des actifs, le minimum de commande, un devis et les délais. Je suis en attente de réponse ; je relancerai sous dix jours. En parallèle, je vais contacter deux ou trois autres fabricants, pour ne pas dépendre d'une seule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diagramme de Gantt. En gris, ce qui est fait : étude de marché, stratégie, marque. En rouge, ce qui est en cours : le fabricant. En rose, ce qui reste à faire avant la soutenance : entretiens, formules, prototype, test de précommande et business plan. La soutenance est fin mars. En turquoise, l'après : la création de la société et le lancement de luna.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les semaines qui viennent : fin octobre, je relance Unistraw et je contacte d'autres fabricants, je prépare les entretiens et un questionnaire. En novembre, je mène les entretiens avec la cible luna et je consulte un expert réglementaire. En décembre, j'analyse les résultats, je compare les devis et je commande des échantillons.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janvier à la soutenance : en janvier, tests du prototype ; en février, le test du MVP avec une page de précommande et des créatrices, pour mesurer l'intérêt réel ; en parallèle, le business plan avec les vrais coûts. Fin mars, la soutenance, où je présenterai les résultats et la décision de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soutenance, si les tests sont concluants : au printemps, je crée la société et je dépose la marque ; ensuite je finance le lancement avec mon apport, la love money, et des aides à étudier comme le prêt d'honneur ; puis je lance luna à l'été 2027. Les autres gammes viendront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principaux risques : la réponse du fabricant, le coût par paille, la réglementation des allégations et les délais. Ce qui m'aiderait : votre avis sur le calendrier et sur le choix de luna, des contacts, et éventuellement le statut d'étudiant-entrepreneur.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Le prochain jalon, c'est la réponse du fabricant et les premiers entretiens. Je suis disponible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chemeClr val="tx2"/>
                </a:solidFill>
              </a:rPr>
              <a:t>sip lab · point d'avancement · M2 Entrepreneuriat &amp; Innovation</a:t>
            </a:r>
            <a:endParaRPr lang="en-US" sz="900" dirty="0"/>
          </a:p>
        </p:txBody>
      </p:sp>
      <p:sp>
        <p:nvSpPr>
          <p:cNvPr id="3" name="Text 1"/>
          <p:cNvSpPr/>
          <p:nvPr>
            <p:ph idx="101" type="body" hasCustomPrompt="1"/>
          </p:nvPr>
        </p:nvSpPr>
        <p:spPr>
          <a:xfrm>
            <a:off x="457200" y="292608"/>
            <a:ext cx="8229600" cy="228600"/>
          </a:xfrm>
          <a:prstGeom prst="rect">
            <a:avLst/>
          </a:prstGeom>
          <a:noFill/>
          <a:ln/>
        </p:spPr>
        <p:txBody>
          <a:bodyPr wrap="square" rtlCol="0"/>
          <a:lstStyle>
            <a:lvl1pPr indent="0" marL="0">
              <a:buNone/>
              <a:defRPr lang="en-US" sz="1000" b="1" spc="200" kern="0" dirty="0">
                <a:solidFill>
                  <a:schemeClr val="tx2"/>
                </a:solidFill>
              </a:defRPr>
            </a:lvl1pPr>
          </a:lstStyle>
          <a:p>
            <a:pPr indent="0" marL="0">
              <a:buNone/>
            </a:pPr>
            <a:endParaRPr lang="en-US" sz="1000" dirty="0"/>
          </a:p>
        </p:txBody>
      </p:sp>
      <p:sp>
        <p:nvSpPr>
          <p:cNvPr id="4" name="Text 1"/>
          <p:cNvSpPr/>
          <p:nvPr>
            <p:ph idx="102" type="title" hasCustomPrompt="1"/>
          </p:nvPr>
        </p:nvSpPr>
        <p:spPr>
          <a:xfrm>
            <a:off x="457200" y="502920"/>
            <a:ext cx="8229600" cy="594360"/>
          </a:xfrm>
          <a:prstGeom prst="rect">
            <a:avLst/>
          </a:prstGeom>
          <a:noFill/>
          <a:ln/>
        </p:spPr>
        <p:txBody>
          <a:bodyPr wrap="square" rtlCol="0"/>
          <a:lstStyle>
            <a:lvl1pPr algn="l" indent="0" marL="0">
              <a:buNone/>
              <a:defRPr lang="en-US" sz="2800"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sip lab">    </p:cNvPr>
          <p:cNvPicPr>
            <a:picLocks noChangeAspect="1"/>
          </p:cNvPicPr>
          <p:nvPr/>
        </p:nvPicPr>
        <p:blipFill>
          <a:blip r:embed="rId1"/>
          <a:stretch>
            <a:fillRect/>
          </a:stretch>
        </p:blipFill>
        <p:spPr>
          <a:xfrm>
            <a:off x="320040" y="548640"/>
            <a:ext cx="3108960" cy="1271125"/>
          </a:xfrm>
          <a:prstGeom prst="rect">
            <a:avLst/>
          </a:prstGeom>
        </p:spPr>
      </p:pic>
      <p:sp>
        <p:nvSpPr>
          <p:cNvPr id="3" name="Text 0"/>
          <p:cNvSpPr txBox="1"/>
          <p:nvPr/>
        </p:nvSpPr>
        <p:spPr>
          <a:xfrm>
            <a:off x="457200" y="2011680"/>
            <a:ext cx="4114800" cy="548640"/>
          </a:xfrm>
          <a:prstGeom prst="rect">
            <a:avLst/>
          </a:prstGeom>
          <a:noFill/>
          <a:ln/>
        </p:spPr>
        <p:txBody>
          <a:bodyPr wrap="square" lIns="0" tIns="0" rIns="0" bIns="0" rtlCol="0" anchor="t"/>
          <a:lstStyle/>
          <a:p>
            <a:pPr indent="0" marL="0">
              <a:buNone/>
            </a:pPr>
            <a:r>
              <a:rPr lang="en-US" sz="2600" i="1" dirty="0">
                <a:solidFill>
                  <a:schemeClr val="bg2"/>
                </a:solidFill>
                <a:latin typeface="Cambria" pitchFamily="34" charset="0"/>
                <a:ea typeface="Cambria" pitchFamily="34" charset="-122"/>
                <a:cs typeface="Cambria" pitchFamily="34" charset="-120"/>
              </a:rPr>
              <a:t>point d'avancement du projet</a:t>
            </a:r>
            <a:endParaRPr lang="en-US" sz="2600" dirty="0"/>
          </a:p>
        </p:txBody>
      </p:sp>
      <p:sp>
        <p:nvSpPr>
          <p:cNvPr id="4" name="Text 1"/>
          <p:cNvSpPr txBox="1"/>
          <p:nvPr/>
        </p:nvSpPr>
        <p:spPr>
          <a:xfrm>
            <a:off x="457200" y="2651760"/>
            <a:ext cx="3840480" cy="731520"/>
          </a:xfrm>
          <a:prstGeom prst="rect">
            <a:avLst/>
          </a:prstGeom>
          <a:noFill/>
          <a:ln/>
        </p:spPr>
        <p:txBody>
          <a:bodyPr wrap="square" lIns="0" tIns="0" rIns="0" bIns="0" rtlCol="0" anchor="t"/>
          <a:lstStyle/>
          <a:p>
            <a:pPr indent="0" marL="0">
              <a:buNone/>
            </a:pPr>
            <a:r>
              <a:rPr lang="en-US" sz="1400" dirty="0">
                <a:solidFill>
                  <a:srgbClr val="D6CFC6"/>
                </a:solidFill>
              </a:rPr>
              <a:t>La paille active : des compléments alimentaires à boire, en 4 gammes. Lancement prévu avec la gamme luna.</a:t>
            </a:r>
            <a:endParaRPr lang="en-US" sz="1400" dirty="0"/>
          </a:p>
        </p:txBody>
      </p:sp>
      <p:sp>
        <p:nvSpPr>
          <p:cNvPr id="5" name="Text 2"/>
          <p:cNvSpPr txBox="1"/>
          <p:nvPr/>
        </p:nvSpPr>
        <p:spPr>
          <a:xfrm>
            <a:off x="457200" y="4206240"/>
            <a:ext cx="4023360" cy="457200"/>
          </a:xfrm>
          <a:prstGeom prst="rect">
            <a:avLst/>
          </a:prstGeom>
          <a:noFill/>
          <a:ln/>
        </p:spPr>
        <p:txBody>
          <a:bodyPr wrap="square" lIns="0" tIns="0" rIns="0" bIns="0" rtlCol="0" anchor="t"/>
          <a:lstStyle/>
          <a:p>
            <a:pPr indent="0" marL="0">
              <a:buNone/>
            </a:pPr>
            <a:r>
              <a:rPr lang="en-US" sz="1100" dirty="0">
                <a:solidFill>
                  <a:srgbClr val="A99F96"/>
                </a:solidFill>
              </a:rPr>
              <a:t>Nisrine Margoum · M2 Entrepreneuriat &amp; Innovation · IAE Clermont-Auvergne · octobre 2026</a:t>
            </a:r>
            <a:endParaRPr lang="en-US" sz="1100" dirty="0"/>
          </a:p>
        </p:txBody>
      </p:sp>
      <p:pic>
        <p:nvPicPr>
          <p:cNvPr id="6" name="cover-mini" descr="cover-mini">    </p:cNvPr>
          <p:cNvPicPr>
            <a:picLocks noChangeAspect="1"/>
          </p:cNvPicPr>
          <p:nvPr/>
        </p:nvPicPr>
        <p:blipFill>
          <a:blip r:embed="rId2"/>
          <a:stretch>
            <a:fillRect/>
          </a:stretch>
        </p:blipFill>
        <p:spPr>
          <a:xfrm>
            <a:off x="4572000" y="457200"/>
            <a:ext cx="2011680" cy="2057400"/>
          </a:xfrm>
          <a:prstGeom prst="rect">
            <a:avLst/>
          </a:prstGeom>
        </p:spPr>
      </p:pic>
      <p:sp>
        <p:nvSpPr>
          <p:cNvPr id="7" name="Shape 3"/>
          <p:cNvSpPr/>
          <p:nvPr/>
        </p:nvSpPr>
        <p:spPr>
          <a:xfrm>
            <a:off x="4681728" y="2103120"/>
            <a:ext cx="832104" cy="292608"/>
          </a:xfrm>
          <a:prstGeom prst="roundRect">
            <a:avLst>
              <a:gd name="adj" fmla="val 50000"/>
            </a:avLst>
          </a:prstGeom>
          <a:solidFill>
            <a:schemeClr val="bg2"/>
          </a:solidFill>
          <a:ln/>
        </p:spPr>
      </p:sp>
      <p:sp>
        <p:nvSpPr>
          <p:cNvPr id="8" name="Shape 4"/>
          <p:cNvSpPr/>
          <p:nvPr/>
        </p:nvSpPr>
        <p:spPr>
          <a:xfrm>
            <a:off x="4773168" y="2185416"/>
            <a:ext cx="128016" cy="128016"/>
          </a:xfrm>
          <a:prstGeom prst="ellipse">
            <a:avLst/>
          </a:prstGeom>
          <a:solidFill>
            <a:schemeClr val="accent3"/>
          </a:solidFill>
          <a:ln/>
        </p:spPr>
      </p:sp>
      <p:sp>
        <p:nvSpPr>
          <p:cNvPr id="9" name="Text 5"/>
          <p:cNvSpPr txBox="1"/>
          <p:nvPr/>
        </p:nvSpPr>
        <p:spPr>
          <a:xfrm>
            <a:off x="4956048" y="210312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mini</a:t>
            </a:r>
            <a:endParaRPr lang="en-US" sz="1200" dirty="0"/>
          </a:p>
        </p:txBody>
      </p:sp>
      <p:pic>
        <p:nvPicPr>
          <p:cNvPr id="10" name="cover-active" descr="cover-active">    </p:cNvPr>
          <p:cNvPicPr>
            <a:picLocks noChangeAspect="1"/>
          </p:cNvPicPr>
          <p:nvPr/>
        </p:nvPicPr>
        <p:blipFill>
          <a:blip r:embed="rId3"/>
          <a:stretch>
            <a:fillRect/>
          </a:stretch>
        </p:blipFill>
        <p:spPr>
          <a:xfrm>
            <a:off x="6675120" y="457200"/>
            <a:ext cx="2011680" cy="2057400"/>
          </a:xfrm>
          <a:prstGeom prst="rect">
            <a:avLst/>
          </a:prstGeom>
        </p:spPr>
      </p:pic>
      <p:sp>
        <p:nvSpPr>
          <p:cNvPr id="11" name="Shape 6"/>
          <p:cNvSpPr/>
          <p:nvPr/>
        </p:nvSpPr>
        <p:spPr>
          <a:xfrm>
            <a:off x="6784848" y="2103120"/>
            <a:ext cx="996696" cy="292608"/>
          </a:xfrm>
          <a:prstGeom prst="roundRect">
            <a:avLst>
              <a:gd name="adj" fmla="val 50000"/>
            </a:avLst>
          </a:prstGeom>
          <a:solidFill>
            <a:schemeClr val="bg2"/>
          </a:solidFill>
          <a:ln/>
        </p:spPr>
      </p:sp>
      <p:sp>
        <p:nvSpPr>
          <p:cNvPr id="12" name="Shape 7"/>
          <p:cNvSpPr/>
          <p:nvPr/>
        </p:nvSpPr>
        <p:spPr>
          <a:xfrm>
            <a:off x="6876288" y="2185416"/>
            <a:ext cx="128016" cy="128016"/>
          </a:xfrm>
          <a:prstGeom prst="ellipse">
            <a:avLst/>
          </a:prstGeom>
          <a:solidFill>
            <a:schemeClr val="accent4"/>
          </a:solidFill>
          <a:ln/>
        </p:spPr>
      </p:sp>
      <p:sp>
        <p:nvSpPr>
          <p:cNvPr id="13" name="Text 8"/>
          <p:cNvSpPr txBox="1"/>
          <p:nvPr/>
        </p:nvSpPr>
        <p:spPr>
          <a:xfrm>
            <a:off x="7059168" y="210312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active</a:t>
            </a:r>
            <a:endParaRPr lang="en-US" sz="1200" dirty="0"/>
          </a:p>
        </p:txBody>
      </p:sp>
      <p:pic>
        <p:nvPicPr>
          <p:cNvPr id="14" name="cover-luna" descr="cover-luna">    </p:cNvPr>
          <p:cNvPicPr>
            <a:picLocks noChangeAspect="1"/>
          </p:cNvPicPr>
          <p:nvPr/>
        </p:nvPicPr>
        <p:blipFill>
          <a:blip r:embed="rId4"/>
          <a:stretch>
            <a:fillRect/>
          </a:stretch>
        </p:blipFill>
        <p:spPr>
          <a:xfrm>
            <a:off x="4572000" y="2606040"/>
            <a:ext cx="2011680" cy="2057400"/>
          </a:xfrm>
          <a:prstGeom prst="rect">
            <a:avLst/>
          </a:prstGeom>
        </p:spPr>
      </p:pic>
      <p:sp>
        <p:nvSpPr>
          <p:cNvPr id="15" name="Shape 9"/>
          <p:cNvSpPr/>
          <p:nvPr/>
        </p:nvSpPr>
        <p:spPr>
          <a:xfrm>
            <a:off x="4681728" y="4251960"/>
            <a:ext cx="832104" cy="292608"/>
          </a:xfrm>
          <a:prstGeom prst="roundRect">
            <a:avLst>
              <a:gd name="adj" fmla="val 50000"/>
            </a:avLst>
          </a:prstGeom>
          <a:solidFill>
            <a:schemeClr val="bg2"/>
          </a:solidFill>
          <a:ln/>
        </p:spPr>
      </p:sp>
      <p:sp>
        <p:nvSpPr>
          <p:cNvPr id="16" name="Shape 10"/>
          <p:cNvSpPr/>
          <p:nvPr/>
        </p:nvSpPr>
        <p:spPr>
          <a:xfrm>
            <a:off x="4773168" y="4334256"/>
            <a:ext cx="128016" cy="128016"/>
          </a:xfrm>
          <a:prstGeom prst="ellipse">
            <a:avLst/>
          </a:prstGeom>
          <a:solidFill>
            <a:schemeClr val="accent1"/>
          </a:solidFill>
          <a:ln/>
        </p:spPr>
      </p:sp>
      <p:sp>
        <p:nvSpPr>
          <p:cNvPr id="17" name="Text 11"/>
          <p:cNvSpPr txBox="1"/>
          <p:nvPr/>
        </p:nvSpPr>
        <p:spPr>
          <a:xfrm>
            <a:off x="4956048" y="425196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luna</a:t>
            </a:r>
            <a:endParaRPr lang="en-US" sz="1200" dirty="0"/>
          </a:p>
        </p:txBody>
      </p:sp>
      <p:pic>
        <p:nvPicPr>
          <p:cNvPr id="18" name="cover-silver" descr="cover-silver">    </p:cNvPr>
          <p:cNvPicPr>
            <a:picLocks noChangeAspect="1"/>
          </p:cNvPicPr>
          <p:nvPr/>
        </p:nvPicPr>
        <p:blipFill>
          <a:blip r:embed="rId5"/>
          <a:stretch>
            <a:fillRect/>
          </a:stretch>
        </p:blipFill>
        <p:spPr>
          <a:xfrm>
            <a:off x="6675120" y="2606040"/>
            <a:ext cx="2011680" cy="2057400"/>
          </a:xfrm>
          <a:prstGeom prst="rect">
            <a:avLst/>
          </a:prstGeom>
        </p:spPr>
      </p:pic>
      <p:sp>
        <p:nvSpPr>
          <p:cNvPr id="19" name="Shape 12"/>
          <p:cNvSpPr/>
          <p:nvPr/>
        </p:nvSpPr>
        <p:spPr>
          <a:xfrm>
            <a:off x="6784848" y="4251960"/>
            <a:ext cx="996696" cy="292608"/>
          </a:xfrm>
          <a:prstGeom prst="roundRect">
            <a:avLst>
              <a:gd name="adj" fmla="val 50000"/>
            </a:avLst>
          </a:prstGeom>
          <a:solidFill>
            <a:schemeClr val="bg2"/>
          </a:solidFill>
          <a:ln/>
        </p:spPr>
      </p:sp>
      <p:sp>
        <p:nvSpPr>
          <p:cNvPr id="20" name="Shape 13"/>
          <p:cNvSpPr/>
          <p:nvPr/>
        </p:nvSpPr>
        <p:spPr>
          <a:xfrm>
            <a:off x="6876288" y="4334256"/>
            <a:ext cx="128016" cy="128016"/>
          </a:xfrm>
          <a:prstGeom prst="ellipse">
            <a:avLst/>
          </a:prstGeom>
          <a:solidFill>
            <a:schemeClr val="accent2"/>
          </a:solidFill>
          <a:ln/>
        </p:spPr>
      </p:sp>
      <p:sp>
        <p:nvSpPr>
          <p:cNvPr id="21" name="Text 14"/>
          <p:cNvSpPr txBox="1"/>
          <p:nvPr/>
        </p:nvSpPr>
        <p:spPr>
          <a:xfrm>
            <a:off x="7059168" y="425196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silver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 PROJET EN BREF</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une paille, </a:t>
            </a:r>
            <a:pPr algn="l" indent="0" marL="0">
              <a:buNone/>
            </a:pPr>
            <a:r>
              <a:rPr lang="en-US" sz="2800" i="1" dirty="0">
                <a:solidFill>
                  <a:schemeClr val="tx1"/>
                </a:solidFill>
                <a:latin typeface="Cambria" pitchFamily="34" charset="0"/>
                <a:ea typeface="Cambria" pitchFamily="34" charset="-122"/>
                <a:cs typeface="Cambria" pitchFamily="34" charset="-120"/>
              </a:rPr>
              <a:t>un rituel quotidien</a:t>
            </a:r>
            <a:endParaRPr lang="en-US" sz="2800" dirty="0"/>
          </a:p>
        </p:txBody>
      </p:sp>
      <p:sp>
        <p:nvSpPr>
          <p:cNvPr id="4" name="fond-visuel"/>
          <p:cNvSpPr/>
          <p:nvPr/>
        </p:nvSpPr>
        <p:spPr>
          <a:xfrm>
            <a:off x="457200" y="1280160"/>
            <a:ext cx="3291840" cy="3108960"/>
          </a:xfrm>
          <a:prstGeom prst="roundRect">
            <a:avLst>
              <a:gd name="adj" fmla="val 2353"/>
            </a:avLst>
          </a:prstGeom>
          <a:solidFill>
            <a:srgbClr val="F6E7E2"/>
          </a:solidFill>
          <a:ln/>
        </p:spPr>
      </p:sp>
      <p:pic>
        <p:nvPicPr>
          <p:cNvPr id="5" name="visuel-paille" descr="étui et paille sip lab luna">    </p:cNvPr>
          <p:cNvPicPr>
            <a:picLocks noChangeAspect="1"/>
          </p:cNvPicPr>
          <p:nvPr/>
        </p:nvPicPr>
        <p:blipFill>
          <a:blip r:embed="rId1"/>
          <a:stretch>
            <a:fillRect/>
          </a:stretch>
        </p:blipFill>
        <p:spPr>
          <a:xfrm>
            <a:off x="760320" y="1463040"/>
            <a:ext cx="2685600" cy="2743200"/>
          </a:xfrm>
          <a:prstGeom prst="rect">
            <a:avLst/>
          </a:prstGeom>
        </p:spPr>
      </p:pic>
      <p:sp>
        <p:nvSpPr>
          <p:cNvPr id="6" name="bref-0"/>
          <p:cNvSpPr/>
          <p:nvPr/>
        </p:nvSpPr>
        <p:spPr>
          <a:xfrm>
            <a:off x="4023360" y="1280160"/>
            <a:ext cx="4663440" cy="694944"/>
          </a:xfrm>
          <a:prstGeom prst="roundRect">
            <a:avLst>
              <a:gd name="adj" fmla="val 10526"/>
            </a:avLst>
          </a:prstGeom>
          <a:solidFill>
            <a:srgbClr val="FFFFFF"/>
          </a:solidFill>
          <a:ln/>
        </p:spPr>
      </p:sp>
      <p:sp>
        <p:nvSpPr>
          <p:cNvPr id="7" name="Shape 4"/>
          <p:cNvSpPr/>
          <p:nvPr/>
        </p:nvSpPr>
        <p:spPr>
          <a:xfrm>
            <a:off x="4206240" y="1554480"/>
            <a:ext cx="146304" cy="146304"/>
          </a:xfrm>
          <a:prstGeom prst="ellipse">
            <a:avLst/>
          </a:prstGeom>
          <a:solidFill>
            <a:schemeClr val="accent4"/>
          </a:solidFill>
          <a:ln/>
        </p:spPr>
      </p:sp>
      <p:sp>
        <p:nvSpPr>
          <p:cNvPr id="8" name="Text 5"/>
          <p:cNvSpPr txBox="1"/>
          <p:nvPr/>
        </p:nvSpPr>
        <p:spPr>
          <a:xfrm>
            <a:off x="4526280" y="1371600"/>
            <a:ext cx="4023360" cy="228600"/>
          </a:xfrm>
          <a:prstGeom prst="rect">
            <a:avLst/>
          </a:prstGeom>
          <a:noFill/>
          <a:ln/>
        </p:spPr>
        <p:txBody>
          <a:bodyPr wrap="square" lIns="0" tIns="0" rIns="0" bIns="0" rtlCol="0" anchor="t"/>
          <a:lstStyle/>
          <a:p>
            <a:pPr indent="0" marL="0">
              <a:buNone/>
            </a:pPr>
            <a:r>
              <a:rPr lang="en-US" sz="1300" b="1" dirty="0">
                <a:solidFill>
                  <a:schemeClr val="tx1"/>
                </a:solidFill>
              </a:rPr>
              <a:t>le problème</a:t>
            </a:r>
            <a:endParaRPr lang="en-US" sz="1300" dirty="0"/>
          </a:p>
        </p:txBody>
      </p:sp>
      <p:sp>
        <p:nvSpPr>
          <p:cNvPr id="9" name="Text 6"/>
          <p:cNvSpPr txBox="1"/>
          <p:nvPr/>
        </p:nvSpPr>
        <p:spPr>
          <a:xfrm>
            <a:off x="4526280" y="1609344"/>
            <a:ext cx="4023360" cy="347472"/>
          </a:xfrm>
          <a:prstGeom prst="rect">
            <a:avLst/>
          </a:prstGeom>
          <a:noFill/>
          <a:ln/>
        </p:spPr>
        <p:txBody>
          <a:bodyPr wrap="square" lIns="0" tIns="0" rIns="0" bIns="0" rtlCol="0" anchor="t"/>
          <a:lstStyle/>
          <a:p>
            <a:pPr indent="0" marL="0">
              <a:buNone/>
            </a:pPr>
            <a:r>
              <a:rPr lang="en-US" sz="1050" dirty="0">
                <a:solidFill>
                  <a:schemeClr val="tx2"/>
                </a:solidFill>
              </a:rPr>
              <a:t>Les compléments sont achetés mais mal pris : gélules difficiles à avaler, oublis, pas d'habitude.</a:t>
            </a:r>
            <a:endParaRPr lang="en-US" sz="1050" dirty="0"/>
          </a:p>
        </p:txBody>
      </p:sp>
      <p:sp>
        <p:nvSpPr>
          <p:cNvPr id="10" name="bref-1"/>
          <p:cNvSpPr/>
          <p:nvPr/>
        </p:nvSpPr>
        <p:spPr>
          <a:xfrm>
            <a:off x="4023360" y="2066544"/>
            <a:ext cx="4663440" cy="694944"/>
          </a:xfrm>
          <a:prstGeom prst="roundRect">
            <a:avLst>
              <a:gd name="adj" fmla="val 10526"/>
            </a:avLst>
          </a:prstGeom>
          <a:solidFill>
            <a:srgbClr val="FFFFFF"/>
          </a:solidFill>
          <a:ln/>
        </p:spPr>
      </p:sp>
      <p:sp>
        <p:nvSpPr>
          <p:cNvPr id="11" name="Shape 8"/>
          <p:cNvSpPr/>
          <p:nvPr/>
        </p:nvSpPr>
        <p:spPr>
          <a:xfrm>
            <a:off x="4206240" y="2340864"/>
            <a:ext cx="146304" cy="146304"/>
          </a:xfrm>
          <a:prstGeom prst="ellipse">
            <a:avLst/>
          </a:prstGeom>
          <a:solidFill>
            <a:schemeClr val="accent1"/>
          </a:solidFill>
          <a:ln/>
        </p:spPr>
      </p:sp>
      <p:sp>
        <p:nvSpPr>
          <p:cNvPr id="12" name="Text 9"/>
          <p:cNvSpPr txBox="1"/>
          <p:nvPr/>
        </p:nvSpPr>
        <p:spPr>
          <a:xfrm>
            <a:off x="4526280" y="2157984"/>
            <a:ext cx="4023360" cy="228600"/>
          </a:xfrm>
          <a:prstGeom prst="rect">
            <a:avLst/>
          </a:prstGeom>
          <a:noFill/>
          <a:ln/>
        </p:spPr>
        <p:txBody>
          <a:bodyPr wrap="square" lIns="0" tIns="0" rIns="0" bIns="0" rtlCol="0" anchor="t"/>
          <a:lstStyle/>
          <a:p>
            <a:pPr indent="0" marL="0">
              <a:buNone/>
            </a:pPr>
            <a:r>
              <a:rPr lang="en-US" sz="1300" b="1" dirty="0">
                <a:solidFill>
                  <a:schemeClr val="tx1"/>
                </a:solidFill>
              </a:rPr>
              <a:t>la solution</a:t>
            </a:r>
            <a:endParaRPr lang="en-US" sz="1300" dirty="0"/>
          </a:p>
        </p:txBody>
      </p:sp>
      <p:sp>
        <p:nvSpPr>
          <p:cNvPr id="13" name="Text 10"/>
          <p:cNvSpPr txBox="1"/>
          <p:nvPr/>
        </p:nvSpPr>
        <p:spPr>
          <a:xfrm>
            <a:off x="4526280" y="2395728"/>
            <a:ext cx="4023360" cy="347472"/>
          </a:xfrm>
          <a:prstGeom prst="rect">
            <a:avLst/>
          </a:prstGeom>
          <a:noFill/>
          <a:ln/>
        </p:spPr>
        <p:txBody>
          <a:bodyPr wrap="square" lIns="0" tIns="0" rIns="0" bIns="0" rtlCol="0" anchor="t"/>
          <a:lstStyle/>
          <a:p>
            <a:pPr indent="0" marL="0">
              <a:buNone/>
            </a:pPr>
            <a:r>
              <a:rPr lang="en-US" sz="1050" dirty="0">
                <a:solidFill>
                  <a:schemeClr val="tx2"/>
                </a:solidFill>
              </a:rPr>
              <a:t>Une paille remplie de micro-billes d'actifs : on boit sa boisson habituelle, la dose est prise. Rien à avaler, sans sucre ajouté.</a:t>
            </a:r>
            <a:endParaRPr lang="en-US" sz="1050" dirty="0"/>
          </a:p>
        </p:txBody>
      </p:sp>
      <p:sp>
        <p:nvSpPr>
          <p:cNvPr id="14" name="bref-2"/>
          <p:cNvSpPr/>
          <p:nvPr/>
        </p:nvSpPr>
        <p:spPr>
          <a:xfrm>
            <a:off x="4023360" y="2852928"/>
            <a:ext cx="4663440" cy="694944"/>
          </a:xfrm>
          <a:prstGeom prst="roundRect">
            <a:avLst>
              <a:gd name="adj" fmla="val 10526"/>
            </a:avLst>
          </a:prstGeom>
          <a:solidFill>
            <a:srgbClr val="FFFFFF"/>
          </a:solidFill>
          <a:ln/>
        </p:spPr>
      </p:sp>
      <p:sp>
        <p:nvSpPr>
          <p:cNvPr id="15" name="Shape 12"/>
          <p:cNvSpPr/>
          <p:nvPr/>
        </p:nvSpPr>
        <p:spPr>
          <a:xfrm>
            <a:off x="4206240" y="3127248"/>
            <a:ext cx="146304" cy="146304"/>
          </a:xfrm>
          <a:prstGeom prst="ellipse">
            <a:avLst/>
          </a:prstGeom>
          <a:solidFill>
            <a:schemeClr val="accent2"/>
          </a:solidFill>
          <a:ln/>
        </p:spPr>
      </p:sp>
      <p:sp>
        <p:nvSpPr>
          <p:cNvPr id="16" name="Text 13"/>
          <p:cNvSpPr txBox="1"/>
          <p:nvPr/>
        </p:nvSpPr>
        <p:spPr>
          <a:xfrm>
            <a:off x="4526280" y="2944368"/>
            <a:ext cx="4023360" cy="228600"/>
          </a:xfrm>
          <a:prstGeom prst="rect">
            <a:avLst/>
          </a:prstGeom>
          <a:noFill/>
          <a:ln/>
        </p:spPr>
        <p:txBody>
          <a:bodyPr wrap="square" lIns="0" tIns="0" rIns="0" bIns="0" rtlCol="0" anchor="t"/>
          <a:lstStyle/>
          <a:p>
            <a:pPr indent="0" marL="0">
              <a:buNone/>
            </a:pPr>
            <a:r>
              <a:rPr lang="en-US" sz="1300" b="1" dirty="0">
                <a:solidFill>
                  <a:schemeClr val="tx1"/>
                </a:solidFill>
              </a:rPr>
              <a:t>le concept</a:t>
            </a:r>
            <a:endParaRPr lang="en-US" sz="1300" dirty="0"/>
          </a:p>
        </p:txBody>
      </p:sp>
      <p:sp>
        <p:nvSpPr>
          <p:cNvPr id="17" name="Text 14"/>
          <p:cNvSpPr txBox="1"/>
          <p:nvPr/>
        </p:nvSpPr>
        <p:spPr>
          <a:xfrm>
            <a:off x="4526280" y="3182112"/>
            <a:ext cx="4023360" cy="347472"/>
          </a:xfrm>
          <a:prstGeom prst="rect">
            <a:avLst/>
          </a:prstGeom>
          <a:noFill/>
          <a:ln/>
        </p:spPr>
        <p:txBody>
          <a:bodyPr wrap="square" lIns="0" tIns="0" rIns="0" bIns="0" rtlCol="0" anchor="t"/>
          <a:lstStyle/>
          <a:p>
            <a:pPr indent="0" marL="0">
              <a:buNone/>
            </a:pPr>
            <a:r>
              <a:rPr lang="en-US" sz="1050" dirty="0">
                <a:solidFill>
                  <a:schemeClr val="tx2"/>
                </a:solidFill>
              </a:rPr>
              <a:t>Plus qu'un complément, un rituel : une paille datée, un geste agréable que l'on a envie de refaire.</a:t>
            </a:r>
            <a:endParaRPr lang="en-US" sz="1050" dirty="0"/>
          </a:p>
        </p:txBody>
      </p:sp>
      <p:sp>
        <p:nvSpPr>
          <p:cNvPr id="18" name="bref-3"/>
          <p:cNvSpPr/>
          <p:nvPr/>
        </p:nvSpPr>
        <p:spPr>
          <a:xfrm>
            <a:off x="4023360" y="3639312"/>
            <a:ext cx="4663440" cy="694944"/>
          </a:xfrm>
          <a:prstGeom prst="roundRect">
            <a:avLst>
              <a:gd name="adj" fmla="val 10526"/>
            </a:avLst>
          </a:prstGeom>
          <a:solidFill>
            <a:srgbClr val="FFFFFF"/>
          </a:solidFill>
          <a:ln/>
        </p:spPr>
      </p:sp>
      <p:sp>
        <p:nvSpPr>
          <p:cNvPr id="19" name="Shape 16"/>
          <p:cNvSpPr/>
          <p:nvPr/>
        </p:nvSpPr>
        <p:spPr>
          <a:xfrm>
            <a:off x="4206240" y="3913632"/>
            <a:ext cx="146304" cy="146304"/>
          </a:xfrm>
          <a:prstGeom prst="ellipse">
            <a:avLst/>
          </a:prstGeom>
          <a:solidFill>
            <a:schemeClr val="accent3"/>
          </a:solidFill>
          <a:ln/>
        </p:spPr>
      </p:sp>
      <p:sp>
        <p:nvSpPr>
          <p:cNvPr id="20" name="Text 17"/>
          <p:cNvSpPr txBox="1"/>
          <p:nvPr/>
        </p:nvSpPr>
        <p:spPr>
          <a:xfrm>
            <a:off x="4526280" y="3730752"/>
            <a:ext cx="4023360" cy="228600"/>
          </a:xfrm>
          <a:prstGeom prst="rect">
            <a:avLst/>
          </a:prstGeom>
          <a:noFill/>
          <a:ln/>
        </p:spPr>
        <p:txBody>
          <a:bodyPr wrap="square" lIns="0" tIns="0" rIns="0" bIns="0" rtlCol="0" anchor="t"/>
          <a:lstStyle/>
          <a:p>
            <a:pPr indent="0" marL="0">
              <a:buNone/>
            </a:pPr>
            <a:r>
              <a:rPr lang="en-US" sz="1300" b="1" dirty="0">
                <a:solidFill>
                  <a:schemeClr val="tx1"/>
                </a:solidFill>
              </a:rPr>
              <a:t>la marque</a:t>
            </a:r>
            <a:endParaRPr lang="en-US" sz="1300" dirty="0"/>
          </a:p>
        </p:txBody>
      </p:sp>
      <p:sp>
        <p:nvSpPr>
          <p:cNvPr id="21" name="Text 18"/>
          <p:cNvSpPr txBox="1"/>
          <p:nvPr/>
        </p:nvSpPr>
        <p:spPr>
          <a:xfrm>
            <a:off x="4526280" y="3968496"/>
            <a:ext cx="4023360" cy="347472"/>
          </a:xfrm>
          <a:prstGeom prst="rect">
            <a:avLst/>
          </a:prstGeom>
          <a:noFill/>
          <a:ln/>
        </p:spPr>
        <p:txBody>
          <a:bodyPr wrap="square" lIns="0" tIns="0" rIns="0" bIns="0" rtlCol="0" anchor="t"/>
          <a:lstStyle/>
          <a:p>
            <a:pPr indent="0" marL="0">
              <a:buNone/>
            </a:pPr>
            <a:r>
              <a:rPr lang="en-US" sz="1050" dirty="0">
                <a:solidFill>
                  <a:schemeClr val="tx2"/>
                </a:solidFill>
              </a:rPr>
              <a:t>4 gammes : mini (enfants), active (femmes actives), luna (santé féminine), silver (seniors).</a:t>
            </a:r>
            <a:endParaRPr lang="en-US" sz="10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OÙ J'EN SUIS</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 projet né </a:t>
            </a:r>
            <a:pPr algn="l" indent="0" marL="0">
              <a:buNone/>
            </a:pPr>
            <a:r>
              <a:rPr lang="en-US" sz="2800" i="1" dirty="0">
                <a:solidFill>
                  <a:schemeClr val="tx1"/>
                </a:solidFill>
                <a:latin typeface="Cambria" pitchFamily="34" charset="0"/>
                <a:ea typeface="Cambria" pitchFamily="34" charset="-122"/>
                <a:cs typeface="Cambria" pitchFamily="34" charset="-120"/>
              </a:rPr>
              <a:t>il y a trois semaines</a:t>
            </a:r>
            <a:endParaRPr lang="en-US" sz="2800" dirty="0"/>
          </a:p>
        </p:txBody>
      </p:sp>
      <p:sp>
        <p:nvSpPr>
          <p:cNvPr id="4" name="Shape 2"/>
          <p:cNvSpPr/>
          <p:nvPr/>
        </p:nvSpPr>
        <p:spPr>
          <a:xfrm>
            <a:off x="1120140" y="1874520"/>
            <a:ext cx="6903720" cy="0"/>
          </a:xfrm>
          <a:prstGeom prst="line">
            <a:avLst/>
          </a:prstGeom>
          <a:noFill/>
          <a:ln w="19050">
            <a:solidFill>
              <a:srgbClr val="D6CFC6"/>
            </a:solidFill>
            <a:prstDash val="solid"/>
          </a:ln>
        </p:spPr>
      </p:sp>
      <p:sp>
        <p:nvSpPr>
          <p:cNvPr id="5" name="jalon-0"/>
          <p:cNvSpPr/>
          <p:nvPr/>
        </p:nvSpPr>
        <p:spPr>
          <a:xfrm>
            <a:off x="1001268" y="1755648"/>
            <a:ext cx="237744" cy="237744"/>
          </a:xfrm>
          <a:prstGeom prst="ellipse">
            <a:avLst/>
          </a:prstGeom>
          <a:solidFill>
            <a:schemeClr val="accent2"/>
          </a:solidFill>
          <a:ln/>
        </p:spPr>
      </p:sp>
      <p:sp>
        <p:nvSpPr>
          <p:cNvPr id="6" name="Text 4"/>
          <p:cNvSpPr txBox="1"/>
          <p:nvPr/>
        </p:nvSpPr>
        <p:spPr>
          <a:xfrm>
            <a:off x="457200" y="1325880"/>
            <a:ext cx="132588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MI-SEPT.</a:t>
            </a:r>
            <a:endParaRPr lang="en-US" sz="900" dirty="0"/>
          </a:p>
        </p:txBody>
      </p:sp>
      <p:sp>
        <p:nvSpPr>
          <p:cNvPr id="7" name="Text 5"/>
          <p:cNvSpPr txBox="1"/>
          <p:nvPr/>
        </p:nvSpPr>
        <p:spPr>
          <a:xfrm>
            <a:off x="457200" y="2148840"/>
            <a:ext cx="1325880" cy="274320"/>
          </a:xfrm>
          <a:prstGeom prst="rect">
            <a:avLst/>
          </a:prstGeom>
          <a:noFill/>
          <a:ln/>
        </p:spPr>
        <p:txBody>
          <a:bodyPr wrap="square" lIns="0" tIns="0" rIns="0" bIns="0" rtlCol="0" anchor="t"/>
          <a:lstStyle/>
          <a:p>
            <a:pPr algn="ctr" indent="0" marL="0">
              <a:buNone/>
            </a:pPr>
            <a:r>
              <a:rPr lang="en-US" sz="1300" b="1" dirty="0">
                <a:solidFill>
                  <a:schemeClr val="tx1"/>
                </a:solidFill>
              </a:rPr>
              <a:t>L'idée</a:t>
            </a:r>
            <a:endParaRPr lang="en-US" sz="1300" dirty="0"/>
          </a:p>
        </p:txBody>
      </p:sp>
      <p:sp>
        <p:nvSpPr>
          <p:cNvPr id="8" name="Text 6"/>
          <p:cNvSpPr txBox="1"/>
          <p:nvPr/>
        </p:nvSpPr>
        <p:spPr>
          <a:xfrm>
            <a:off x="457200" y="2450592"/>
            <a:ext cx="1325880" cy="685800"/>
          </a:xfrm>
          <a:prstGeom prst="rect">
            <a:avLst/>
          </a:prstGeom>
          <a:noFill/>
          <a:ln/>
        </p:spPr>
        <p:txBody>
          <a:bodyPr wrap="square" lIns="0" tIns="0" rIns="0" bIns="0" rtlCol="0" anchor="t"/>
          <a:lstStyle/>
          <a:p>
            <a:pPr algn="ctr" indent="0" marL="0">
              <a:buNone/>
            </a:pPr>
            <a:r>
              <a:rPr lang="en-US" sz="1000" dirty="0">
                <a:solidFill>
                  <a:schemeClr val="tx2"/>
                </a:solidFill>
              </a:rPr>
              <a:t>la paille active, pour toute la famille</a:t>
            </a:r>
            <a:endParaRPr lang="en-US" sz="1000" dirty="0"/>
          </a:p>
        </p:txBody>
      </p:sp>
      <p:sp>
        <p:nvSpPr>
          <p:cNvPr id="9" name="jalon-1"/>
          <p:cNvSpPr/>
          <p:nvPr/>
        </p:nvSpPr>
        <p:spPr>
          <a:xfrm>
            <a:off x="2382012" y="1755648"/>
            <a:ext cx="237744" cy="237744"/>
          </a:xfrm>
          <a:prstGeom prst="ellipse">
            <a:avLst/>
          </a:prstGeom>
          <a:solidFill>
            <a:schemeClr val="accent2"/>
          </a:solidFill>
          <a:ln/>
        </p:spPr>
      </p:sp>
      <p:sp>
        <p:nvSpPr>
          <p:cNvPr id="10" name="Text 8"/>
          <p:cNvSpPr txBox="1"/>
          <p:nvPr/>
        </p:nvSpPr>
        <p:spPr>
          <a:xfrm>
            <a:off x="1837944" y="1325880"/>
            <a:ext cx="132588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FIN SEPT.</a:t>
            </a:r>
            <a:endParaRPr lang="en-US" sz="900" dirty="0"/>
          </a:p>
        </p:txBody>
      </p:sp>
      <p:sp>
        <p:nvSpPr>
          <p:cNvPr id="11" name="Text 9"/>
          <p:cNvSpPr txBox="1"/>
          <p:nvPr/>
        </p:nvSpPr>
        <p:spPr>
          <a:xfrm>
            <a:off x="1837944" y="2148840"/>
            <a:ext cx="1325880" cy="274320"/>
          </a:xfrm>
          <a:prstGeom prst="rect">
            <a:avLst/>
          </a:prstGeom>
          <a:noFill/>
          <a:ln/>
        </p:spPr>
        <p:txBody>
          <a:bodyPr wrap="square" lIns="0" tIns="0" rIns="0" bIns="0" rtlCol="0" anchor="t"/>
          <a:lstStyle/>
          <a:p>
            <a:pPr algn="ctr" indent="0" marL="0">
              <a:buNone/>
            </a:pPr>
            <a:r>
              <a:rPr lang="en-US" sz="1300" b="1" dirty="0">
                <a:solidFill>
                  <a:schemeClr val="tx1"/>
                </a:solidFill>
              </a:rPr>
              <a:t>Étude de marché</a:t>
            </a:r>
            <a:endParaRPr lang="en-US" sz="1300" dirty="0"/>
          </a:p>
        </p:txBody>
      </p:sp>
      <p:sp>
        <p:nvSpPr>
          <p:cNvPr id="12" name="Text 10"/>
          <p:cNvSpPr txBox="1"/>
          <p:nvPr/>
        </p:nvSpPr>
        <p:spPr>
          <a:xfrm>
            <a:off x="1837944" y="2450592"/>
            <a:ext cx="1325880" cy="685800"/>
          </a:xfrm>
          <a:prstGeom prst="rect">
            <a:avLst/>
          </a:prstGeom>
          <a:noFill/>
          <a:ln/>
        </p:spPr>
        <p:txBody>
          <a:bodyPr wrap="square" lIns="0" tIns="0" rIns="0" bIns="0" rtlCol="0" anchor="t"/>
          <a:lstStyle/>
          <a:p>
            <a:pPr algn="ctr" indent="0" marL="0">
              <a:buNone/>
            </a:pPr>
            <a:r>
              <a:rPr lang="en-US" sz="1000" dirty="0">
                <a:solidFill>
                  <a:schemeClr val="tx2"/>
                </a:solidFill>
              </a:rPr>
              <a:t>Synadiet, Anses, INSEE, 4 cibles</a:t>
            </a:r>
            <a:endParaRPr lang="en-US" sz="1000" dirty="0"/>
          </a:p>
        </p:txBody>
      </p:sp>
      <p:sp>
        <p:nvSpPr>
          <p:cNvPr id="13" name="jalon-2"/>
          <p:cNvSpPr/>
          <p:nvPr/>
        </p:nvSpPr>
        <p:spPr>
          <a:xfrm>
            <a:off x="3762756" y="1755648"/>
            <a:ext cx="237744" cy="237744"/>
          </a:xfrm>
          <a:prstGeom prst="ellipse">
            <a:avLst/>
          </a:prstGeom>
          <a:solidFill>
            <a:schemeClr val="accent2"/>
          </a:solidFill>
          <a:ln/>
        </p:spPr>
      </p:sp>
      <p:sp>
        <p:nvSpPr>
          <p:cNvPr id="14" name="Text 12"/>
          <p:cNvSpPr txBox="1"/>
          <p:nvPr/>
        </p:nvSpPr>
        <p:spPr>
          <a:xfrm>
            <a:off x="3218688" y="1325880"/>
            <a:ext cx="132588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DÉBUT OCT.</a:t>
            </a:r>
            <a:endParaRPr lang="en-US" sz="900" dirty="0"/>
          </a:p>
        </p:txBody>
      </p:sp>
      <p:sp>
        <p:nvSpPr>
          <p:cNvPr id="15" name="Text 13"/>
          <p:cNvSpPr txBox="1"/>
          <p:nvPr/>
        </p:nvSpPr>
        <p:spPr>
          <a:xfrm>
            <a:off x="3218688" y="2148840"/>
            <a:ext cx="1325880" cy="274320"/>
          </a:xfrm>
          <a:prstGeom prst="rect">
            <a:avLst/>
          </a:prstGeom>
          <a:noFill/>
          <a:ln/>
        </p:spPr>
        <p:txBody>
          <a:bodyPr wrap="square" lIns="0" tIns="0" rIns="0" bIns="0" rtlCol="0" anchor="t"/>
          <a:lstStyle/>
          <a:p>
            <a:pPr algn="ctr" indent="0" marL="0">
              <a:buNone/>
            </a:pPr>
            <a:r>
              <a:rPr lang="en-US" sz="1300" b="1" dirty="0">
                <a:solidFill>
                  <a:schemeClr val="tx1"/>
                </a:solidFill>
              </a:rPr>
              <a:t>Stratégie</a:t>
            </a:r>
            <a:endParaRPr lang="en-US" sz="1300" dirty="0"/>
          </a:p>
        </p:txBody>
      </p:sp>
      <p:sp>
        <p:nvSpPr>
          <p:cNvPr id="16" name="Text 14"/>
          <p:cNvSpPr txBox="1"/>
          <p:nvPr/>
        </p:nvSpPr>
        <p:spPr>
          <a:xfrm>
            <a:off x="3218688" y="2450592"/>
            <a:ext cx="1325880" cy="685800"/>
          </a:xfrm>
          <a:prstGeom prst="rect">
            <a:avLst/>
          </a:prstGeom>
          <a:noFill/>
          <a:ln/>
        </p:spPr>
        <p:txBody>
          <a:bodyPr wrap="square" lIns="0" tIns="0" rIns="0" bIns="0" rtlCol="0" anchor="t"/>
          <a:lstStyle/>
          <a:p>
            <a:pPr algn="ctr" indent="0" marL="0">
              <a:buNone/>
            </a:pPr>
            <a:r>
              <a:rPr lang="en-US" sz="1000" dirty="0">
                <a:solidFill>
                  <a:schemeClr val="tx2"/>
                </a:solidFill>
              </a:rPr>
              <a:t>segmentation, choix de luna, persona, positionnement</a:t>
            </a:r>
            <a:endParaRPr lang="en-US" sz="1000" dirty="0"/>
          </a:p>
        </p:txBody>
      </p:sp>
      <p:sp>
        <p:nvSpPr>
          <p:cNvPr id="17" name="jalon-3"/>
          <p:cNvSpPr/>
          <p:nvPr/>
        </p:nvSpPr>
        <p:spPr>
          <a:xfrm>
            <a:off x="5143500" y="1755648"/>
            <a:ext cx="237744" cy="237744"/>
          </a:xfrm>
          <a:prstGeom prst="ellipse">
            <a:avLst/>
          </a:prstGeom>
          <a:solidFill>
            <a:schemeClr val="accent2"/>
          </a:solidFill>
          <a:ln/>
        </p:spPr>
      </p:sp>
      <p:sp>
        <p:nvSpPr>
          <p:cNvPr id="18" name="Text 16"/>
          <p:cNvSpPr txBox="1"/>
          <p:nvPr/>
        </p:nvSpPr>
        <p:spPr>
          <a:xfrm>
            <a:off x="4599432" y="1325880"/>
            <a:ext cx="132588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OCT.</a:t>
            </a:r>
            <a:endParaRPr lang="en-US" sz="900" dirty="0"/>
          </a:p>
        </p:txBody>
      </p:sp>
      <p:sp>
        <p:nvSpPr>
          <p:cNvPr id="19" name="Text 17"/>
          <p:cNvSpPr txBox="1"/>
          <p:nvPr/>
        </p:nvSpPr>
        <p:spPr>
          <a:xfrm>
            <a:off x="4599432" y="2148840"/>
            <a:ext cx="1325880" cy="274320"/>
          </a:xfrm>
          <a:prstGeom prst="rect">
            <a:avLst/>
          </a:prstGeom>
          <a:noFill/>
          <a:ln/>
        </p:spPr>
        <p:txBody>
          <a:bodyPr wrap="square" lIns="0" tIns="0" rIns="0" bIns="0" rtlCol="0" anchor="t"/>
          <a:lstStyle/>
          <a:p>
            <a:pPr algn="ctr" indent="0" marL="0">
              <a:buNone/>
            </a:pPr>
            <a:r>
              <a:rPr lang="en-US" sz="1300" b="1" dirty="0">
                <a:solidFill>
                  <a:schemeClr val="tx1"/>
                </a:solidFill>
              </a:rPr>
              <a:t>Marque</a:t>
            </a:r>
            <a:endParaRPr lang="en-US" sz="1300" dirty="0"/>
          </a:p>
        </p:txBody>
      </p:sp>
      <p:sp>
        <p:nvSpPr>
          <p:cNvPr id="20" name="Text 18"/>
          <p:cNvSpPr txBox="1"/>
          <p:nvPr/>
        </p:nvSpPr>
        <p:spPr>
          <a:xfrm>
            <a:off x="4599432" y="2450592"/>
            <a:ext cx="1325880" cy="685800"/>
          </a:xfrm>
          <a:prstGeom prst="rect">
            <a:avLst/>
          </a:prstGeom>
          <a:noFill/>
          <a:ln/>
        </p:spPr>
        <p:txBody>
          <a:bodyPr wrap="square" lIns="0" tIns="0" rIns="0" bIns="0" rtlCol="0" anchor="t"/>
          <a:lstStyle/>
          <a:p>
            <a:pPr algn="ctr" indent="0" marL="0">
              <a:buNone/>
            </a:pPr>
            <a:r>
              <a:rPr lang="en-US" sz="1000" dirty="0">
                <a:solidFill>
                  <a:schemeClr val="tx2"/>
                </a:solidFill>
              </a:rPr>
              <a:t>nom sip lab, logo, 16 pailles, site vitrine</a:t>
            </a:r>
            <a:endParaRPr lang="en-US" sz="1000" dirty="0"/>
          </a:p>
        </p:txBody>
      </p:sp>
      <p:sp>
        <p:nvSpPr>
          <p:cNvPr id="21" name="jalon-4"/>
          <p:cNvSpPr/>
          <p:nvPr/>
        </p:nvSpPr>
        <p:spPr>
          <a:xfrm>
            <a:off x="6524244" y="1755648"/>
            <a:ext cx="237744" cy="237744"/>
          </a:xfrm>
          <a:prstGeom prst="ellipse">
            <a:avLst/>
          </a:prstGeom>
          <a:solidFill>
            <a:schemeClr val="accent2"/>
          </a:solidFill>
          <a:ln/>
        </p:spPr>
      </p:sp>
      <p:sp>
        <p:nvSpPr>
          <p:cNvPr id="22" name="Text 20"/>
          <p:cNvSpPr txBox="1"/>
          <p:nvPr/>
        </p:nvSpPr>
        <p:spPr>
          <a:xfrm>
            <a:off x="5980176" y="1325880"/>
            <a:ext cx="132588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OCT.</a:t>
            </a:r>
            <a:endParaRPr lang="en-US" sz="900" dirty="0"/>
          </a:p>
        </p:txBody>
      </p:sp>
      <p:sp>
        <p:nvSpPr>
          <p:cNvPr id="23" name="Text 21"/>
          <p:cNvSpPr txBox="1"/>
          <p:nvPr/>
        </p:nvSpPr>
        <p:spPr>
          <a:xfrm>
            <a:off x="5980176" y="2148840"/>
            <a:ext cx="1325880" cy="274320"/>
          </a:xfrm>
          <a:prstGeom prst="rect">
            <a:avLst/>
          </a:prstGeom>
          <a:noFill/>
          <a:ln/>
        </p:spPr>
        <p:txBody>
          <a:bodyPr wrap="square" lIns="0" tIns="0" rIns="0" bIns="0" rtlCol="0" anchor="t"/>
          <a:lstStyle/>
          <a:p>
            <a:pPr algn="ctr" indent="0" marL="0">
              <a:buNone/>
            </a:pPr>
            <a:r>
              <a:rPr lang="en-US" sz="1300" b="1" dirty="0">
                <a:solidFill>
                  <a:schemeClr val="tx1"/>
                </a:solidFill>
              </a:rPr>
              <a:t>Pitch</a:t>
            </a:r>
            <a:endParaRPr lang="en-US" sz="1300" dirty="0"/>
          </a:p>
        </p:txBody>
      </p:sp>
      <p:sp>
        <p:nvSpPr>
          <p:cNvPr id="24" name="Text 22"/>
          <p:cNvSpPr txBox="1"/>
          <p:nvPr/>
        </p:nvSpPr>
        <p:spPr>
          <a:xfrm>
            <a:off x="5980176" y="2450592"/>
            <a:ext cx="1325880" cy="685800"/>
          </a:xfrm>
          <a:prstGeom prst="rect">
            <a:avLst/>
          </a:prstGeom>
          <a:noFill/>
          <a:ln/>
        </p:spPr>
        <p:txBody>
          <a:bodyPr wrap="square" lIns="0" tIns="0" rIns="0" bIns="0" rtlCol="0" anchor="t"/>
          <a:lstStyle/>
          <a:p>
            <a:pPr algn="ctr" indent="0" marL="0">
              <a:buNone/>
            </a:pPr>
            <a:r>
              <a:rPr lang="en-US" sz="1000" dirty="0">
                <a:solidFill>
                  <a:schemeClr val="tx2"/>
                </a:solidFill>
              </a:rPr>
              <a:t>pitch investisseurs en 7 minutes (EN)</a:t>
            </a:r>
            <a:endParaRPr lang="en-US" sz="1000" dirty="0"/>
          </a:p>
        </p:txBody>
      </p:sp>
      <p:sp>
        <p:nvSpPr>
          <p:cNvPr id="25" name="jalon-5"/>
          <p:cNvSpPr/>
          <p:nvPr/>
        </p:nvSpPr>
        <p:spPr>
          <a:xfrm>
            <a:off x="7904988" y="1755648"/>
            <a:ext cx="237744" cy="237744"/>
          </a:xfrm>
          <a:prstGeom prst="ellipse">
            <a:avLst/>
          </a:prstGeom>
          <a:solidFill>
            <a:srgbClr val="FFFFFF"/>
          </a:solidFill>
          <a:ln w="31750">
            <a:solidFill>
              <a:schemeClr val="accent1"/>
            </a:solidFill>
            <a:prstDash val="solid"/>
          </a:ln>
        </p:spPr>
      </p:sp>
      <p:sp>
        <p:nvSpPr>
          <p:cNvPr id="26" name="Text 24"/>
          <p:cNvSpPr txBox="1"/>
          <p:nvPr/>
        </p:nvSpPr>
        <p:spPr>
          <a:xfrm>
            <a:off x="7360920" y="1325880"/>
            <a:ext cx="1325880" cy="228600"/>
          </a:xfrm>
          <a:prstGeom prst="rect">
            <a:avLst/>
          </a:prstGeom>
          <a:noFill/>
          <a:ln/>
        </p:spPr>
        <p:txBody>
          <a:bodyPr wrap="square" lIns="0" tIns="0" rIns="0" bIns="0" rtlCol="0" anchor="t"/>
          <a:lstStyle/>
          <a:p>
            <a:pPr algn="ctr" indent="0" marL="0">
              <a:buNone/>
            </a:pPr>
            <a:r>
              <a:rPr lang="en-US" sz="900" b="1" spc="100" kern="0" dirty="0">
                <a:solidFill>
                  <a:schemeClr val="accent1"/>
                </a:solidFill>
              </a:rPr>
              <a:t>EN COURS</a:t>
            </a:r>
            <a:endParaRPr lang="en-US" sz="900" dirty="0"/>
          </a:p>
        </p:txBody>
      </p:sp>
      <p:sp>
        <p:nvSpPr>
          <p:cNvPr id="27" name="Text 25"/>
          <p:cNvSpPr txBox="1"/>
          <p:nvPr/>
        </p:nvSpPr>
        <p:spPr>
          <a:xfrm>
            <a:off x="7360920" y="2148840"/>
            <a:ext cx="1325880" cy="274320"/>
          </a:xfrm>
          <a:prstGeom prst="rect">
            <a:avLst/>
          </a:prstGeom>
          <a:noFill/>
          <a:ln/>
        </p:spPr>
        <p:txBody>
          <a:bodyPr wrap="square" lIns="0" tIns="0" rIns="0" bIns="0" rtlCol="0" anchor="t"/>
          <a:lstStyle/>
          <a:p>
            <a:pPr algn="ctr" indent="0" marL="0">
              <a:buNone/>
            </a:pPr>
            <a:r>
              <a:rPr lang="en-US" sz="1300" b="1" dirty="0">
                <a:solidFill>
                  <a:schemeClr val="accent1"/>
                </a:solidFill>
              </a:rPr>
              <a:t>Fabricant</a:t>
            </a:r>
            <a:endParaRPr lang="en-US" sz="1300" dirty="0"/>
          </a:p>
        </p:txBody>
      </p:sp>
      <p:sp>
        <p:nvSpPr>
          <p:cNvPr id="28" name="Text 26"/>
          <p:cNvSpPr txBox="1"/>
          <p:nvPr/>
        </p:nvSpPr>
        <p:spPr>
          <a:xfrm>
            <a:off x="7360920" y="2450592"/>
            <a:ext cx="1325880" cy="685800"/>
          </a:xfrm>
          <a:prstGeom prst="rect">
            <a:avLst/>
          </a:prstGeom>
          <a:noFill/>
          <a:ln/>
        </p:spPr>
        <p:txBody>
          <a:bodyPr wrap="square" lIns="0" tIns="0" rIns="0" bIns="0" rtlCol="0" anchor="t"/>
          <a:lstStyle/>
          <a:p>
            <a:pPr algn="ctr" indent="0" marL="0">
              <a:buNone/>
            </a:pPr>
            <a:r>
              <a:rPr lang="en-US" sz="1000" dirty="0">
                <a:solidFill>
                  <a:schemeClr val="tx2"/>
                </a:solidFill>
              </a:rPr>
              <a:t>Unistraw contacté, en attente de réponse</a:t>
            </a:r>
            <a:endParaRPr lang="en-US" sz="1000" dirty="0"/>
          </a:p>
        </p:txBody>
      </p:sp>
      <p:sp>
        <p:nvSpPr>
          <p:cNvPr id="29" name="bilan"/>
          <p:cNvSpPr/>
          <p:nvPr/>
        </p:nvSpPr>
        <p:spPr>
          <a:xfrm>
            <a:off x="457200" y="3429000"/>
            <a:ext cx="8229600" cy="960120"/>
          </a:xfrm>
          <a:prstGeom prst="roundRect">
            <a:avLst>
              <a:gd name="adj" fmla="val 7619"/>
            </a:avLst>
          </a:prstGeom>
          <a:solidFill>
            <a:srgbClr val="FFFFFF"/>
          </a:solidFill>
          <a:ln/>
        </p:spPr>
      </p:sp>
      <p:sp>
        <p:nvSpPr>
          <p:cNvPr id="30" name="Text 28"/>
          <p:cNvSpPr txBox="1"/>
          <p:nvPr/>
        </p:nvSpPr>
        <p:spPr>
          <a:xfrm>
            <a:off x="731520" y="3584448"/>
            <a:ext cx="7680960" cy="685800"/>
          </a:xfrm>
          <a:prstGeom prst="rect">
            <a:avLst/>
          </a:prstGeom>
          <a:noFill/>
          <a:ln/>
        </p:spPr>
        <p:txBody>
          <a:bodyPr wrap="square" lIns="0" tIns="0" rIns="0" bIns="0" rtlCol="0" anchor="ctr"/>
          <a:lstStyle/>
          <a:p>
            <a:pPr indent="0" marL="0">
              <a:buNone/>
            </a:pPr>
            <a:r>
              <a:rPr lang="en-US" sz="1250" b="1" dirty="0">
                <a:solidFill>
                  <a:schemeClr val="tx1"/>
                </a:solidFill>
              </a:rPr>
              <a:t>Bilan : </a:t>
            </a:r>
            <a:pPr indent="0" marL="0">
              <a:buNone/>
            </a:pPr>
            <a:r>
              <a:rPr lang="en-US" sz="1250" dirty="0">
                <a:solidFill>
                  <a:schemeClr val="tx1"/>
                </a:solidFill>
              </a:rPr>
              <a:t>en trois semaines, le projet est passé de l'idée à une stratégie argumentée, une identité de marque complète et un premier contact industriel. Il reste à valider le produit (faisabilité, coût) et la demande réelle.</a:t>
            </a:r>
            <a:endParaRPr lang="en-US" sz="12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 CHOIX DE LANCEMENT</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commencer par </a:t>
            </a:r>
            <a:pPr algn="l" indent="0" marL="0">
              <a:buNone/>
            </a:pPr>
            <a:r>
              <a:rPr lang="en-US" sz="2800" i="1" dirty="0">
                <a:solidFill>
                  <a:schemeClr val="tx1"/>
                </a:solidFill>
                <a:latin typeface="Cambria" pitchFamily="34" charset="0"/>
                <a:ea typeface="Cambria" pitchFamily="34" charset="-122"/>
                <a:cs typeface="Cambria" pitchFamily="34" charset="-120"/>
              </a:rPr>
              <a:t>la gamme luna</a:t>
            </a:r>
            <a:endParaRPr lang="en-US" sz="2800" dirty="0"/>
          </a:p>
        </p:txBody>
      </p:sp>
      <p:pic>
        <p:nvPicPr>
          <p:cNvPr id="4" name="photo-luna" descr="photo-luna">    </p:cNvPr>
          <p:cNvPicPr>
            <a:picLocks noChangeAspect="1"/>
          </p:cNvPicPr>
          <p:nvPr/>
        </p:nvPicPr>
        <p:blipFill>
          <a:blip r:embed="rId1"/>
          <a:stretch>
            <a:fillRect/>
          </a:stretch>
        </p:blipFill>
        <p:spPr>
          <a:xfrm>
            <a:off x="457200" y="1280160"/>
            <a:ext cx="2651760" cy="3154680"/>
          </a:xfrm>
          <a:prstGeom prst="rect">
            <a:avLst/>
          </a:prstGeom>
        </p:spPr>
      </p:pic>
      <p:sp>
        <p:nvSpPr>
          <p:cNvPr id="5" name="Shape 2"/>
          <p:cNvSpPr/>
          <p:nvPr/>
        </p:nvSpPr>
        <p:spPr>
          <a:xfrm>
            <a:off x="3429000" y="1344168"/>
            <a:ext cx="146304" cy="146304"/>
          </a:xfrm>
          <a:prstGeom prst="ellipse">
            <a:avLst/>
          </a:prstGeom>
          <a:solidFill>
            <a:schemeClr val="accent1"/>
          </a:solidFill>
          <a:ln/>
        </p:spPr>
      </p:sp>
      <p:sp>
        <p:nvSpPr>
          <p:cNvPr id="6" name="Text 3"/>
          <p:cNvSpPr txBox="1"/>
          <p:nvPr/>
        </p:nvSpPr>
        <p:spPr>
          <a:xfrm>
            <a:off x="3703320" y="1280160"/>
            <a:ext cx="4937760" cy="256032"/>
          </a:xfrm>
          <a:prstGeom prst="rect">
            <a:avLst/>
          </a:prstGeom>
          <a:noFill/>
          <a:ln/>
        </p:spPr>
        <p:txBody>
          <a:bodyPr wrap="square" lIns="0" tIns="0" rIns="0" bIns="0" rtlCol="0" anchor="t"/>
          <a:lstStyle/>
          <a:p>
            <a:pPr indent="0" marL="0">
              <a:buNone/>
            </a:pPr>
            <a:r>
              <a:rPr lang="en-US" sz="1350" b="1" dirty="0">
                <a:solidFill>
                  <a:schemeClr val="tx1"/>
                </a:solidFill>
              </a:rPr>
              <a:t>un besoin chaque mois</a:t>
            </a:r>
            <a:endParaRPr lang="en-US" sz="1350" dirty="0"/>
          </a:p>
        </p:txBody>
      </p:sp>
      <p:sp>
        <p:nvSpPr>
          <p:cNvPr id="7" name="Text 4"/>
          <p:cNvSpPr txBox="1"/>
          <p:nvPr/>
        </p:nvSpPr>
        <p:spPr>
          <a:xfrm>
            <a:off x="3703320" y="1545336"/>
            <a:ext cx="4937760" cy="329184"/>
          </a:xfrm>
          <a:prstGeom prst="rect">
            <a:avLst/>
          </a:prstGeom>
          <a:noFill/>
          <a:ln/>
        </p:spPr>
        <p:txBody>
          <a:bodyPr wrap="square" lIns="0" tIns="0" rIns="0" bIns="0" rtlCol="0" anchor="t"/>
          <a:lstStyle/>
          <a:p>
            <a:pPr indent="0" marL="0">
              <a:buNone/>
            </a:pPr>
            <a:r>
              <a:rPr lang="en-US" sz="1100" dirty="0">
                <a:solidFill>
                  <a:schemeClr val="tx2"/>
                </a:solidFill>
              </a:rPr>
              <a:t>cycle, syndrome prémenstruel, fatigue : un usage récurrent, idéal pour l'abonnement</a:t>
            </a:r>
            <a:endParaRPr lang="en-US" sz="1100" dirty="0"/>
          </a:p>
        </p:txBody>
      </p:sp>
      <p:sp>
        <p:nvSpPr>
          <p:cNvPr id="8" name="Shape 5"/>
          <p:cNvSpPr/>
          <p:nvPr/>
        </p:nvSpPr>
        <p:spPr>
          <a:xfrm>
            <a:off x="3429000" y="1984248"/>
            <a:ext cx="146304" cy="146304"/>
          </a:xfrm>
          <a:prstGeom prst="ellipse">
            <a:avLst/>
          </a:prstGeom>
          <a:solidFill>
            <a:schemeClr val="accent1"/>
          </a:solidFill>
          <a:ln/>
        </p:spPr>
      </p:sp>
      <p:sp>
        <p:nvSpPr>
          <p:cNvPr id="9" name="Text 6"/>
          <p:cNvSpPr txBox="1"/>
          <p:nvPr/>
        </p:nvSpPr>
        <p:spPr>
          <a:xfrm>
            <a:off x="3703320" y="1920240"/>
            <a:ext cx="4937760" cy="256032"/>
          </a:xfrm>
          <a:prstGeom prst="rect">
            <a:avLst/>
          </a:prstGeom>
          <a:noFill/>
          <a:ln/>
        </p:spPr>
        <p:txBody>
          <a:bodyPr wrap="square" lIns="0" tIns="0" rIns="0" bIns="0" rtlCol="0" anchor="t"/>
          <a:lstStyle/>
          <a:p>
            <a:pPr indent="0" marL="0">
              <a:buNone/>
            </a:pPr>
            <a:r>
              <a:rPr lang="en-US" sz="1350" b="1" dirty="0">
                <a:solidFill>
                  <a:schemeClr val="tx1"/>
                </a:solidFill>
              </a:rPr>
              <a:t>un marché qui grandit</a:t>
            </a:r>
            <a:endParaRPr lang="en-US" sz="1350" dirty="0"/>
          </a:p>
        </p:txBody>
      </p:sp>
      <p:sp>
        <p:nvSpPr>
          <p:cNvPr id="10" name="Text 7"/>
          <p:cNvSpPr txBox="1"/>
          <p:nvPr/>
        </p:nvSpPr>
        <p:spPr>
          <a:xfrm>
            <a:off x="3703320" y="2185416"/>
            <a:ext cx="4937760" cy="329184"/>
          </a:xfrm>
          <a:prstGeom prst="rect">
            <a:avLst/>
          </a:prstGeom>
          <a:noFill/>
          <a:ln/>
        </p:spPr>
        <p:txBody>
          <a:bodyPr wrap="square" lIns="0" tIns="0" rIns="0" bIns="0" rtlCol="0" anchor="t"/>
          <a:lstStyle/>
          <a:p>
            <a:pPr indent="0" marL="0">
              <a:buNone/>
            </a:pPr>
            <a:r>
              <a:rPr lang="en-US" sz="1100" dirty="0">
                <a:solidFill>
                  <a:schemeClr val="tx2"/>
                </a:solidFill>
              </a:rPr>
              <a:t>santé féminine en croissance, peu de solutions simples et dédiées au cycle</a:t>
            </a:r>
            <a:endParaRPr lang="en-US" sz="1100" dirty="0"/>
          </a:p>
        </p:txBody>
      </p:sp>
      <p:sp>
        <p:nvSpPr>
          <p:cNvPr id="11" name="Shape 8"/>
          <p:cNvSpPr/>
          <p:nvPr/>
        </p:nvSpPr>
        <p:spPr>
          <a:xfrm>
            <a:off x="3429000" y="2624328"/>
            <a:ext cx="146304" cy="146304"/>
          </a:xfrm>
          <a:prstGeom prst="ellipse">
            <a:avLst/>
          </a:prstGeom>
          <a:solidFill>
            <a:schemeClr val="accent1"/>
          </a:solidFill>
          <a:ln/>
        </p:spPr>
      </p:sp>
      <p:sp>
        <p:nvSpPr>
          <p:cNvPr id="12" name="Text 9"/>
          <p:cNvSpPr txBox="1"/>
          <p:nvPr/>
        </p:nvSpPr>
        <p:spPr>
          <a:xfrm>
            <a:off x="3703320" y="2560320"/>
            <a:ext cx="4937760" cy="256032"/>
          </a:xfrm>
          <a:prstGeom prst="rect">
            <a:avLst/>
          </a:prstGeom>
          <a:noFill/>
          <a:ln/>
        </p:spPr>
        <p:txBody>
          <a:bodyPr wrap="square" lIns="0" tIns="0" rIns="0" bIns="0" rtlCol="0" anchor="t"/>
          <a:lstStyle/>
          <a:p>
            <a:pPr indent="0" marL="0">
              <a:buNone/>
            </a:pPr>
            <a:r>
              <a:rPr lang="en-US" sz="1350" b="1" dirty="0">
                <a:solidFill>
                  <a:schemeClr val="tx1"/>
                </a:solidFill>
              </a:rPr>
              <a:t>une cible facile à atteindre</a:t>
            </a:r>
            <a:endParaRPr lang="en-US" sz="1350" dirty="0"/>
          </a:p>
        </p:txBody>
      </p:sp>
      <p:sp>
        <p:nvSpPr>
          <p:cNvPr id="13" name="Text 10"/>
          <p:cNvSpPr txBox="1"/>
          <p:nvPr/>
        </p:nvSpPr>
        <p:spPr>
          <a:xfrm>
            <a:off x="3703320" y="2825496"/>
            <a:ext cx="4937760" cy="329184"/>
          </a:xfrm>
          <a:prstGeom prst="rect">
            <a:avLst/>
          </a:prstGeom>
          <a:noFill/>
          <a:ln/>
        </p:spPr>
        <p:txBody>
          <a:bodyPr wrap="square" lIns="0" tIns="0" rIns="0" bIns="0" rtlCol="0" anchor="t"/>
          <a:lstStyle/>
          <a:p>
            <a:pPr indent="0" marL="0">
              <a:buNone/>
            </a:pPr>
            <a:r>
              <a:rPr lang="en-US" sz="1100" dirty="0">
                <a:solidFill>
                  <a:schemeClr val="tx2"/>
                </a:solidFill>
              </a:rPr>
              <a:t>femmes de 20 à 35 ans, en ligne, via des créatrices de contenu santé</a:t>
            </a:r>
            <a:endParaRPr lang="en-US" sz="1100" dirty="0"/>
          </a:p>
        </p:txBody>
      </p:sp>
      <p:sp>
        <p:nvSpPr>
          <p:cNvPr id="14" name="Shape 11"/>
          <p:cNvSpPr/>
          <p:nvPr/>
        </p:nvSpPr>
        <p:spPr>
          <a:xfrm>
            <a:off x="3429000" y="3264408"/>
            <a:ext cx="146304" cy="146304"/>
          </a:xfrm>
          <a:prstGeom prst="ellipse">
            <a:avLst/>
          </a:prstGeom>
          <a:solidFill>
            <a:schemeClr val="accent1"/>
          </a:solidFill>
          <a:ln/>
        </p:spPr>
      </p:sp>
      <p:sp>
        <p:nvSpPr>
          <p:cNvPr id="15" name="Text 12"/>
          <p:cNvSpPr txBox="1"/>
          <p:nvPr/>
        </p:nvSpPr>
        <p:spPr>
          <a:xfrm>
            <a:off x="3703320" y="3200400"/>
            <a:ext cx="4937760" cy="256032"/>
          </a:xfrm>
          <a:prstGeom prst="rect">
            <a:avLst/>
          </a:prstGeom>
          <a:noFill/>
          <a:ln/>
        </p:spPr>
        <p:txBody>
          <a:bodyPr wrap="square" lIns="0" tIns="0" rIns="0" bIns="0" rtlCol="0" anchor="t"/>
          <a:lstStyle/>
          <a:p>
            <a:pPr indent="0" marL="0">
              <a:buNone/>
            </a:pPr>
            <a:r>
              <a:rPr lang="en-US" sz="1350" b="1" dirty="0">
                <a:solidFill>
                  <a:schemeClr val="tx1"/>
                </a:solidFill>
              </a:rPr>
              <a:t>cohérent avec mon profil</a:t>
            </a:r>
            <a:endParaRPr lang="en-US" sz="1350" dirty="0"/>
          </a:p>
        </p:txBody>
      </p:sp>
      <p:sp>
        <p:nvSpPr>
          <p:cNvPr id="16" name="Text 13"/>
          <p:cNvSpPr txBox="1"/>
          <p:nvPr/>
        </p:nvSpPr>
        <p:spPr>
          <a:xfrm>
            <a:off x="3703320" y="3465576"/>
            <a:ext cx="4937760" cy="329184"/>
          </a:xfrm>
          <a:prstGeom prst="rect">
            <a:avLst/>
          </a:prstGeom>
          <a:noFill/>
          <a:ln/>
        </p:spPr>
        <p:txBody>
          <a:bodyPr wrap="square" lIns="0" tIns="0" rIns="0" bIns="0" rtlCol="0" anchor="t"/>
          <a:lstStyle/>
          <a:p>
            <a:pPr indent="0" marL="0">
              <a:buNone/>
            </a:pPr>
            <a:r>
              <a:rPr lang="en-US" sz="1100" dirty="0">
                <a:solidFill>
                  <a:schemeClr val="tx2"/>
                </a:solidFill>
              </a:rPr>
              <a:t>formation en biologie-santé, expérience des actifs en cosmétique</a:t>
            </a:r>
            <a:endParaRPr lang="en-US" sz="1100" dirty="0"/>
          </a:p>
        </p:txBody>
      </p:sp>
      <p:sp>
        <p:nvSpPr>
          <p:cNvPr id="17" name="offre-luna"/>
          <p:cNvSpPr/>
          <p:nvPr/>
        </p:nvSpPr>
        <p:spPr>
          <a:xfrm>
            <a:off x="3429000" y="3886200"/>
            <a:ext cx="5257800" cy="548640"/>
          </a:xfrm>
          <a:prstGeom prst="roundRect">
            <a:avLst>
              <a:gd name="adj" fmla="val 13333"/>
            </a:avLst>
          </a:prstGeom>
          <a:solidFill>
            <a:srgbClr val="F3E3E6"/>
          </a:solidFill>
          <a:ln/>
        </p:spPr>
      </p:sp>
      <p:sp>
        <p:nvSpPr>
          <p:cNvPr id="18" name="Text 15"/>
          <p:cNvSpPr txBox="1"/>
          <p:nvPr/>
        </p:nvSpPr>
        <p:spPr>
          <a:xfrm>
            <a:off x="3611880" y="3886200"/>
            <a:ext cx="4937760" cy="548640"/>
          </a:xfrm>
          <a:prstGeom prst="rect">
            <a:avLst/>
          </a:prstGeom>
          <a:noFill/>
          <a:ln/>
        </p:spPr>
        <p:txBody>
          <a:bodyPr wrap="square" lIns="0" tIns="0" rIns="0" bIns="0" rtlCol="0" anchor="ctr"/>
          <a:lstStyle/>
          <a:p>
            <a:pPr indent="0" marL="0">
              <a:buNone/>
            </a:pPr>
            <a:r>
              <a:rPr lang="en-US" sz="1200" b="1" dirty="0">
                <a:solidFill>
                  <a:schemeClr val="accent1"/>
                </a:solidFill>
              </a:rPr>
              <a:t>Offre de départ : </a:t>
            </a:r>
            <a:pPr indent="0" marL="0">
              <a:buNone/>
            </a:pPr>
            <a:r>
              <a:rPr lang="en-US" sz="1200" dirty="0">
                <a:solidFill>
                  <a:schemeClr val="tx1"/>
                </a:solidFill>
              </a:rPr>
              <a:t>box cycle flow + balance, environ 26 € par cycle, en précommande.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 PARTENAIRE INDUSTRIEL</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Unistraw : </a:t>
            </a:r>
            <a:pPr algn="l" indent="0" marL="0">
              <a:buNone/>
            </a:pPr>
            <a:r>
              <a:rPr lang="en-US" sz="2800" i="1" dirty="0">
                <a:solidFill>
                  <a:schemeClr val="tx1"/>
                </a:solidFill>
                <a:latin typeface="Cambria" pitchFamily="34" charset="0"/>
                <a:ea typeface="Cambria" pitchFamily="34" charset="-122"/>
                <a:cs typeface="Cambria" pitchFamily="34" charset="-120"/>
              </a:rPr>
              <a:t>en attente de réponse</a:t>
            </a:r>
            <a:endParaRPr lang="en-US" sz="2800" dirty="0"/>
          </a:p>
        </p:txBody>
      </p:sp>
      <p:sp>
        <p:nvSpPr>
          <p:cNvPr id="4" name="demande"/>
          <p:cNvSpPr/>
          <p:nvPr/>
        </p:nvSpPr>
        <p:spPr>
          <a:xfrm>
            <a:off x="457200" y="1280160"/>
            <a:ext cx="3977640" cy="3154680"/>
          </a:xfrm>
          <a:prstGeom prst="roundRect">
            <a:avLst>
              <a:gd name="adj" fmla="val 2319"/>
            </a:avLst>
          </a:prstGeom>
          <a:solidFill>
            <a:srgbClr val="FFFFFF"/>
          </a:solidFill>
          <a:ln/>
        </p:spPr>
      </p:sp>
      <p:sp>
        <p:nvSpPr>
          <p:cNvPr id="5" name="Text 3"/>
          <p:cNvSpPr txBox="1"/>
          <p:nvPr/>
        </p:nvSpPr>
        <p:spPr>
          <a:xfrm>
            <a:off x="731520" y="1463040"/>
            <a:ext cx="3474720" cy="320040"/>
          </a:xfrm>
          <a:prstGeom prst="rect">
            <a:avLst/>
          </a:prstGeom>
          <a:noFill/>
          <a:ln/>
        </p:spPr>
        <p:txBody>
          <a:bodyPr wrap="square" lIns="0" tIns="0" rIns="0" bIns="0" rtlCol="0" anchor="t"/>
          <a:lstStyle/>
          <a:p>
            <a:pPr indent="0" marL="0">
              <a:buNone/>
            </a:pPr>
            <a:r>
              <a:rPr lang="en-US" sz="1600" b="1" dirty="0">
                <a:solidFill>
                  <a:schemeClr val="tx1"/>
                </a:solidFill>
              </a:rPr>
              <a:t>ma demande</a:t>
            </a:r>
            <a:endParaRPr lang="en-US" sz="1600" dirty="0"/>
          </a:p>
        </p:txBody>
      </p:sp>
      <p:sp>
        <p:nvSpPr>
          <p:cNvPr id="6" name="Shape 4"/>
          <p:cNvSpPr/>
          <p:nvPr/>
        </p:nvSpPr>
        <p:spPr>
          <a:xfrm>
            <a:off x="731520" y="1975104"/>
            <a:ext cx="137160" cy="137160"/>
          </a:xfrm>
          <a:prstGeom prst="ellipse">
            <a:avLst/>
          </a:prstGeom>
          <a:solidFill>
            <a:schemeClr val="accent4"/>
          </a:solidFill>
          <a:ln/>
        </p:spPr>
      </p:sp>
      <p:sp>
        <p:nvSpPr>
          <p:cNvPr id="7" name="Text 5"/>
          <p:cNvSpPr txBox="1"/>
          <p:nvPr/>
        </p:nvSpPr>
        <p:spPr>
          <a:xfrm>
            <a:off x="1005840" y="1920240"/>
            <a:ext cx="3246120" cy="566928"/>
          </a:xfrm>
          <a:prstGeom prst="rect">
            <a:avLst/>
          </a:prstGeom>
          <a:noFill/>
          <a:ln/>
        </p:spPr>
        <p:txBody>
          <a:bodyPr wrap="square" lIns="0" tIns="0" rIns="0" bIns="0" rtlCol="0" anchor="t"/>
          <a:lstStyle/>
          <a:p>
            <a:pPr indent="0" marL="0">
              <a:buNone/>
            </a:pPr>
            <a:r>
              <a:rPr lang="en-US" sz="1200" dirty="0">
                <a:solidFill>
                  <a:schemeClr val="tx1"/>
                </a:solidFill>
              </a:rPr>
              <a:t>Faisabilité de pailles à micro-billes d'actifs (vitamines, minéraux, plantes)</a:t>
            </a:r>
            <a:endParaRPr lang="en-US" sz="1200" dirty="0"/>
          </a:p>
        </p:txBody>
      </p:sp>
      <p:sp>
        <p:nvSpPr>
          <p:cNvPr id="8" name="Shape 6"/>
          <p:cNvSpPr/>
          <p:nvPr/>
        </p:nvSpPr>
        <p:spPr>
          <a:xfrm>
            <a:off x="731520" y="2542032"/>
            <a:ext cx="137160" cy="137160"/>
          </a:xfrm>
          <a:prstGeom prst="ellipse">
            <a:avLst/>
          </a:prstGeom>
          <a:solidFill>
            <a:schemeClr val="accent4"/>
          </a:solidFill>
          <a:ln/>
        </p:spPr>
      </p:sp>
      <p:sp>
        <p:nvSpPr>
          <p:cNvPr id="9" name="Text 7"/>
          <p:cNvSpPr txBox="1"/>
          <p:nvPr/>
        </p:nvSpPr>
        <p:spPr>
          <a:xfrm>
            <a:off x="1005840" y="2487168"/>
            <a:ext cx="3246120" cy="566928"/>
          </a:xfrm>
          <a:prstGeom prst="rect">
            <a:avLst/>
          </a:prstGeom>
          <a:noFill/>
          <a:ln/>
        </p:spPr>
        <p:txBody>
          <a:bodyPr wrap="square" lIns="0" tIns="0" rIns="0" bIns="0" rtlCol="0" anchor="t"/>
          <a:lstStyle/>
          <a:p>
            <a:pPr indent="0" marL="0">
              <a:buNone/>
            </a:pPr>
            <a:r>
              <a:rPr lang="en-US" sz="1200" dirty="0">
                <a:solidFill>
                  <a:schemeClr val="tx1"/>
                </a:solidFill>
              </a:rPr>
              <a:t>Quantité minimum de commande et petite série de test</a:t>
            </a:r>
            <a:endParaRPr lang="en-US" sz="1200" dirty="0"/>
          </a:p>
        </p:txBody>
      </p:sp>
      <p:sp>
        <p:nvSpPr>
          <p:cNvPr id="10" name="Shape 8"/>
          <p:cNvSpPr/>
          <p:nvPr/>
        </p:nvSpPr>
        <p:spPr>
          <a:xfrm>
            <a:off x="731520" y="3108960"/>
            <a:ext cx="137160" cy="137160"/>
          </a:xfrm>
          <a:prstGeom prst="ellipse">
            <a:avLst/>
          </a:prstGeom>
          <a:solidFill>
            <a:schemeClr val="accent4"/>
          </a:solidFill>
          <a:ln/>
        </p:spPr>
      </p:sp>
      <p:sp>
        <p:nvSpPr>
          <p:cNvPr id="11" name="Text 9"/>
          <p:cNvSpPr txBox="1"/>
          <p:nvPr/>
        </p:nvSpPr>
        <p:spPr>
          <a:xfrm>
            <a:off x="1005840" y="3054096"/>
            <a:ext cx="3246120" cy="566928"/>
          </a:xfrm>
          <a:prstGeom prst="rect">
            <a:avLst/>
          </a:prstGeom>
          <a:noFill/>
          <a:ln/>
        </p:spPr>
        <p:txBody>
          <a:bodyPr wrap="square" lIns="0" tIns="0" rIns="0" bIns="0" rtlCol="0" anchor="t"/>
          <a:lstStyle/>
          <a:p>
            <a:pPr indent="0" marL="0">
              <a:buNone/>
            </a:pPr>
            <a:r>
              <a:rPr lang="en-US" sz="1200" dirty="0">
                <a:solidFill>
                  <a:schemeClr val="tx1"/>
                </a:solidFill>
              </a:rPr>
              <a:t>Devis à plusieurs volumes, coût par paille</a:t>
            </a:r>
            <a:endParaRPr lang="en-US" sz="1200" dirty="0"/>
          </a:p>
        </p:txBody>
      </p:sp>
      <p:sp>
        <p:nvSpPr>
          <p:cNvPr id="12" name="Shape 10"/>
          <p:cNvSpPr/>
          <p:nvPr/>
        </p:nvSpPr>
        <p:spPr>
          <a:xfrm>
            <a:off x="731520" y="3675888"/>
            <a:ext cx="137160" cy="137160"/>
          </a:xfrm>
          <a:prstGeom prst="ellipse">
            <a:avLst/>
          </a:prstGeom>
          <a:solidFill>
            <a:schemeClr val="accent4"/>
          </a:solidFill>
          <a:ln/>
        </p:spPr>
      </p:sp>
      <p:sp>
        <p:nvSpPr>
          <p:cNvPr id="13" name="Text 11"/>
          <p:cNvSpPr txBox="1"/>
          <p:nvPr/>
        </p:nvSpPr>
        <p:spPr>
          <a:xfrm>
            <a:off x="1005840" y="3621024"/>
            <a:ext cx="3246120" cy="566928"/>
          </a:xfrm>
          <a:prstGeom prst="rect">
            <a:avLst/>
          </a:prstGeom>
          <a:noFill/>
          <a:ln/>
        </p:spPr>
        <p:txBody>
          <a:bodyPr wrap="square" lIns="0" tIns="0" rIns="0" bIns="0" rtlCol="0" anchor="t"/>
          <a:lstStyle/>
          <a:p>
            <a:pPr indent="0" marL="0">
              <a:buNone/>
            </a:pPr>
            <a:r>
              <a:rPr lang="en-US" sz="1200" dirty="0">
                <a:solidFill>
                  <a:schemeClr val="tx1"/>
                </a:solidFill>
              </a:rPr>
              <a:t>Délais de production et échantillons</a:t>
            </a:r>
            <a:endParaRPr lang="en-US" sz="1200" dirty="0"/>
          </a:p>
        </p:txBody>
      </p:sp>
      <p:sp>
        <p:nvSpPr>
          <p:cNvPr id="14" name="statut"/>
          <p:cNvSpPr/>
          <p:nvPr/>
        </p:nvSpPr>
        <p:spPr>
          <a:xfrm>
            <a:off x="4709160" y="1280160"/>
            <a:ext cx="3977640" cy="1463040"/>
          </a:xfrm>
          <a:prstGeom prst="roundRect">
            <a:avLst>
              <a:gd name="adj" fmla="val 5000"/>
            </a:avLst>
          </a:prstGeom>
          <a:solidFill>
            <a:srgbClr val="FFFFFF"/>
          </a:solidFill>
          <a:ln/>
        </p:spPr>
      </p:sp>
      <p:sp>
        <p:nvSpPr>
          <p:cNvPr id="15" name="Text 13"/>
          <p:cNvSpPr txBox="1"/>
          <p:nvPr/>
        </p:nvSpPr>
        <p:spPr>
          <a:xfrm>
            <a:off x="4983480" y="1463040"/>
            <a:ext cx="3474720" cy="320040"/>
          </a:xfrm>
          <a:prstGeom prst="rect">
            <a:avLst/>
          </a:prstGeom>
          <a:noFill/>
          <a:ln/>
        </p:spPr>
        <p:txBody>
          <a:bodyPr wrap="square" lIns="0" tIns="0" rIns="0" bIns="0" rtlCol="0" anchor="t"/>
          <a:lstStyle/>
          <a:p>
            <a:pPr indent="0" marL="0">
              <a:buNone/>
            </a:pPr>
            <a:r>
              <a:rPr lang="en-US" sz="1600" b="1" dirty="0">
                <a:solidFill>
                  <a:schemeClr val="tx1"/>
                </a:solidFill>
              </a:rPr>
              <a:t>statut</a:t>
            </a:r>
            <a:endParaRPr lang="en-US" sz="1600" dirty="0"/>
          </a:p>
        </p:txBody>
      </p:sp>
      <p:sp>
        <p:nvSpPr>
          <p:cNvPr id="16" name="Shape 14"/>
          <p:cNvSpPr/>
          <p:nvPr/>
        </p:nvSpPr>
        <p:spPr>
          <a:xfrm>
            <a:off x="4983480" y="1920240"/>
            <a:ext cx="2011680" cy="329184"/>
          </a:xfrm>
          <a:prstGeom prst="roundRect">
            <a:avLst>
              <a:gd name="adj" fmla="val 50000"/>
            </a:avLst>
          </a:prstGeom>
          <a:solidFill>
            <a:srgbClr val="FCEFD0"/>
          </a:solidFill>
          <a:ln/>
        </p:spPr>
      </p:sp>
      <p:sp>
        <p:nvSpPr>
          <p:cNvPr id="17" name="Shape 15"/>
          <p:cNvSpPr/>
          <p:nvPr/>
        </p:nvSpPr>
        <p:spPr>
          <a:xfrm>
            <a:off x="5102352" y="2020824"/>
            <a:ext cx="128016" cy="128016"/>
          </a:xfrm>
          <a:prstGeom prst="ellipse">
            <a:avLst/>
          </a:prstGeom>
          <a:solidFill>
            <a:schemeClr val="accent3"/>
          </a:solidFill>
          <a:ln/>
        </p:spPr>
      </p:sp>
      <p:sp>
        <p:nvSpPr>
          <p:cNvPr id="18" name="Text 16"/>
          <p:cNvSpPr txBox="1"/>
          <p:nvPr/>
        </p:nvSpPr>
        <p:spPr>
          <a:xfrm>
            <a:off x="5303520" y="1920240"/>
            <a:ext cx="1691640" cy="329184"/>
          </a:xfrm>
          <a:prstGeom prst="rect">
            <a:avLst/>
          </a:prstGeom>
          <a:noFill/>
          <a:ln/>
        </p:spPr>
        <p:txBody>
          <a:bodyPr wrap="square" lIns="0" tIns="0" rIns="0" bIns="0" rtlCol="0" anchor="ctr"/>
          <a:lstStyle/>
          <a:p>
            <a:pPr indent="0" marL="0">
              <a:buNone/>
            </a:pPr>
            <a:r>
              <a:rPr lang="en-US" sz="1100" b="1" dirty="0">
                <a:solidFill>
                  <a:schemeClr val="tx1"/>
                </a:solidFill>
              </a:rPr>
              <a:t>contacté · en attente</a:t>
            </a:r>
            <a:endParaRPr lang="en-US" sz="1100" dirty="0"/>
          </a:p>
        </p:txBody>
      </p:sp>
      <p:sp>
        <p:nvSpPr>
          <p:cNvPr id="19" name="Text 17"/>
          <p:cNvSpPr txBox="1"/>
          <p:nvPr/>
        </p:nvSpPr>
        <p:spPr>
          <a:xfrm>
            <a:off x="4983480" y="2331720"/>
            <a:ext cx="3474720" cy="320040"/>
          </a:xfrm>
          <a:prstGeom prst="rect">
            <a:avLst/>
          </a:prstGeom>
          <a:noFill/>
          <a:ln/>
        </p:spPr>
        <p:txBody>
          <a:bodyPr wrap="square" lIns="0" tIns="0" rIns="0" bIns="0" rtlCol="0" anchor="t"/>
          <a:lstStyle/>
          <a:p>
            <a:pPr indent="0" marL="0">
              <a:buNone/>
            </a:pPr>
            <a:r>
              <a:rPr lang="en-US" sz="1150" dirty="0">
                <a:solidFill>
                  <a:schemeClr val="tx2"/>
                </a:solidFill>
              </a:rPr>
              <a:t>Relance prévue sous 10 jours sans réponse.</a:t>
            </a:r>
            <a:endParaRPr lang="en-US" sz="1150" dirty="0"/>
          </a:p>
        </p:txBody>
      </p:sp>
      <p:sp>
        <p:nvSpPr>
          <p:cNvPr id="20" name="planb"/>
          <p:cNvSpPr/>
          <p:nvPr/>
        </p:nvSpPr>
        <p:spPr>
          <a:xfrm>
            <a:off x="4709160" y="2926080"/>
            <a:ext cx="3977640" cy="1508760"/>
          </a:xfrm>
          <a:prstGeom prst="roundRect">
            <a:avLst>
              <a:gd name="adj" fmla="val 4848"/>
            </a:avLst>
          </a:prstGeom>
          <a:solidFill>
            <a:srgbClr val="FFFFFF"/>
          </a:solidFill>
          <a:ln/>
        </p:spPr>
      </p:sp>
      <p:sp>
        <p:nvSpPr>
          <p:cNvPr id="21" name="Text 19"/>
          <p:cNvSpPr txBox="1"/>
          <p:nvPr/>
        </p:nvSpPr>
        <p:spPr>
          <a:xfrm>
            <a:off x="4983480" y="3090672"/>
            <a:ext cx="3474720" cy="320040"/>
          </a:xfrm>
          <a:prstGeom prst="rect">
            <a:avLst/>
          </a:prstGeom>
          <a:noFill/>
          <a:ln/>
        </p:spPr>
        <p:txBody>
          <a:bodyPr wrap="square" lIns="0" tIns="0" rIns="0" bIns="0" rtlCol="0" anchor="t"/>
          <a:lstStyle/>
          <a:p>
            <a:pPr indent="0" marL="0">
              <a:buNone/>
            </a:pPr>
            <a:r>
              <a:rPr lang="en-US" sz="1600" b="1" dirty="0">
                <a:solidFill>
                  <a:schemeClr val="tx1"/>
                </a:solidFill>
              </a:rPr>
              <a:t>plan B</a:t>
            </a:r>
            <a:endParaRPr lang="en-US" sz="1600" dirty="0"/>
          </a:p>
        </p:txBody>
      </p:sp>
      <p:sp>
        <p:nvSpPr>
          <p:cNvPr id="22" name="Text 20"/>
          <p:cNvSpPr txBox="1"/>
          <p:nvPr/>
        </p:nvSpPr>
        <p:spPr>
          <a:xfrm>
            <a:off x="4983480" y="3456432"/>
            <a:ext cx="3520440" cy="914400"/>
          </a:xfrm>
          <a:prstGeom prst="rect">
            <a:avLst/>
          </a:prstGeom>
          <a:noFill/>
          <a:ln/>
        </p:spPr>
        <p:txBody>
          <a:bodyPr wrap="square" lIns="0" tIns="0" rIns="0" bIns="0" rtlCol="0" anchor="t"/>
          <a:lstStyle/>
          <a:p>
            <a:pPr indent="0" marL="0">
              <a:buNone/>
            </a:pPr>
            <a:r>
              <a:rPr lang="en-US" sz="1150" dirty="0">
                <a:solidFill>
                  <a:schemeClr val="tx2"/>
                </a:solidFill>
              </a:rPr>
              <a:t>Identifier 2 ou 3 autres fabricants de pailles ou de micro-billes (France, Europe) et lancer des demandes de devis en parallèle, pour ne pas dépendre d'une seule réponse.</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DIAGRAMME DE GANTT</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de l'idée </a:t>
            </a:r>
            <a:pPr algn="l" indent="0" marL="0">
              <a:buNone/>
            </a:pPr>
            <a:r>
              <a:rPr lang="en-US" sz="2800" i="1" dirty="0">
                <a:solidFill>
                  <a:schemeClr val="tx1"/>
                </a:solidFill>
                <a:latin typeface="Cambria" pitchFamily="34" charset="0"/>
                <a:ea typeface="Cambria" pitchFamily="34" charset="-122"/>
                <a:cs typeface="Cambria" pitchFamily="34" charset="-120"/>
              </a:rPr>
              <a:t>à la soutenance, puis au lancement</a:t>
            </a:r>
            <a:endParaRPr lang="en-US" sz="2800" dirty="0"/>
          </a:p>
        </p:txBody>
      </p:sp>
      <p:sp>
        <p:nvSpPr>
          <p:cNvPr id="4" name="Shape 2"/>
          <p:cNvSpPr/>
          <p:nvPr/>
        </p:nvSpPr>
        <p:spPr>
          <a:xfrm>
            <a:off x="3017520" y="1280160"/>
            <a:ext cx="704088" cy="3010205"/>
          </a:xfrm>
          <a:prstGeom prst="rect">
            <a:avLst/>
          </a:prstGeom>
          <a:solidFill>
            <a:srgbClr val="ECE8E3"/>
          </a:solidFill>
          <a:ln/>
        </p:spPr>
      </p:sp>
      <p:sp>
        <p:nvSpPr>
          <p:cNvPr id="5" name="Text 3"/>
          <p:cNvSpPr txBox="1"/>
          <p:nvPr/>
        </p:nvSpPr>
        <p:spPr>
          <a:xfrm>
            <a:off x="3017520"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sept.</a:t>
            </a:r>
            <a:endParaRPr lang="en-US" sz="950" dirty="0"/>
          </a:p>
        </p:txBody>
      </p:sp>
      <p:sp>
        <p:nvSpPr>
          <p:cNvPr id="6" name="Text 4"/>
          <p:cNvSpPr txBox="1"/>
          <p:nvPr/>
        </p:nvSpPr>
        <p:spPr>
          <a:xfrm>
            <a:off x="3721608"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oct.</a:t>
            </a:r>
            <a:endParaRPr lang="en-US" sz="950" dirty="0"/>
          </a:p>
        </p:txBody>
      </p:sp>
      <p:sp>
        <p:nvSpPr>
          <p:cNvPr id="7" name="Shape 5"/>
          <p:cNvSpPr/>
          <p:nvPr/>
        </p:nvSpPr>
        <p:spPr>
          <a:xfrm>
            <a:off x="4425696" y="1280160"/>
            <a:ext cx="704088" cy="3010205"/>
          </a:xfrm>
          <a:prstGeom prst="rect">
            <a:avLst/>
          </a:prstGeom>
          <a:solidFill>
            <a:srgbClr val="ECE8E3"/>
          </a:solidFill>
          <a:ln/>
        </p:spPr>
      </p:sp>
      <p:sp>
        <p:nvSpPr>
          <p:cNvPr id="8" name="Text 6"/>
          <p:cNvSpPr txBox="1"/>
          <p:nvPr/>
        </p:nvSpPr>
        <p:spPr>
          <a:xfrm>
            <a:off x="4425696"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nov.</a:t>
            </a:r>
            <a:endParaRPr lang="en-US" sz="950" dirty="0"/>
          </a:p>
        </p:txBody>
      </p:sp>
      <p:sp>
        <p:nvSpPr>
          <p:cNvPr id="9" name="Text 7"/>
          <p:cNvSpPr txBox="1"/>
          <p:nvPr/>
        </p:nvSpPr>
        <p:spPr>
          <a:xfrm>
            <a:off x="5129784"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déc.</a:t>
            </a:r>
            <a:endParaRPr lang="en-US" sz="950" dirty="0"/>
          </a:p>
        </p:txBody>
      </p:sp>
      <p:sp>
        <p:nvSpPr>
          <p:cNvPr id="10" name="Shape 8"/>
          <p:cNvSpPr/>
          <p:nvPr/>
        </p:nvSpPr>
        <p:spPr>
          <a:xfrm>
            <a:off x="5833872" y="1280160"/>
            <a:ext cx="704088" cy="3010205"/>
          </a:xfrm>
          <a:prstGeom prst="rect">
            <a:avLst/>
          </a:prstGeom>
          <a:solidFill>
            <a:srgbClr val="ECE8E3"/>
          </a:solidFill>
          <a:ln/>
        </p:spPr>
      </p:sp>
      <p:sp>
        <p:nvSpPr>
          <p:cNvPr id="11" name="Text 9"/>
          <p:cNvSpPr txBox="1"/>
          <p:nvPr/>
        </p:nvSpPr>
        <p:spPr>
          <a:xfrm>
            <a:off x="5833872"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janv.</a:t>
            </a:r>
            <a:endParaRPr lang="en-US" sz="950" dirty="0"/>
          </a:p>
        </p:txBody>
      </p:sp>
      <p:sp>
        <p:nvSpPr>
          <p:cNvPr id="12" name="Text 10"/>
          <p:cNvSpPr txBox="1"/>
          <p:nvPr/>
        </p:nvSpPr>
        <p:spPr>
          <a:xfrm>
            <a:off x="6537960"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févr.</a:t>
            </a:r>
            <a:endParaRPr lang="en-US" sz="950" dirty="0"/>
          </a:p>
        </p:txBody>
      </p:sp>
      <p:sp>
        <p:nvSpPr>
          <p:cNvPr id="13" name="Shape 11"/>
          <p:cNvSpPr/>
          <p:nvPr/>
        </p:nvSpPr>
        <p:spPr>
          <a:xfrm>
            <a:off x="7242048" y="1280160"/>
            <a:ext cx="704088" cy="3010205"/>
          </a:xfrm>
          <a:prstGeom prst="rect">
            <a:avLst/>
          </a:prstGeom>
          <a:solidFill>
            <a:srgbClr val="ECE8E3"/>
          </a:solidFill>
          <a:ln/>
        </p:spPr>
      </p:sp>
      <p:sp>
        <p:nvSpPr>
          <p:cNvPr id="14" name="Text 12"/>
          <p:cNvSpPr txBox="1"/>
          <p:nvPr/>
        </p:nvSpPr>
        <p:spPr>
          <a:xfrm>
            <a:off x="7242048" y="1316736"/>
            <a:ext cx="704088" cy="219456"/>
          </a:xfrm>
          <a:prstGeom prst="rect">
            <a:avLst/>
          </a:prstGeom>
          <a:noFill/>
          <a:ln/>
        </p:spPr>
        <p:txBody>
          <a:bodyPr wrap="square" lIns="0" tIns="0" rIns="0" bIns="0" rtlCol="0" anchor="t"/>
          <a:lstStyle/>
          <a:p>
            <a:pPr algn="ctr" indent="0" marL="0">
              <a:buNone/>
            </a:pPr>
            <a:r>
              <a:rPr lang="en-US" sz="950" b="1" dirty="0">
                <a:solidFill>
                  <a:schemeClr val="tx2"/>
                </a:solidFill>
              </a:rPr>
              <a:t>mars</a:t>
            </a:r>
            <a:endParaRPr lang="en-US" sz="950" dirty="0"/>
          </a:p>
        </p:txBody>
      </p:sp>
      <p:sp>
        <p:nvSpPr>
          <p:cNvPr id="15" name="Text 13"/>
          <p:cNvSpPr txBox="1"/>
          <p:nvPr/>
        </p:nvSpPr>
        <p:spPr>
          <a:xfrm>
            <a:off x="7946136" y="1316736"/>
            <a:ext cx="704088" cy="219456"/>
          </a:xfrm>
          <a:prstGeom prst="rect">
            <a:avLst/>
          </a:prstGeom>
          <a:noFill/>
          <a:ln/>
        </p:spPr>
        <p:txBody>
          <a:bodyPr wrap="square" lIns="0" tIns="0" rIns="0" bIns="0" rtlCol="0" anchor="t"/>
          <a:lstStyle/>
          <a:p>
            <a:pPr algn="ctr" indent="0" marL="0">
              <a:buNone/>
            </a:pPr>
            <a:r>
              <a:rPr lang="en-US" sz="950" b="1" dirty="0">
                <a:solidFill>
                  <a:schemeClr val="accent2"/>
                </a:solidFill>
              </a:rPr>
              <a:t>avr. →</a:t>
            </a:r>
            <a:endParaRPr lang="en-US" sz="950" dirty="0"/>
          </a:p>
        </p:txBody>
      </p:sp>
      <p:sp>
        <p:nvSpPr>
          <p:cNvPr id="16" name="Text 14"/>
          <p:cNvSpPr txBox="1"/>
          <p:nvPr/>
        </p:nvSpPr>
        <p:spPr>
          <a:xfrm>
            <a:off x="457200" y="1572768"/>
            <a:ext cx="2514600" cy="248717"/>
          </a:xfrm>
          <a:prstGeom prst="rect">
            <a:avLst/>
          </a:prstGeom>
          <a:noFill/>
          <a:ln/>
        </p:spPr>
        <p:txBody>
          <a:bodyPr wrap="square" lIns="0" tIns="0" rIns="0" bIns="0" rtlCol="0" anchor="ctr"/>
          <a:lstStyle/>
          <a:p>
            <a:pPr indent="0" marL="0">
              <a:buNone/>
            </a:pPr>
            <a:r>
              <a:rPr lang="en-US" sz="950" dirty="0">
                <a:solidFill>
                  <a:schemeClr val="tx2"/>
                </a:solidFill>
              </a:rPr>
              <a:t>Idée et étude de marché</a:t>
            </a:r>
            <a:endParaRPr lang="en-US" sz="950" dirty="0"/>
          </a:p>
        </p:txBody>
      </p:sp>
      <p:sp>
        <p:nvSpPr>
          <p:cNvPr id="17" name="barre-0"/>
          <p:cNvSpPr/>
          <p:nvPr/>
        </p:nvSpPr>
        <p:spPr>
          <a:xfrm>
            <a:off x="3369564" y="1618488"/>
            <a:ext cx="492862" cy="157277"/>
          </a:xfrm>
          <a:prstGeom prst="roundRect">
            <a:avLst>
              <a:gd name="adj" fmla="val 34884"/>
            </a:avLst>
          </a:prstGeom>
          <a:solidFill>
            <a:srgbClr val="8C8279"/>
          </a:solidFill>
          <a:ln/>
        </p:spPr>
      </p:sp>
      <p:sp>
        <p:nvSpPr>
          <p:cNvPr id="18" name="Text 16"/>
          <p:cNvSpPr txBox="1"/>
          <p:nvPr/>
        </p:nvSpPr>
        <p:spPr>
          <a:xfrm>
            <a:off x="457200" y="1821485"/>
            <a:ext cx="2514600" cy="248717"/>
          </a:xfrm>
          <a:prstGeom prst="rect">
            <a:avLst/>
          </a:prstGeom>
          <a:noFill/>
          <a:ln/>
        </p:spPr>
        <p:txBody>
          <a:bodyPr wrap="square" lIns="0" tIns="0" rIns="0" bIns="0" rtlCol="0" anchor="ctr"/>
          <a:lstStyle/>
          <a:p>
            <a:pPr indent="0" marL="0">
              <a:buNone/>
            </a:pPr>
            <a:r>
              <a:rPr lang="en-US" sz="950" dirty="0">
                <a:solidFill>
                  <a:schemeClr val="tx2"/>
                </a:solidFill>
              </a:rPr>
              <a:t>Stratégie marketing (choix de luna)</a:t>
            </a:r>
            <a:endParaRPr lang="en-US" sz="950" dirty="0"/>
          </a:p>
        </p:txBody>
      </p:sp>
      <p:sp>
        <p:nvSpPr>
          <p:cNvPr id="19" name="barre-1"/>
          <p:cNvSpPr/>
          <p:nvPr/>
        </p:nvSpPr>
        <p:spPr>
          <a:xfrm>
            <a:off x="3651199" y="1867205"/>
            <a:ext cx="316840" cy="157277"/>
          </a:xfrm>
          <a:prstGeom prst="roundRect">
            <a:avLst>
              <a:gd name="adj" fmla="val 34884"/>
            </a:avLst>
          </a:prstGeom>
          <a:solidFill>
            <a:srgbClr val="8C8279"/>
          </a:solidFill>
          <a:ln/>
        </p:spPr>
      </p:sp>
      <p:sp>
        <p:nvSpPr>
          <p:cNvPr id="20" name="Text 18"/>
          <p:cNvSpPr txBox="1"/>
          <p:nvPr/>
        </p:nvSpPr>
        <p:spPr>
          <a:xfrm>
            <a:off x="457200" y="2070202"/>
            <a:ext cx="2514600" cy="248717"/>
          </a:xfrm>
          <a:prstGeom prst="rect">
            <a:avLst/>
          </a:prstGeom>
          <a:noFill/>
          <a:ln/>
        </p:spPr>
        <p:txBody>
          <a:bodyPr wrap="square" lIns="0" tIns="0" rIns="0" bIns="0" rtlCol="0" anchor="ctr"/>
          <a:lstStyle/>
          <a:p>
            <a:pPr indent="0" marL="0">
              <a:buNone/>
            </a:pPr>
            <a:r>
              <a:rPr lang="en-US" sz="950" dirty="0">
                <a:solidFill>
                  <a:schemeClr val="tx2"/>
                </a:solidFill>
              </a:rPr>
              <a:t>Marque, logo, site, pitch</a:t>
            </a:r>
            <a:endParaRPr lang="en-US" sz="950" dirty="0"/>
          </a:p>
        </p:txBody>
      </p:sp>
      <p:sp>
        <p:nvSpPr>
          <p:cNvPr id="21" name="barre-2"/>
          <p:cNvSpPr/>
          <p:nvPr/>
        </p:nvSpPr>
        <p:spPr>
          <a:xfrm>
            <a:off x="3721608" y="2115922"/>
            <a:ext cx="295717" cy="157277"/>
          </a:xfrm>
          <a:prstGeom prst="roundRect">
            <a:avLst>
              <a:gd name="adj" fmla="val 34884"/>
            </a:avLst>
          </a:prstGeom>
          <a:solidFill>
            <a:srgbClr val="8C8279"/>
          </a:solidFill>
          <a:ln/>
        </p:spPr>
      </p:sp>
      <p:sp>
        <p:nvSpPr>
          <p:cNvPr id="22" name="Text 20"/>
          <p:cNvSpPr txBox="1"/>
          <p:nvPr/>
        </p:nvSpPr>
        <p:spPr>
          <a:xfrm>
            <a:off x="457200" y="2318918"/>
            <a:ext cx="2514600" cy="248717"/>
          </a:xfrm>
          <a:prstGeom prst="rect">
            <a:avLst/>
          </a:prstGeom>
          <a:noFill/>
          <a:ln/>
        </p:spPr>
        <p:txBody>
          <a:bodyPr wrap="square" lIns="0" tIns="0" rIns="0" bIns="0" rtlCol="0" anchor="ctr"/>
          <a:lstStyle/>
          <a:p>
            <a:pPr indent="0" marL="0">
              <a:buNone/>
            </a:pPr>
            <a:r>
              <a:rPr lang="en-US" sz="950" dirty="0">
                <a:solidFill>
                  <a:schemeClr val="tx1"/>
                </a:solidFill>
              </a:rPr>
              <a:t>Fabricant : Unistraw + plan B, devis</a:t>
            </a:r>
            <a:endParaRPr lang="en-US" sz="950" dirty="0"/>
          </a:p>
        </p:txBody>
      </p:sp>
      <p:sp>
        <p:nvSpPr>
          <p:cNvPr id="23" name="barre-3"/>
          <p:cNvSpPr/>
          <p:nvPr/>
        </p:nvSpPr>
        <p:spPr>
          <a:xfrm>
            <a:off x="3932834" y="2364638"/>
            <a:ext cx="1196950" cy="157277"/>
          </a:xfrm>
          <a:prstGeom prst="roundRect">
            <a:avLst>
              <a:gd name="adj" fmla="val 34884"/>
            </a:avLst>
          </a:prstGeom>
          <a:solidFill>
            <a:schemeClr val="accent1"/>
          </a:solidFill>
          <a:ln/>
        </p:spPr>
      </p:sp>
      <p:sp>
        <p:nvSpPr>
          <p:cNvPr id="24" name="Text 22"/>
          <p:cNvSpPr txBox="1"/>
          <p:nvPr/>
        </p:nvSpPr>
        <p:spPr>
          <a:xfrm>
            <a:off x="457200" y="2567635"/>
            <a:ext cx="2514600" cy="248717"/>
          </a:xfrm>
          <a:prstGeom prst="rect">
            <a:avLst/>
          </a:prstGeom>
          <a:noFill/>
          <a:ln/>
        </p:spPr>
        <p:txBody>
          <a:bodyPr wrap="square" lIns="0" tIns="0" rIns="0" bIns="0" rtlCol="0" anchor="ctr"/>
          <a:lstStyle/>
          <a:p>
            <a:pPr indent="0" marL="0">
              <a:buNone/>
            </a:pPr>
            <a:r>
              <a:rPr lang="en-US" sz="950" dirty="0">
                <a:solidFill>
                  <a:schemeClr val="tx1"/>
                </a:solidFill>
              </a:rPr>
              <a:t>Entretiens clientes cible luna</a:t>
            </a:r>
            <a:endParaRPr lang="en-US" sz="950" dirty="0"/>
          </a:p>
        </p:txBody>
      </p:sp>
      <p:sp>
        <p:nvSpPr>
          <p:cNvPr id="25" name="barre-4"/>
          <p:cNvSpPr/>
          <p:nvPr/>
        </p:nvSpPr>
        <p:spPr>
          <a:xfrm>
            <a:off x="4144061" y="2613355"/>
            <a:ext cx="1337767" cy="157277"/>
          </a:xfrm>
          <a:prstGeom prst="roundRect">
            <a:avLst>
              <a:gd name="adj" fmla="val 34884"/>
            </a:avLst>
          </a:prstGeom>
          <a:solidFill>
            <a:srgbClr val="E6A3AE"/>
          </a:solidFill>
          <a:ln/>
        </p:spPr>
      </p:sp>
      <p:sp>
        <p:nvSpPr>
          <p:cNvPr id="26" name="Text 24"/>
          <p:cNvSpPr txBox="1"/>
          <p:nvPr/>
        </p:nvSpPr>
        <p:spPr>
          <a:xfrm>
            <a:off x="457200" y="2816352"/>
            <a:ext cx="2514600" cy="248717"/>
          </a:xfrm>
          <a:prstGeom prst="rect">
            <a:avLst/>
          </a:prstGeom>
          <a:noFill/>
          <a:ln/>
        </p:spPr>
        <p:txBody>
          <a:bodyPr wrap="square" lIns="0" tIns="0" rIns="0" bIns="0" rtlCol="0" anchor="ctr"/>
          <a:lstStyle/>
          <a:p>
            <a:pPr indent="0" marL="0">
              <a:buNone/>
            </a:pPr>
            <a:r>
              <a:rPr lang="en-US" sz="950" dirty="0">
                <a:solidFill>
                  <a:schemeClr val="tx1"/>
                </a:solidFill>
              </a:rPr>
              <a:t>Formules et conformité (expert)</a:t>
            </a:r>
            <a:endParaRPr lang="en-US" sz="950" dirty="0"/>
          </a:p>
        </p:txBody>
      </p:sp>
      <p:sp>
        <p:nvSpPr>
          <p:cNvPr id="27" name="barre-5"/>
          <p:cNvSpPr/>
          <p:nvPr/>
        </p:nvSpPr>
        <p:spPr>
          <a:xfrm>
            <a:off x="4425696" y="2862072"/>
            <a:ext cx="1830629" cy="157277"/>
          </a:xfrm>
          <a:prstGeom prst="roundRect">
            <a:avLst>
              <a:gd name="adj" fmla="val 34884"/>
            </a:avLst>
          </a:prstGeom>
          <a:solidFill>
            <a:srgbClr val="E6A3AE"/>
          </a:solidFill>
          <a:ln/>
        </p:spPr>
      </p:sp>
      <p:sp>
        <p:nvSpPr>
          <p:cNvPr id="28" name="Text 26"/>
          <p:cNvSpPr txBox="1"/>
          <p:nvPr/>
        </p:nvSpPr>
        <p:spPr>
          <a:xfrm>
            <a:off x="457200" y="3065069"/>
            <a:ext cx="2514600" cy="248717"/>
          </a:xfrm>
          <a:prstGeom prst="rect">
            <a:avLst/>
          </a:prstGeom>
          <a:noFill/>
          <a:ln/>
        </p:spPr>
        <p:txBody>
          <a:bodyPr wrap="square" lIns="0" tIns="0" rIns="0" bIns="0" rtlCol="0" anchor="ctr"/>
          <a:lstStyle/>
          <a:p>
            <a:pPr indent="0" marL="0">
              <a:buNone/>
            </a:pPr>
            <a:r>
              <a:rPr lang="en-US" sz="950" dirty="0">
                <a:solidFill>
                  <a:schemeClr val="tx1"/>
                </a:solidFill>
              </a:rPr>
              <a:t>Prototype, tests goût et dissolution</a:t>
            </a:r>
            <a:endParaRPr lang="en-US" sz="950" dirty="0"/>
          </a:p>
        </p:txBody>
      </p:sp>
      <p:sp>
        <p:nvSpPr>
          <p:cNvPr id="29" name="barre-6"/>
          <p:cNvSpPr/>
          <p:nvPr/>
        </p:nvSpPr>
        <p:spPr>
          <a:xfrm>
            <a:off x="5129784" y="3110789"/>
            <a:ext cx="1760220" cy="157277"/>
          </a:xfrm>
          <a:prstGeom prst="roundRect">
            <a:avLst>
              <a:gd name="adj" fmla="val 34884"/>
            </a:avLst>
          </a:prstGeom>
          <a:solidFill>
            <a:srgbClr val="E6A3AE"/>
          </a:solidFill>
          <a:ln/>
        </p:spPr>
      </p:sp>
      <p:sp>
        <p:nvSpPr>
          <p:cNvPr id="30" name="Text 28"/>
          <p:cNvSpPr txBox="1"/>
          <p:nvPr/>
        </p:nvSpPr>
        <p:spPr>
          <a:xfrm>
            <a:off x="457200" y="3313786"/>
            <a:ext cx="2514600" cy="248717"/>
          </a:xfrm>
          <a:prstGeom prst="rect">
            <a:avLst/>
          </a:prstGeom>
          <a:noFill/>
          <a:ln/>
        </p:spPr>
        <p:txBody>
          <a:bodyPr wrap="square" lIns="0" tIns="0" rIns="0" bIns="0" rtlCol="0" anchor="ctr"/>
          <a:lstStyle/>
          <a:p>
            <a:pPr indent="0" marL="0">
              <a:buNone/>
            </a:pPr>
            <a:r>
              <a:rPr lang="en-US" sz="950" dirty="0">
                <a:solidFill>
                  <a:schemeClr val="tx1"/>
                </a:solidFill>
              </a:rPr>
              <a:t>Page de précommande et test MVP</a:t>
            </a:r>
            <a:endParaRPr lang="en-US" sz="950" dirty="0"/>
          </a:p>
        </p:txBody>
      </p:sp>
      <p:sp>
        <p:nvSpPr>
          <p:cNvPr id="31" name="barre-7"/>
          <p:cNvSpPr/>
          <p:nvPr/>
        </p:nvSpPr>
        <p:spPr>
          <a:xfrm>
            <a:off x="5833872" y="3359506"/>
            <a:ext cx="1619402" cy="157277"/>
          </a:xfrm>
          <a:prstGeom prst="roundRect">
            <a:avLst>
              <a:gd name="adj" fmla="val 34884"/>
            </a:avLst>
          </a:prstGeom>
          <a:solidFill>
            <a:srgbClr val="E6A3AE"/>
          </a:solidFill>
          <a:ln/>
        </p:spPr>
      </p:sp>
      <p:sp>
        <p:nvSpPr>
          <p:cNvPr id="32" name="Text 30"/>
          <p:cNvSpPr txBox="1"/>
          <p:nvPr/>
        </p:nvSpPr>
        <p:spPr>
          <a:xfrm>
            <a:off x="457200" y="3562502"/>
            <a:ext cx="2514600" cy="248717"/>
          </a:xfrm>
          <a:prstGeom prst="rect">
            <a:avLst/>
          </a:prstGeom>
          <a:noFill/>
          <a:ln/>
        </p:spPr>
        <p:txBody>
          <a:bodyPr wrap="square" lIns="0" tIns="0" rIns="0" bIns="0" rtlCol="0" anchor="ctr"/>
          <a:lstStyle/>
          <a:p>
            <a:pPr indent="0" marL="0">
              <a:buNone/>
            </a:pPr>
            <a:r>
              <a:rPr lang="en-US" sz="950" dirty="0">
                <a:solidFill>
                  <a:schemeClr val="tx1"/>
                </a:solidFill>
              </a:rPr>
              <a:t>Business plan et prévisionnel</a:t>
            </a:r>
            <a:endParaRPr lang="en-US" sz="950" dirty="0"/>
          </a:p>
        </p:txBody>
      </p:sp>
      <p:sp>
        <p:nvSpPr>
          <p:cNvPr id="33" name="barre-8"/>
          <p:cNvSpPr/>
          <p:nvPr/>
        </p:nvSpPr>
        <p:spPr>
          <a:xfrm>
            <a:off x="5833872" y="3608222"/>
            <a:ext cx="1830629" cy="157277"/>
          </a:xfrm>
          <a:prstGeom prst="roundRect">
            <a:avLst>
              <a:gd name="adj" fmla="val 34884"/>
            </a:avLst>
          </a:prstGeom>
          <a:solidFill>
            <a:srgbClr val="E6A3AE"/>
          </a:solidFill>
          <a:ln/>
        </p:spPr>
      </p:sp>
      <p:sp>
        <p:nvSpPr>
          <p:cNvPr id="34" name="Text 32"/>
          <p:cNvSpPr txBox="1"/>
          <p:nvPr/>
        </p:nvSpPr>
        <p:spPr>
          <a:xfrm>
            <a:off x="457200" y="3811219"/>
            <a:ext cx="2514600" cy="248717"/>
          </a:xfrm>
          <a:prstGeom prst="rect">
            <a:avLst/>
          </a:prstGeom>
          <a:noFill/>
          <a:ln/>
        </p:spPr>
        <p:txBody>
          <a:bodyPr wrap="square" lIns="0" tIns="0" rIns="0" bIns="0" rtlCol="0" anchor="ctr"/>
          <a:lstStyle/>
          <a:p>
            <a:pPr indent="0" marL="0">
              <a:buNone/>
            </a:pPr>
            <a:r>
              <a:rPr lang="en-US" sz="950" dirty="0">
                <a:solidFill>
                  <a:schemeClr val="tx1"/>
                </a:solidFill>
              </a:rPr>
              <a:t>Préparation de la soutenance</a:t>
            </a:r>
            <a:endParaRPr lang="en-US" sz="950" dirty="0"/>
          </a:p>
        </p:txBody>
      </p:sp>
      <p:sp>
        <p:nvSpPr>
          <p:cNvPr id="35" name="barre-9"/>
          <p:cNvSpPr/>
          <p:nvPr/>
        </p:nvSpPr>
        <p:spPr>
          <a:xfrm>
            <a:off x="6960413" y="3856939"/>
            <a:ext cx="880110" cy="157277"/>
          </a:xfrm>
          <a:prstGeom prst="roundRect">
            <a:avLst>
              <a:gd name="adj" fmla="val 34884"/>
            </a:avLst>
          </a:prstGeom>
          <a:solidFill>
            <a:srgbClr val="E6A3AE"/>
          </a:solidFill>
          <a:ln/>
        </p:spPr>
      </p:sp>
      <p:sp>
        <p:nvSpPr>
          <p:cNvPr id="36" name="Text 34"/>
          <p:cNvSpPr txBox="1"/>
          <p:nvPr/>
        </p:nvSpPr>
        <p:spPr>
          <a:xfrm>
            <a:off x="457200" y="4059936"/>
            <a:ext cx="2514600" cy="248717"/>
          </a:xfrm>
          <a:prstGeom prst="rect">
            <a:avLst/>
          </a:prstGeom>
          <a:noFill/>
          <a:ln/>
        </p:spPr>
        <p:txBody>
          <a:bodyPr wrap="square" lIns="0" tIns="0" rIns="0" bIns="0" rtlCol="0" anchor="ctr"/>
          <a:lstStyle/>
          <a:p>
            <a:pPr indent="0" marL="0">
              <a:buNone/>
            </a:pPr>
            <a:r>
              <a:rPr lang="en-US" sz="950" dirty="0">
                <a:solidFill>
                  <a:schemeClr val="tx1"/>
                </a:solidFill>
              </a:rPr>
              <a:t>Création de la société, lancement luna</a:t>
            </a:r>
            <a:endParaRPr lang="en-US" sz="950" dirty="0"/>
          </a:p>
        </p:txBody>
      </p:sp>
      <p:sp>
        <p:nvSpPr>
          <p:cNvPr id="37" name="barre-10"/>
          <p:cNvSpPr/>
          <p:nvPr/>
        </p:nvSpPr>
        <p:spPr>
          <a:xfrm>
            <a:off x="7946136" y="4105656"/>
            <a:ext cx="704088" cy="157277"/>
          </a:xfrm>
          <a:prstGeom prst="roundRect">
            <a:avLst>
              <a:gd name="adj" fmla="val 34884"/>
            </a:avLst>
          </a:prstGeom>
          <a:solidFill>
            <a:schemeClr val="accent2"/>
          </a:solidFill>
          <a:ln/>
        </p:spPr>
      </p:sp>
      <p:sp>
        <p:nvSpPr>
          <p:cNvPr id="38" name="Shape 36"/>
          <p:cNvSpPr/>
          <p:nvPr/>
        </p:nvSpPr>
        <p:spPr>
          <a:xfrm>
            <a:off x="4017325" y="1554480"/>
            <a:ext cx="0" cy="2754173"/>
          </a:xfrm>
          <a:prstGeom prst="line">
            <a:avLst/>
          </a:prstGeom>
          <a:noFill/>
          <a:ln w="12700">
            <a:solidFill>
              <a:schemeClr val="tx1"/>
            </a:solidFill>
            <a:prstDash val="dash"/>
          </a:ln>
        </p:spPr>
      </p:sp>
      <p:sp>
        <p:nvSpPr>
          <p:cNvPr id="39" name="Text 37"/>
          <p:cNvSpPr txBox="1"/>
          <p:nvPr/>
        </p:nvSpPr>
        <p:spPr>
          <a:xfrm>
            <a:off x="3560125" y="4326941"/>
            <a:ext cx="914400" cy="182880"/>
          </a:xfrm>
          <a:prstGeom prst="rect">
            <a:avLst/>
          </a:prstGeom>
          <a:noFill/>
          <a:ln/>
        </p:spPr>
        <p:txBody>
          <a:bodyPr wrap="square" lIns="0" tIns="0" rIns="0" bIns="0" rtlCol="0" anchor="t"/>
          <a:lstStyle/>
          <a:p>
            <a:pPr algn="ctr" indent="0" marL="0">
              <a:buNone/>
            </a:pPr>
            <a:r>
              <a:rPr lang="en-US" sz="850" b="1" dirty="0">
                <a:solidFill>
                  <a:schemeClr val="tx1"/>
                </a:solidFill>
              </a:rPr>
              <a:t>aujourd'hui</a:t>
            </a:r>
            <a:endParaRPr lang="en-US" sz="850" dirty="0"/>
          </a:p>
        </p:txBody>
      </p:sp>
      <p:sp>
        <p:nvSpPr>
          <p:cNvPr id="40" name="jalon-soutenance"/>
          <p:cNvSpPr/>
          <p:nvPr/>
        </p:nvSpPr>
        <p:spPr>
          <a:xfrm>
            <a:off x="7765999" y="3829507"/>
            <a:ext cx="219456" cy="219456"/>
          </a:xfrm>
          <a:prstGeom prst="diamond">
            <a:avLst/>
          </a:prstGeom>
          <a:solidFill>
            <a:schemeClr val="tx1"/>
          </a:solidFill>
          <a:ln/>
        </p:spPr>
      </p:sp>
      <p:sp>
        <p:nvSpPr>
          <p:cNvPr id="41" name="Text 39"/>
          <p:cNvSpPr txBox="1"/>
          <p:nvPr/>
        </p:nvSpPr>
        <p:spPr>
          <a:xfrm>
            <a:off x="7418527" y="4326941"/>
            <a:ext cx="914400" cy="182880"/>
          </a:xfrm>
          <a:prstGeom prst="rect">
            <a:avLst/>
          </a:prstGeom>
          <a:noFill/>
          <a:ln/>
        </p:spPr>
        <p:txBody>
          <a:bodyPr wrap="square" lIns="0" tIns="0" rIns="0" bIns="0" rtlCol="0" anchor="t"/>
          <a:lstStyle/>
          <a:p>
            <a:pPr algn="ctr" indent="0" marL="0">
              <a:buNone/>
            </a:pPr>
            <a:r>
              <a:rPr lang="en-US" sz="850" b="1" dirty="0">
                <a:solidFill>
                  <a:schemeClr val="tx1"/>
                </a:solidFill>
              </a:rPr>
              <a:t>soutenance</a:t>
            </a:r>
            <a:endParaRPr lang="en-US" sz="850" dirty="0"/>
          </a:p>
        </p:txBody>
      </p:sp>
      <p:sp>
        <p:nvSpPr>
          <p:cNvPr id="42" name="Shape 40"/>
          <p:cNvSpPr/>
          <p:nvPr/>
        </p:nvSpPr>
        <p:spPr>
          <a:xfrm>
            <a:off x="457200" y="4498848"/>
            <a:ext cx="274320" cy="128016"/>
          </a:xfrm>
          <a:prstGeom prst="roundRect">
            <a:avLst>
              <a:gd name="adj" fmla="val 28571"/>
            </a:avLst>
          </a:prstGeom>
          <a:solidFill>
            <a:srgbClr val="8C8279"/>
          </a:solidFill>
          <a:ln/>
        </p:spPr>
      </p:sp>
      <p:sp>
        <p:nvSpPr>
          <p:cNvPr id="43" name="Text 41"/>
          <p:cNvSpPr txBox="1"/>
          <p:nvPr/>
        </p:nvSpPr>
        <p:spPr>
          <a:xfrm>
            <a:off x="804672" y="4453128"/>
            <a:ext cx="1463040" cy="219456"/>
          </a:xfrm>
          <a:prstGeom prst="rect">
            <a:avLst/>
          </a:prstGeom>
          <a:noFill/>
          <a:ln/>
        </p:spPr>
        <p:txBody>
          <a:bodyPr wrap="square" lIns="0" tIns="0" rIns="0" bIns="0" rtlCol="0" anchor="ctr"/>
          <a:lstStyle/>
          <a:p>
            <a:pPr indent="0" marL="0">
              <a:buNone/>
            </a:pPr>
            <a:r>
              <a:rPr lang="en-US" sz="900" dirty="0">
                <a:solidFill>
                  <a:schemeClr val="tx2"/>
                </a:solidFill>
              </a:rPr>
              <a:t>fait</a:t>
            </a:r>
            <a:endParaRPr lang="en-US" sz="900" dirty="0"/>
          </a:p>
        </p:txBody>
      </p:sp>
      <p:sp>
        <p:nvSpPr>
          <p:cNvPr id="44" name="Shape 42"/>
          <p:cNvSpPr/>
          <p:nvPr/>
        </p:nvSpPr>
        <p:spPr>
          <a:xfrm>
            <a:off x="1426464" y="4498848"/>
            <a:ext cx="274320" cy="128016"/>
          </a:xfrm>
          <a:prstGeom prst="roundRect">
            <a:avLst>
              <a:gd name="adj" fmla="val 28571"/>
            </a:avLst>
          </a:prstGeom>
          <a:solidFill>
            <a:schemeClr val="accent1"/>
          </a:solidFill>
          <a:ln/>
        </p:spPr>
      </p:sp>
      <p:sp>
        <p:nvSpPr>
          <p:cNvPr id="45" name="Text 43"/>
          <p:cNvSpPr txBox="1"/>
          <p:nvPr/>
        </p:nvSpPr>
        <p:spPr>
          <a:xfrm>
            <a:off x="1773936" y="4453128"/>
            <a:ext cx="1463040" cy="219456"/>
          </a:xfrm>
          <a:prstGeom prst="rect">
            <a:avLst/>
          </a:prstGeom>
          <a:noFill/>
          <a:ln/>
        </p:spPr>
        <p:txBody>
          <a:bodyPr wrap="square" lIns="0" tIns="0" rIns="0" bIns="0" rtlCol="0" anchor="ctr"/>
          <a:lstStyle/>
          <a:p>
            <a:pPr indent="0" marL="0">
              <a:buNone/>
            </a:pPr>
            <a:r>
              <a:rPr lang="en-US" sz="900" dirty="0">
                <a:solidFill>
                  <a:schemeClr val="tx2"/>
                </a:solidFill>
              </a:rPr>
              <a:t>en cours</a:t>
            </a:r>
            <a:endParaRPr lang="en-US" sz="900" dirty="0"/>
          </a:p>
        </p:txBody>
      </p:sp>
      <p:sp>
        <p:nvSpPr>
          <p:cNvPr id="46" name="Shape 44"/>
          <p:cNvSpPr/>
          <p:nvPr/>
        </p:nvSpPr>
        <p:spPr>
          <a:xfrm>
            <a:off x="2633472" y="4498848"/>
            <a:ext cx="274320" cy="128016"/>
          </a:xfrm>
          <a:prstGeom prst="roundRect">
            <a:avLst>
              <a:gd name="adj" fmla="val 28571"/>
            </a:avLst>
          </a:prstGeom>
          <a:solidFill>
            <a:srgbClr val="E6A3AE"/>
          </a:solidFill>
          <a:ln/>
        </p:spPr>
      </p:sp>
      <p:sp>
        <p:nvSpPr>
          <p:cNvPr id="47" name="Text 45"/>
          <p:cNvSpPr txBox="1"/>
          <p:nvPr/>
        </p:nvSpPr>
        <p:spPr>
          <a:xfrm>
            <a:off x="2980944" y="4453128"/>
            <a:ext cx="1463040" cy="219456"/>
          </a:xfrm>
          <a:prstGeom prst="rect">
            <a:avLst/>
          </a:prstGeom>
          <a:noFill/>
          <a:ln/>
        </p:spPr>
        <p:txBody>
          <a:bodyPr wrap="square" lIns="0" tIns="0" rIns="0" bIns="0" rtlCol="0" anchor="ctr"/>
          <a:lstStyle/>
          <a:p>
            <a:pPr indent="0" marL="0">
              <a:buNone/>
            </a:pPr>
            <a:r>
              <a:rPr lang="en-US" sz="900" dirty="0">
                <a:solidFill>
                  <a:schemeClr val="tx2"/>
                </a:solidFill>
              </a:rPr>
              <a:t>à venir</a:t>
            </a:r>
            <a:endParaRPr lang="en-US" sz="900" dirty="0"/>
          </a:p>
        </p:txBody>
      </p:sp>
      <p:sp>
        <p:nvSpPr>
          <p:cNvPr id="48" name="Shape 46"/>
          <p:cNvSpPr/>
          <p:nvPr/>
        </p:nvSpPr>
        <p:spPr>
          <a:xfrm>
            <a:off x="3781044" y="4498848"/>
            <a:ext cx="274320" cy="128016"/>
          </a:xfrm>
          <a:prstGeom prst="roundRect">
            <a:avLst>
              <a:gd name="adj" fmla="val 28571"/>
            </a:avLst>
          </a:prstGeom>
          <a:solidFill>
            <a:schemeClr val="accent2"/>
          </a:solidFill>
          <a:ln/>
        </p:spPr>
      </p:sp>
      <p:sp>
        <p:nvSpPr>
          <p:cNvPr id="49" name="Text 47"/>
          <p:cNvSpPr txBox="1"/>
          <p:nvPr/>
        </p:nvSpPr>
        <p:spPr>
          <a:xfrm>
            <a:off x="4128516" y="4453128"/>
            <a:ext cx="1463040" cy="219456"/>
          </a:xfrm>
          <a:prstGeom prst="rect">
            <a:avLst/>
          </a:prstGeom>
          <a:noFill/>
          <a:ln/>
        </p:spPr>
        <p:txBody>
          <a:bodyPr wrap="square" lIns="0" tIns="0" rIns="0" bIns="0" rtlCol="0" anchor="ctr"/>
          <a:lstStyle/>
          <a:p>
            <a:pPr indent="0" marL="0">
              <a:buNone/>
            </a:pPr>
            <a:r>
              <a:rPr lang="en-US" sz="900" dirty="0">
                <a:solidFill>
                  <a:schemeClr val="tx2"/>
                </a:solidFill>
              </a:rPr>
              <a:t>après la soutenance</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LES PROCHAINES SEMAINES</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d'ici </a:t>
            </a:r>
            <a:pPr algn="l" indent="0" marL="0">
              <a:buNone/>
            </a:pPr>
            <a:r>
              <a:rPr lang="en-US" sz="2800" i="1" dirty="0">
                <a:solidFill>
                  <a:schemeClr val="tx1"/>
                </a:solidFill>
                <a:latin typeface="Cambria" pitchFamily="34" charset="0"/>
                <a:ea typeface="Cambria" pitchFamily="34" charset="-122"/>
                <a:cs typeface="Cambria" pitchFamily="34" charset="-120"/>
              </a:rPr>
              <a:t>fin décembre</a:t>
            </a:r>
            <a:endParaRPr lang="en-US" sz="2800" dirty="0"/>
          </a:p>
        </p:txBody>
      </p:sp>
      <p:sp>
        <p:nvSpPr>
          <p:cNvPr id="4" name="sem-0"/>
          <p:cNvSpPr/>
          <p:nvPr/>
        </p:nvSpPr>
        <p:spPr>
          <a:xfrm>
            <a:off x="457200" y="1280160"/>
            <a:ext cx="2606040" cy="3154680"/>
          </a:xfrm>
          <a:prstGeom prst="roundRect">
            <a:avLst>
              <a:gd name="adj" fmla="val 2807"/>
            </a:avLst>
          </a:prstGeom>
          <a:solidFill>
            <a:srgbClr val="FFFFFF"/>
          </a:solidFill>
          <a:ln/>
        </p:spPr>
      </p:sp>
      <p:sp>
        <p:nvSpPr>
          <p:cNvPr id="5" name="Shape 3"/>
          <p:cNvSpPr/>
          <p:nvPr/>
        </p:nvSpPr>
        <p:spPr>
          <a:xfrm>
            <a:off x="457200" y="1280160"/>
            <a:ext cx="2606040" cy="73152"/>
          </a:xfrm>
          <a:prstGeom prst="rect">
            <a:avLst/>
          </a:prstGeom>
          <a:solidFill>
            <a:schemeClr val="accent1"/>
          </a:solidFill>
          <a:ln/>
        </p:spPr>
      </p:sp>
      <p:sp>
        <p:nvSpPr>
          <p:cNvPr id="6" name="Text 4"/>
          <p:cNvSpPr txBox="1"/>
          <p:nvPr/>
        </p:nvSpPr>
        <p:spPr>
          <a:xfrm>
            <a:off x="685800" y="15087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mi-oct. → fin oct.</a:t>
            </a:r>
            <a:endParaRPr lang="en-US" sz="1500" dirty="0"/>
          </a:p>
        </p:txBody>
      </p:sp>
      <p:sp>
        <p:nvSpPr>
          <p:cNvPr id="7" name="Shape 5"/>
          <p:cNvSpPr/>
          <p:nvPr/>
        </p:nvSpPr>
        <p:spPr>
          <a:xfrm>
            <a:off x="685800" y="2020824"/>
            <a:ext cx="137160" cy="137160"/>
          </a:xfrm>
          <a:prstGeom prst="ellipse">
            <a:avLst/>
          </a:prstGeom>
          <a:solidFill>
            <a:schemeClr val="accent1"/>
          </a:solidFill>
          <a:ln/>
        </p:spPr>
      </p:sp>
      <p:sp>
        <p:nvSpPr>
          <p:cNvPr id="8" name="Text 6"/>
          <p:cNvSpPr txBox="1"/>
          <p:nvPr/>
        </p:nvSpPr>
        <p:spPr>
          <a:xfrm>
            <a:off x="960120" y="1965960"/>
            <a:ext cx="1965960" cy="777240"/>
          </a:xfrm>
          <a:prstGeom prst="rect">
            <a:avLst/>
          </a:prstGeom>
          <a:noFill/>
          <a:ln/>
        </p:spPr>
        <p:txBody>
          <a:bodyPr wrap="square" lIns="0" tIns="0" rIns="0" bIns="0" rtlCol="0" anchor="t"/>
          <a:lstStyle/>
          <a:p>
            <a:pPr indent="0" marL="0">
              <a:buNone/>
            </a:pPr>
            <a:r>
              <a:rPr lang="en-US" sz="1150" dirty="0">
                <a:solidFill>
                  <a:schemeClr val="tx1"/>
                </a:solidFill>
              </a:rPr>
              <a:t>Relancer Unistraw, contacter 2 ou 3 autres fabricants</a:t>
            </a:r>
            <a:endParaRPr lang="en-US" sz="1150" dirty="0"/>
          </a:p>
        </p:txBody>
      </p:sp>
      <p:sp>
        <p:nvSpPr>
          <p:cNvPr id="9" name="Shape 7"/>
          <p:cNvSpPr/>
          <p:nvPr/>
        </p:nvSpPr>
        <p:spPr>
          <a:xfrm>
            <a:off x="685800" y="2798064"/>
            <a:ext cx="137160" cy="137160"/>
          </a:xfrm>
          <a:prstGeom prst="ellipse">
            <a:avLst/>
          </a:prstGeom>
          <a:solidFill>
            <a:schemeClr val="accent1"/>
          </a:solidFill>
          <a:ln/>
        </p:spPr>
      </p:sp>
      <p:sp>
        <p:nvSpPr>
          <p:cNvPr id="10" name="Text 8"/>
          <p:cNvSpPr txBox="1"/>
          <p:nvPr/>
        </p:nvSpPr>
        <p:spPr>
          <a:xfrm>
            <a:off x="960120" y="2743200"/>
            <a:ext cx="1965960" cy="777240"/>
          </a:xfrm>
          <a:prstGeom prst="rect">
            <a:avLst/>
          </a:prstGeom>
          <a:noFill/>
          <a:ln/>
        </p:spPr>
        <p:txBody>
          <a:bodyPr wrap="square" lIns="0" tIns="0" rIns="0" bIns="0" rtlCol="0" anchor="t"/>
          <a:lstStyle/>
          <a:p>
            <a:pPr indent="0" marL="0">
              <a:buNone/>
            </a:pPr>
            <a:r>
              <a:rPr lang="en-US" sz="1150" dirty="0">
                <a:solidFill>
                  <a:schemeClr val="tx1"/>
                </a:solidFill>
              </a:rPr>
              <a:t>Préparer le guide d'entretien et un questionnaire en ligne</a:t>
            </a:r>
            <a:endParaRPr lang="en-US" sz="1150" dirty="0"/>
          </a:p>
        </p:txBody>
      </p:sp>
      <p:sp>
        <p:nvSpPr>
          <p:cNvPr id="11" name="Shape 9"/>
          <p:cNvSpPr/>
          <p:nvPr/>
        </p:nvSpPr>
        <p:spPr>
          <a:xfrm>
            <a:off x="685800" y="3575304"/>
            <a:ext cx="137160" cy="137160"/>
          </a:xfrm>
          <a:prstGeom prst="ellipse">
            <a:avLst/>
          </a:prstGeom>
          <a:solidFill>
            <a:schemeClr val="accent1"/>
          </a:solidFill>
          <a:ln/>
        </p:spPr>
      </p:sp>
      <p:sp>
        <p:nvSpPr>
          <p:cNvPr id="12" name="Text 10"/>
          <p:cNvSpPr txBox="1"/>
          <p:nvPr/>
        </p:nvSpPr>
        <p:spPr>
          <a:xfrm>
            <a:off x="960120" y="3520440"/>
            <a:ext cx="1965960" cy="777240"/>
          </a:xfrm>
          <a:prstGeom prst="rect">
            <a:avLst/>
          </a:prstGeom>
          <a:noFill/>
          <a:ln/>
        </p:spPr>
        <p:txBody>
          <a:bodyPr wrap="square" lIns="0" tIns="0" rIns="0" bIns="0" rtlCol="0" anchor="t"/>
          <a:lstStyle/>
          <a:p>
            <a:pPr indent="0" marL="0">
              <a:buNone/>
            </a:pPr>
            <a:r>
              <a:rPr lang="en-US" sz="1150" dirty="0">
                <a:solidFill>
                  <a:schemeClr val="tx1"/>
                </a:solidFill>
              </a:rPr>
              <a:t>Contacter une sage-femme ou une pharmacienne partenaire</a:t>
            </a:r>
            <a:endParaRPr lang="en-US" sz="1150" dirty="0"/>
          </a:p>
        </p:txBody>
      </p:sp>
      <p:sp>
        <p:nvSpPr>
          <p:cNvPr id="13" name="sem-1"/>
          <p:cNvSpPr/>
          <p:nvPr/>
        </p:nvSpPr>
        <p:spPr>
          <a:xfrm>
            <a:off x="3246120" y="1280160"/>
            <a:ext cx="2606040" cy="3154680"/>
          </a:xfrm>
          <a:prstGeom prst="roundRect">
            <a:avLst>
              <a:gd name="adj" fmla="val 2807"/>
            </a:avLst>
          </a:prstGeom>
          <a:solidFill>
            <a:srgbClr val="FFFFFF"/>
          </a:solidFill>
          <a:ln/>
        </p:spPr>
      </p:sp>
      <p:sp>
        <p:nvSpPr>
          <p:cNvPr id="14" name="Shape 12"/>
          <p:cNvSpPr/>
          <p:nvPr/>
        </p:nvSpPr>
        <p:spPr>
          <a:xfrm>
            <a:off x="3246120" y="1280160"/>
            <a:ext cx="2606040" cy="73152"/>
          </a:xfrm>
          <a:prstGeom prst="rect">
            <a:avLst/>
          </a:prstGeom>
          <a:solidFill>
            <a:schemeClr val="accent4"/>
          </a:solidFill>
          <a:ln/>
        </p:spPr>
      </p:sp>
      <p:sp>
        <p:nvSpPr>
          <p:cNvPr id="15" name="Text 13"/>
          <p:cNvSpPr txBox="1"/>
          <p:nvPr/>
        </p:nvSpPr>
        <p:spPr>
          <a:xfrm>
            <a:off x="3474720" y="15087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novembre</a:t>
            </a:r>
            <a:endParaRPr lang="en-US" sz="1500" dirty="0"/>
          </a:p>
        </p:txBody>
      </p:sp>
      <p:sp>
        <p:nvSpPr>
          <p:cNvPr id="16" name="Shape 14"/>
          <p:cNvSpPr/>
          <p:nvPr/>
        </p:nvSpPr>
        <p:spPr>
          <a:xfrm>
            <a:off x="3474720" y="2020824"/>
            <a:ext cx="137160" cy="137160"/>
          </a:xfrm>
          <a:prstGeom prst="ellipse">
            <a:avLst/>
          </a:prstGeom>
          <a:solidFill>
            <a:schemeClr val="accent4"/>
          </a:solidFill>
          <a:ln/>
        </p:spPr>
      </p:sp>
      <p:sp>
        <p:nvSpPr>
          <p:cNvPr id="17" name="Text 15"/>
          <p:cNvSpPr txBox="1"/>
          <p:nvPr/>
        </p:nvSpPr>
        <p:spPr>
          <a:xfrm>
            <a:off x="3749040" y="1965960"/>
            <a:ext cx="1965960" cy="777240"/>
          </a:xfrm>
          <a:prstGeom prst="rect">
            <a:avLst/>
          </a:prstGeom>
          <a:noFill/>
          <a:ln/>
        </p:spPr>
        <p:txBody>
          <a:bodyPr wrap="square" lIns="0" tIns="0" rIns="0" bIns="0" rtlCol="0" anchor="t"/>
          <a:lstStyle/>
          <a:p>
            <a:pPr indent="0" marL="0">
              <a:buNone/>
            </a:pPr>
            <a:r>
              <a:rPr lang="en-US" sz="1150" dirty="0">
                <a:solidFill>
                  <a:schemeClr val="tx1"/>
                </a:solidFill>
              </a:rPr>
              <a:t>Mener 15 à 20 entretiens avec des femmes de 20 à 35 ans</a:t>
            </a:r>
            <a:endParaRPr lang="en-US" sz="1150" dirty="0"/>
          </a:p>
        </p:txBody>
      </p:sp>
      <p:sp>
        <p:nvSpPr>
          <p:cNvPr id="18" name="Shape 16"/>
          <p:cNvSpPr/>
          <p:nvPr/>
        </p:nvSpPr>
        <p:spPr>
          <a:xfrm>
            <a:off x="3474720" y="2798064"/>
            <a:ext cx="137160" cy="137160"/>
          </a:xfrm>
          <a:prstGeom prst="ellipse">
            <a:avLst/>
          </a:prstGeom>
          <a:solidFill>
            <a:schemeClr val="accent4"/>
          </a:solidFill>
          <a:ln/>
        </p:spPr>
      </p:sp>
      <p:sp>
        <p:nvSpPr>
          <p:cNvPr id="19" name="Text 17"/>
          <p:cNvSpPr txBox="1"/>
          <p:nvPr/>
        </p:nvSpPr>
        <p:spPr>
          <a:xfrm>
            <a:off x="3749040" y="2743200"/>
            <a:ext cx="1965960" cy="777240"/>
          </a:xfrm>
          <a:prstGeom prst="rect">
            <a:avLst/>
          </a:prstGeom>
          <a:noFill/>
          <a:ln/>
        </p:spPr>
        <p:txBody>
          <a:bodyPr wrap="square" lIns="0" tIns="0" rIns="0" bIns="0" rtlCol="0" anchor="t"/>
          <a:lstStyle/>
          <a:p>
            <a:pPr indent="0" marL="0">
              <a:buNone/>
            </a:pPr>
            <a:r>
              <a:rPr lang="en-US" sz="1150" dirty="0">
                <a:solidFill>
                  <a:schemeClr val="tx1"/>
                </a:solidFill>
              </a:rPr>
              <a:t>Diffuser le questionnaire (objectif : 150 réponses)</a:t>
            </a:r>
            <a:endParaRPr lang="en-US" sz="1150" dirty="0"/>
          </a:p>
        </p:txBody>
      </p:sp>
      <p:sp>
        <p:nvSpPr>
          <p:cNvPr id="20" name="Shape 18"/>
          <p:cNvSpPr/>
          <p:nvPr/>
        </p:nvSpPr>
        <p:spPr>
          <a:xfrm>
            <a:off x="3474720" y="3575304"/>
            <a:ext cx="137160" cy="137160"/>
          </a:xfrm>
          <a:prstGeom prst="ellipse">
            <a:avLst/>
          </a:prstGeom>
          <a:solidFill>
            <a:schemeClr val="accent4"/>
          </a:solidFill>
          <a:ln/>
        </p:spPr>
      </p:sp>
      <p:sp>
        <p:nvSpPr>
          <p:cNvPr id="21" name="Text 19"/>
          <p:cNvSpPr txBox="1"/>
          <p:nvPr/>
        </p:nvSpPr>
        <p:spPr>
          <a:xfrm>
            <a:off x="3749040" y="3520440"/>
            <a:ext cx="1965960" cy="777240"/>
          </a:xfrm>
          <a:prstGeom prst="rect">
            <a:avLst/>
          </a:prstGeom>
          <a:noFill/>
          <a:ln/>
        </p:spPr>
        <p:txBody>
          <a:bodyPr wrap="square" lIns="0" tIns="0" rIns="0" bIns="0" rtlCol="0" anchor="t"/>
          <a:lstStyle/>
          <a:p>
            <a:pPr indent="0" marL="0">
              <a:buNone/>
            </a:pPr>
            <a:r>
              <a:rPr lang="en-US" sz="1150" dirty="0">
                <a:solidFill>
                  <a:schemeClr val="tx1"/>
                </a:solidFill>
              </a:rPr>
              <a:t>Échanger avec un expert réglementaire sur les formules et allégations</a:t>
            </a:r>
            <a:endParaRPr lang="en-US" sz="1150" dirty="0"/>
          </a:p>
        </p:txBody>
      </p:sp>
      <p:sp>
        <p:nvSpPr>
          <p:cNvPr id="22" name="sem-2"/>
          <p:cNvSpPr/>
          <p:nvPr/>
        </p:nvSpPr>
        <p:spPr>
          <a:xfrm>
            <a:off x="6035040" y="1280160"/>
            <a:ext cx="2606040" cy="3154680"/>
          </a:xfrm>
          <a:prstGeom prst="roundRect">
            <a:avLst>
              <a:gd name="adj" fmla="val 2807"/>
            </a:avLst>
          </a:prstGeom>
          <a:solidFill>
            <a:srgbClr val="FFFFFF"/>
          </a:solidFill>
          <a:ln/>
        </p:spPr>
      </p:sp>
      <p:sp>
        <p:nvSpPr>
          <p:cNvPr id="23" name="Shape 21"/>
          <p:cNvSpPr/>
          <p:nvPr/>
        </p:nvSpPr>
        <p:spPr>
          <a:xfrm>
            <a:off x="6035040" y="1280160"/>
            <a:ext cx="2606040" cy="73152"/>
          </a:xfrm>
          <a:prstGeom prst="rect">
            <a:avLst/>
          </a:prstGeom>
          <a:solidFill>
            <a:schemeClr val="accent2"/>
          </a:solidFill>
          <a:ln/>
        </p:spPr>
      </p:sp>
      <p:sp>
        <p:nvSpPr>
          <p:cNvPr id="24" name="Text 22"/>
          <p:cNvSpPr txBox="1"/>
          <p:nvPr/>
        </p:nvSpPr>
        <p:spPr>
          <a:xfrm>
            <a:off x="6263640" y="1508760"/>
            <a:ext cx="2194560" cy="320040"/>
          </a:xfrm>
          <a:prstGeom prst="rect">
            <a:avLst/>
          </a:prstGeom>
          <a:noFill/>
          <a:ln/>
        </p:spPr>
        <p:txBody>
          <a:bodyPr wrap="square" lIns="0" tIns="0" rIns="0" bIns="0" rtlCol="0" anchor="t"/>
          <a:lstStyle/>
          <a:p>
            <a:pPr indent="0" marL="0">
              <a:buNone/>
            </a:pPr>
            <a:r>
              <a:rPr lang="en-US" sz="1500" b="1" dirty="0">
                <a:solidFill>
                  <a:schemeClr val="tx1"/>
                </a:solidFill>
              </a:rPr>
              <a:t>décembre</a:t>
            </a:r>
            <a:endParaRPr lang="en-US" sz="1500" dirty="0"/>
          </a:p>
        </p:txBody>
      </p:sp>
      <p:sp>
        <p:nvSpPr>
          <p:cNvPr id="25" name="Shape 23"/>
          <p:cNvSpPr/>
          <p:nvPr/>
        </p:nvSpPr>
        <p:spPr>
          <a:xfrm>
            <a:off x="6263640" y="2020824"/>
            <a:ext cx="137160" cy="137160"/>
          </a:xfrm>
          <a:prstGeom prst="ellipse">
            <a:avLst/>
          </a:prstGeom>
          <a:solidFill>
            <a:schemeClr val="accent2"/>
          </a:solidFill>
          <a:ln/>
        </p:spPr>
      </p:sp>
      <p:sp>
        <p:nvSpPr>
          <p:cNvPr id="26" name="Text 24"/>
          <p:cNvSpPr txBox="1"/>
          <p:nvPr/>
        </p:nvSpPr>
        <p:spPr>
          <a:xfrm>
            <a:off x="6537960" y="1965960"/>
            <a:ext cx="1965960" cy="777240"/>
          </a:xfrm>
          <a:prstGeom prst="rect">
            <a:avLst/>
          </a:prstGeom>
          <a:noFill/>
          <a:ln/>
        </p:spPr>
        <p:txBody>
          <a:bodyPr wrap="square" lIns="0" tIns="0" rIns="0" bIns="0" rtlCol="0" anchor="t"/>
          <a:lstStyle/>
          <a:p>
            <a:pPr indent="0" marL="0">
              <a:buNone/>
            </a:pPr>
            <a:r>
              <a:rPr lang="en-US" sz="1150" dirty="0">
                <a:solidFill>
                  <a:schemeClr val="tx1"/>
                </a:solidFill>
              </a:rPr>
              <a:t>Analyser les résultats, ajuster l'offre et le prix</a:t>
            </a:r>
            <a:endParaRPr lang="en-US" sz="1150" dirty="0"/>
          </a:p>
        </p:txBody>
      </p:sp>
      <p:sp>
        <p:nvSpPr>
          <p:cNvPr id="27" name="Shape 25"/>
          <p:cNvSpPr/>
          <p:nvPr/>
        </p:nvSpPr>
        <p:spPr>
          <a:xfrm>
            <a:off x="6263640" y="2798064"/>
            <a:ext cx="137160" cy="137160"/>
          </a:xfrm>
          <a:prstGeom prst="ellipse">
            <a:avLst/>
          </a:prstGeom>
          <a:solidFill>
            <a:schemeClr val="accent2"/>
          </a:solidFill>
          <a:ln/>
        </p:spPr>
      </p:sp>
      <p:sp>
        <p:nvSpPr>
          <p:cNvPr id="28" name="Text 26"/>
          <p:cNvSpPr txBox="1"/>
          <p:nvPr/>
        </p:nvSpPr>
        <p:spPr>
          <a:xfrm>
            <a:off x="6537960" y="2743200"/>
            <a:ext cx="1965960" cy="777240"/>
          </a:xfrm>
          <a:prstGeom prst="rect">
            <a:avLst/>
          </a:prstGeom>
          <a:noFill/>
          <a:ln/>
        </p:spPr>
        <p:txBody>
          <a:bodyPr wrap="square" lIns="0" tIns="0" rIns="0" bIns="0" rtlCol="0" anchor="t"/>
          <a:lstStyle/>
          <a:p>
            <a:pPr indent="0" marL="0">
              <a:buNone/>
            </a:pPr>
            <a:r>
              <a:rPr lang="en-US" sz="1150" dirty="0">
                <a:solidFill>
                  <a:schemeClr val="tx1"/>
                </a:solidFill>
              </a:rPr>
              <a:t>Comparer les devis, choisir le fabricant</a:t>
            </a:r>
            <a:endParaRPr lang="en-US" sz="1150" dirty="0"/>
          </a:p>
        </p:txBody>
      </p:sp>
      <p:sp>
        <p:nvSpPr>
          <p:cNvPr id="29" name="Shape 27"/>
          <p:cNvSpPr/>
          <p:nvPr/>
        </p:nvSpPr>
        <p:spPr>
          <a:xfrm>
            <a:off x="6263640" y="3575304"/>
            <a:ext cx="137160" cy="137160"/>
          </a:xfrm>
          <a:prstGeom prst="ellipse">
            <a:avLst/>
          </a:prstGeom>
          <a:solidFill>
            <a:schemeClr val="accent2"/>
          </a:solidFill>
          <a:ln/>
        </p:spPr>
      </p:sp>
      <p:sp>
        <p:nvSpPr>
          <p:cNvPr id="30" name="Text 28"/>
          <p:cNvSpPr txBox="1"/>
          <p:nvPr/>
        </p:nvSpPr>
        <p:spPr>
          <a:xfrm>
            <a:off x="6537960" y="3520440"/>
            <a:ext cx="1965960" cy="777240"/>
          </a:xfrm>
          <a:prstGeom prst="rect">
            <a:avLst/>
          </a:prstGeom>
          <a:noFill/>
          <a:ln/>
        </p:spPr>
        <p:txBody>
          <a:bodyPr wrap="square" lIns="0" tIns="0" rIns="0" bIns="0" rtlCol="0" anchor="t"/>
          <a:lstStyle/>
          <a:p>
            <a:pPr indent="0" marL="0">
              <a:buNone/>
            </a:pPr>
            <a:r>
              <a:rPr lang="en-US" sz="1150" dirty="0">
                <a:solidFill>
                  <a:schemeClr val="tx1"/>
                </a:solidFill>
              </a:rPr>
              <a:t>Commander les premiers échantillons</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D'ICI LA SOUTENANCE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janvier → </a:t>
            </a:r>
            <a:pPr algn="l" indent="0" marL="0">
              <a:buNone/>
            </a:pPr>
            <a:r>
              <a:rPr lang="en-US" sz="2800" i="1" dirty="0">
                <a:solidFill>
                  <a:schemeClr val="tx1"/>
                </a:solidFill>
                <a:latin typeface="Cambria" pitchFamily="34" charset="0"/>
                <a:ea typeface="Cambria" pitchFamily="34" charset="-122"/>
                <a:cs typeface="Cambria" pitchFamily="34" charset="-120"/>
              </a:rPr>
              <a:t>fin mars</a:t>
            </a:r>
            <a:endParaRPr lang="en-US" sz="2800" dirty="0"/>
          </a:p>
        </p:txBody>
      </p:sp>
      <p:sp>
        <p:nvSpPr>
          <p:cNvPr id="4" name="ms-0"/>
          <p:cNvSpPr/>
          <p:nvPr/>
        </p:nvSpPr>
        <p:spPr>
          <a:xfrm>
            <a:off x="457200" y="1280160"/>
            <a:ext cx="8229600" cy="694944"/>
          </a:xfrm>
          <a:prstGeom prst="roundRect">
            <a:avLst>
              <a:gd name="adj" fmla="val 10526"/>
            </a:avLst>
          </a:prstGeom>
          <a:solidFill>
            <a:srgbClr val="FFFFFF"/>
          </a:solidFill>
          <a:ln/>
        </p:spPr>
      </p:sp>
      <p:sp>
        <p:nvSpPr>
          <p:cNvPr id="5" name="Shape 3"/>
          <p:cNvSpPr/>
          <p:nvPr/>
        </p:nvSpPr>
        <p:spPr>
          <a:xfrm>
            <a:off x="457200" y="1280160"/>
            <a:ext cx="73152" cy="694944"/>
          </a:xfrm>
          <a:prstGeom prst="rect">
            <a:avLst/>
          </a:prstGeom>
          <a:solidFill>
            <a:schemeClr val="accent4"/>
          </a:solidFill>
          <a:ln/>
        </p:spPr>
      </p:sp>
      <p:sp>
        <p:nvSpPr>
          <p:cNvPr id="6" name="Text 4"/>
          <p:cNvSpPr txBox="1"/>
          <p:nvPr/>
        </p:nvSpPr>
        <p:spPr>
          <a:xfrm>
            <a:off x="731520" y="1280160"/>
            <a:ext cx="1371600" cy="694944"/>
          </a:xfrm>
          <a:prstGeom prst="rect">
            <a:avLst/>
          </a:prstGeom>
          <a:noFill/>
          <a:ln/>
        </p:spPr>
        <p:txBody>
          <a:bodyPr wrap="square" lIns="0" tIns="0" rIns="0" bIns="0" rtlCol="0" anchor="ctr"/>
          <a:lstStyle/>
          <a:p>
            <a:pPr indent="0" marL="0">
              <a:buNone/>
            </a:pPr>
            <a:r>
              <a:rPr lang="en-US" sz="1000" b="1" spc="100" kern="0" dirty="0">
                <a:solidFill>
                  <a:schemeClr val="tx2"/>
                </a:solidFill>
              </a:rPr>
              <a:t>JANVIER</a:t>
            </a:r>
            <a:endParaRPr lang="en-US" sz="1000" dirty="0"/>
          </a:p>
        </p:txBody>
      </p:sp>
      <p:sp>
        <p:nvSpPr>
          <p:cNvPr id="7" name="Text 5"/>
          <p:cNvSpPr txBox="1"/>
          <p:nvPr/>
        </p:nvSpPr>
        <p:spPr>
          <a:xfrm>
            <a:off x="2148840" y="1280160"/>
            <a:ext cx="2103120" cy="694944"/>
          </a:xfrm>
          <a:prstGeom prst="rect">
            <a:avLst/>
          </a:prstGeom>
          <a:noFill/>
          <a:ln/>
        </p:spPr>
        <p:txBody>
          <a:bodyPr wrap="square" lIns="0" tIns="0" rIns="0" bIns="0" rtlCol="0" anchor="ctr"/>
          <a:lstStyle/>
          <a:p>
            <a:pPr indent="0" marL="0">
              <a:buNone/>
            </a:pPr>
            <a:r>
              <a:rPr lang="en-US" sz="1400" b="1" dirty="0">
                <a:solidFill>
                  <a:schemeClr val="tx1"/>
                </a:solidFill>
              </a:rPr>
              <a:t>Prototype et tests</a:t>
            </a:r>
            <a:endParaRPr lang="en-US" sz="1400" dirty="0"/>
          </a:p>
        </p:txBody>
      </p:sp>
      <p:sp>
        <p:nvSpPr>
          <p:cNvPr id="8" name="Text 6"/>
          <p:cNvSpPr txBox="1"/>
          <p:nvPr/>
        </p:nvSpPr>
        <p:spPr>
          <a:xfrm>
            <a:off x="4206240" y="1280160"/>
            <a:ext cx="4297680" cy="694944"/>
          </a:xfrm>
          <a:prstGeom prst="rect">
            <a:avLst/>
          </a:prstGeom>
          <a:noFill/>
          <a:ln/>
        </p:spPr>
        <p:txBody>
          <a:bodyPr wrap="square" lIns="0" tIns="0" rIns="0" bIns="0" rtlCol="0" anchor="ctr"/>
          <a:lstStyle/>
          <a:p>
            <a:pPr indent="0" marL="0">
              <a:buNone/>
            </a:pPr>
            <a:r>
              <a:rPr lang="en-US" sz="1150" dirty="0">
                <a:solidFill>
                  <a:schemeClr val="tx2"/>
                </a:solidFill>
              </a:rPr>
              <a:t>Tests de goût et de dissolution sur les échantillons, avec un petit panel.</a:t>
            </a:r>
            <a:endParaRPr lang="en-US" sz="1150" dirty="0"/>
          </a:p>
        </p:txBody>
      </p:sp>
      <p:sp>
        <p:nvSpPr>
          <p:cNvPr id="9" name="ms-1"/>
          <p:cNvSpPr/>
          <p:nvPr/>
        </p:nvSpPr>
        <p:spPr>
          <a:xfrm>
            <a:off x="457200" y="2066544"/>
            <a:ext cx="8229600" cy="694944"/>
          </a:xfrm>
          <a:prstGeom prst="roundRect">
            <a:avLst>
              <a:gd name="adj" fmla="val 10526"/>
            </a:avLst>
          </a:prstGeom>
          <a:solidFill>
            <a:srgbClr val="FFFFFF"/>
          </a:solidFill>
          <a:ln/>
        </p:spPr>
      </p:sp>
      <p:sp>
        <p:nvSpPr>
          <p:cNvPr id="10" name="Shape 8"/>
          <p:cNvSpPr/>
          <p:nvPr/>
        </p:nvSpPr>
        <p:spPr>
          <a:xfrm>
            <a:off x="457200" y="2066544"/>
            <a:ext cx="73152" cy="694944"/>
          </a:xfrm>
          <a:prstGeom prst="rect">
            <a:avLst/>
          </a:prstGeom>
          <a:solidFill>
            <a:schemeClr val="accent1"/>
          </a:solidFill>
          <a:ln/>
        </p:spPr>
      </p:sp>
      <p:sp>
        <p:nvSpPr>
          <p:cNvPr id="11" name="Text 9"/>
          <p:cNvSpPr txBox="1"/>
          <p:nvPr/>
        </p:nvSpPr>
        <p:spPr>
          <a:xfrm>
            <a:off x="731520" y="2066544"/>
            <a:ext cx="1371600" cy="694944"/>
          </a:xfrm>
          <a:prstGeom prst="rect">
            <a:avLst/>
          </a:prstGeom>
          <a:noFill/>
          <a:ln/>
        </p:spPr>
        <p:txBody>
          <a:bodyPr wrap="square" lIns="0" tIns="0" rIns="0" bIns="0" rtlCol="0" anchor="ctr"/>
          <a:lstStyle/>
          <a:p>
            <a:pPr indent="0" marL="0">
              <a:buNone/>
            </a:pPr>
            <a:r>
              <a:rPr lang="en-US" sz="1000" b="1" spc="100" kern="0" dirty="0">
                <a:solidFill>
                  <a:schemeClr val="tx2"/>
                </a:solidFill>
              </a:rPr>
              <a:t>FÉVRIER</a:t>
            </a:r>
            <a:endParaRPr lang="en-US" sz="1000" dirty="0"/>
          </a:p>
        </p:txBody>
      </p:sp>
      <p:sp>
        <p:nvSpPr>
          <p:cNvPr id="12" name="Text 10"/>
          <p:cNvSpPr txBox="1"/>
          <p:nvPr/>
        </p:nvSpPr>
        <p:spPr>
          <a:xfrm>
            <a:off x="2148840" y="2066544"/>
            <a:ext cx="2103120" cy="694944"/>
          </a:xfrm>
          <a:prstGeom prst="rect">
            <a:avLst/>
          </a:prstGeom>
          <a:noFill/>
          <a:ln/>
        </p:spPr>
        <p:txBody>
          <a:bodyPr wrap="square" lIns="0" tIns="0" rIns="0" bIns="0" rtlCol="0" anchor="ctr"/>
          <a:lstStyle/>
          <a:p>
            <a:pPr indent="0" marL="0">
              <a:buNone/>
            </a:pPr>
            <a:r>
              <a:rPr lang="en-US" sz="1400" b="1" dirty="0">
                <a:solidFill>
                  <a:schemeClr val="tx1"/>
                </a:solidFill>
              </a:rPr>
              <a:t>Test du MVP</a:t>
            </a:r>
            <a:endParaRPr lang="en-US" sz="1400" dirty="0"/>
          </a:p>
        </p:txBody>
      </p:sp>
      <p:sp>
        <p:nvSpPr>
          <p:cNvPr id="13" name="Text 11"/>
          <p:cNvSpPr txBox="1"/>
          <p:nvPr/>
        </p:nvSpPr>
        <p:spPr>
          <a:xfrm>
            <a:off x="4206240" y="2066544"/>
            <a:ext cx="4297680" cy="694944"/>
          </a:xfrm>
          <a:prstGeom prst="rect">
            <a:avLst/>
          </a:prstGeom>
          <a:noFill/>
          <a:ln/>
        </p:spPr>
        <p:txBody>
          <a:bodyPr wrap="square" lIns="0" tIns="0" rIns="0" bIns="0" rtlCol="0" anchor="ctr"/>
          <a:lstStyle/>
          <a:p>
            <a:pPr indent="0" marL="0">
              <a:buNone/>
            </a:pPr>
            <a:r>
              <a:rPr lang="en-US" sz="1150" dirty="0">
                <a:solidFill>
                  <a:schemeClr val="tx2"/>
                </a:solidFill>
              </a:rPr>
              <a:t>Page de précommande luna, 2 ou 3 créatrices : mesurer la conversion (objectif ≥ 3 %).</a:t>
            </a:r>
            <a:endParaRPr lang="en-US" sz="1150" dirty="0"/>
          </a:p>
        </p:txBody>
      </p:sp>
      <p:sp>
        <p:nvSpPr>
          <p:cNvPr id="14" name="ms-2"/>
          <p:cNvSpPr/>
          <p:nvPr/>
        </p:nvSpPr>
        <p:spPr>
          <a:xfrm>
            <a:off x="457200" y="2852928"/>
            <a:ext cx="8229600" cy="694944"/>
          </a:xfrm>
          <a:prstGeom prst="roundRect">
            <a:avLst>
              <a:gd name="adj" fmla="val 10526"/>
            </a:avLst>
          </a:prstGeom>
          <a:solidFill>
            <a:srgbClr val="FFFFFF"/>
          </a:solidFill>
          <a:ln/>
        </p:spPr>
      </p:sp>
      <p:sp>
        <p:nvSpPr>
          <p:cNvPr id="15" name="Shape 13"/>
          <p:cNvSpPr/>
          <p:nvPr/>
        </p:nvSpPr>
        <p:spPr>
          <a:xfrm>
            <a:off x="457200" y="2852928"/>
            <a:ext cx="73152" cy="694944"/>
          </a:xfrm>
          <a:prstGeom prst="rect">
            <a:avLst/>
          </a:prstGeom>
          <a:solidFill>
            <a:schemeClr val="accent3"/>
          </a:solidFill>
          <a:ln/>
        </p:spPr>
      </p:sp>
      <p:sp>
        <p:nvSpPr>
          <p:cNvPr id="16" name="Text 14"/>
          <p:cNvSpPr txBox="1"/>
          <p:nvPr/>
        </p:nvSpPr>
        <p:spPr>
          <a:xfrm>
            <a:off x="731520" y="2852928"/>
            <a:ext cx="1371600" cy="694944"/>
          </a:xfrm>
          <a:prstGeom prst="rect">
            <a:avLst/>
          </a:prstGeom>
          <a:noFill/>
          <a:ln/>
        </p:spPr>
        <p:txBody>
          <a:bodyPr wrap="square" lIns="0" tIns="0" rIns="0" bIns="0" rtlCol="0" anchor="ctr"/>
          <a:lstStyle/>
          <a:p>
            <a:pPr indent="0" marL="0">
              <a:buNone/>
            </a:pPr>
            <a:r>
              <a:rPr lang="en-US" sz="1000" b="1" spc="100" kern="0" dirty="0">
                <a:solidFill>
                  <a:schemeClr val="tx2"/>
                </a:solidFill>
              </a:rPr>
              <a:t>FÉV. → MARS</a:t>
            </a:r>
            <a:endParaRPr lang="en-US" sz="1000" dirty="0"/>
          </a:p>
        </p:txBody>
      </p:sp>
      <p:sp>
        <p:nvSpPr>
          <p:cNvPr id="17" name="Text 15"/>
          <p:cNvSpPr txBox="1"/>
          <p:nvPr/>
        </p:nvSpPr>
        <p:spPr>
          <a:xfrm>
            <a:off x="2148840" y="2852928"/>
            <a:ext cx="2103120" cy="694944"/>
          </a:xfrm>
          <a:prstGeom prst="rect">
            <a:avLst/>
          </a:prstGeom>
          <a:noFill/>
          <a:ln/>
        </p:spPr>
        <p:txBody>
          <a:bodyPr wrap="square" lIns="0" tIns="0" rIns="0" bIns="0" rtlCol="0" anchor="ctr"/>
          <a:lstStyle/>
          <a:p>
            <a:pPr indent="0" marL="0">
              <a:buNone/>
            </a:pPr>
            <a:r>
              <a:rPr lang="en-US" sz="1400" b="1" dirty="0">
                <a:solidFill>
                  <a:schemeClr val="tx1"/>
                </a:solidFill>
              </a:rPr>
              <a:t>Business plan</a:t>
            </a:r>
            <a:endParaRPr lang="en-US" sz="1400" dirty="0"/>
          </a:p>
        </p:txBody>
      </p:sp>
      <p:sp>
        <p:nvSpPr>
          <p:cNvPr id="18" name="Text 16"/>
          <p:cNvSpPr txBox="1"/>
          <p:nvPr/>
        </p:nvSpPr>
        <p:spPr>
          <a:xfrm>
            <a:off x="4206240" y="2852928"/>
            <a:ext cx="4297680" cy="694944"/>
          </a:xfrm>
          <a:prstGeom prst="rect">
            <a:avLst/>
          </a:prstGeom>
          <a:noFill/>
          <a:ln/>
        </p:spPr>
        <p:txBody>
          <a:bodyPr wrap="square" lIns="0" tIns="0" rIns="0" bIns="0" rtlCol="0" anchor="ctr"/>
          <a:lstStyle/>
          <a:p>
            <a:pPr indent="0" marL="0">
              <a:buNone/>
            </a:pPr>
            <a:r>
              <a:rPr lang="en-US" sz="1150" dirty="0">
                <a:solidFill>
                  <a:schemeClr val="tx2"/>
                </a:solidFill>
              </a:rPr>
              <a:t>Coûts réels du fabricant, prix, marge, prévisionnel sur 3 ans, financement.</a:t>
            </a:r>
            <a:endParaRPr lang="en-US" sz="1150" dirty="0"/>
          </a:p>
        </p:txBody>
      </p:sp>
      <p:sp>
        <p:nvSpPr>
          <p:cNvPr id="19" name="ms-3"/>
          <p:cNvSpPr/>
          <p:nvPr/>
        </p:nvSpPr>
        <p:spPr>
          <a:xfrm>
            <a:off x="457200" y="3639312"/>
            <a:ext cx="8229600" cy="694944"/>
          </a:xfrm>
          <a:prstGeom prst="roundRect">
            <a:avLst>
              <a:gd name="adj" fmla="val 10526"/>
            </a:avLst>
          </a:prstGeom>
          <a:solidFill>
            <a:srgbClr val="FFFFFF"/>
          </a:solidFill>
          <a:ln/>
        </p:spPr>
      </p:sp>
      <p:sp>
        <p:nvSpPr>
          <p:cNvPr id="20" name="Shape 18"/>
          <p:cNvSpPr/>
          <p:nvPr/>
        </p:nvSpPr>
        <p:spPr>
          <a:xfrm>
            <a:off x="457200" y="3639312"/>
            <a:ext cx="73152" cy="694944"/>
          </a:xfrm>
          <a:prstGeom prst="rect">
            <a:avLst/>
          </a:prstGeom>
          <a:solidFill>
            <a:schemeClr val="tx1"/>
          </a:solidFill>
          <a:ln/>
        </p:spPr>
      </p:sp>
      <p:sp>
        <p:nvSpPr>
          <p:cNvPr id="21" name="Text 19"/>
          <p:cNvSpPr txBox="1"/>
          <p:nvPr/>
        </p:nvSpPr>
        <p:spPr>
          <a:xfrm>
            <a:off x="731520" y="3639312"/>
            <a:ext cx="1371600" cy="694944"/>
          </a:xfrm>
          <a:prstGeom prst="rect">
            <a:avLst/>
          </a:prstGeom>
          <a:noFill/>
          <a:ln/>
        </p:spPr>
        <p:txBody>
          <a:bodyPr wrap="square" lIns="0" tIns="0" rIns="0" bIns="0" rtlCol="0" anchor="ctr"/>
          <a:lstStyle/>
          <a:p>
            <a:pPr indent="0" marL="0">
              <a:buNone/>
            </a:pPr>
            <a:r>
              <a:rPr lang="en-US" sz="1000" b="1" spc="100" kern="0" dirty="0">
                <a:solidFill>
                  <a:schemeClr val="tx2"/>
                </a:solidFill>
              </a:rPr>
              <a:t>FIN MARS</a:t>
            </a:r>
            <a:endParaRPr lang="en-US" sz="1000" dirty="0"/>
          </a:p>
        </p:txBody>
      </p:sp>
      <p:sp>
        <p:nvSpPr>
          <p:cNvPr id="22" name="Text 20"/>
          <p:cNvSpPr txBox="1"/>
          <p:nvPr/>
        </p:nvSpPr>
        <p:spPr>
          <a:xfrm>
            <a:off x="2148840" y="3639312"/>
            <a:ext cx="2103120" cy="694944"/>
          </a:xfrm>
          <a:prstGeom prst="rect">
            <a:avLst/>
          </a:prstGeom>
          <a:noFill/>
          <a:ln/>
        </p:spPr>
        <p:txBody>
          <a:bodyPr wrap="square" lIns="0" tIns="0" rIns="0" bIns="0" rtlCol="0" anchor="ctr"/>
          <a:lstStyle/>
          <a:p>
            <a:pPr indent="0" marL="0">
              <a:buNone/>
            </a:pPr>
            <a:r>
              <a:rPr lang="en-US" sz="1400" b="1" dirty="0">
                <a:solidFill>
                  <a:schemeClr val="tx1"/>
                </a:solidFill>
              </a:rPr>
              <a:t>Soutenance</a:t>
            </a:r>
            <a:endParaRPr lang="en-US" sz="1400" dirty="0"/>
          </a:p>
        </p:txBody>
      </p:sp>
      <p:sp>
        <p:nvSpPr>
          <p:cNvPr id="23" name="Text 21"/>
          <p:cNvSpPr txBox="1"/>
          <p:nvPr/>
        </p:nvSpPr>
        <p:spPr>
          <a:xfrm>
            <a:off x="4206240" y="3639312"/>
            <a:ext cx="4297680" cy="694944"/>
          </a:xfrm>
          <a:prstGeom prst="rect">
            <a:avLst/>
          </a:prstGeom>
          <a:noFill/>
          <a:ln/>
        </p:spPr>
        <p:txBody>
          <a:bodyPr wrap="square" lIns="0" tIns="0" rIns="0" bIns="0" rtlCol="0" anchor="ctr"/>
          <a:lstStyle/>
          <a:p>
            <a:pPr indent="0" marL="0">
              <a:buNone/>
            </a:pPr>
            <a:r>
              <a:rPr lang="en-US" sz="1150" dirty="0">
                <a:solidFill>
                  <a:schemeClr val="tx2"/>
                </a:solidFill>
              </a:rPr>
              <a:t>Présenter le projet, les résultats des tests et la décision de lancement.</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APRÈS LA SOUTENANCE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de la soutenance </a:t>
            </a:r>
            <a:pPr algn="l" indent="0" marL="0">
              <a:buNone/>
            </a:pPr>
            <a:r>
              <a:rPr lang="en-US" sz="2800" i="1" dirty="0">
                <a:solidFill>
                  <a:schemeClr val="tx1"/>
                </a:solidFill>
                <a:latin typeface="Cambria" pitchFamily="34" charset="0"/>
                <a:ea typeface="Cambria" pitchFamily="34" charset="-122"/>
                <a:cs typeface="Cambria" pitchFamily="34" charset="-120"/>
              </a:rPr>
              <a:t>au lancement</a:t>
            </a:r>
            <a:endParaRPr lang="en-US" sz="2800" dirty="0"/>
          </a:p>
        </p:txBody>
      </p:sp>
      <p:sp>
        <p:nvSpPr>
          <p:cNvPr id="4" name="Shape 2"/>
          <p:cNvSpPr/>
          <p:nvPr/>
        </p:nvSpPr>
        <p:spPr>
          <a:xfrm>
            <a:off x="685800" y="1600200"/>
            <a:ext cx="6309360" cy="0"/>
          </a:xfrm>
          <a:prstGeom prst="line">
            <a:avLst/>
          </a:prstGeom>
          <a:noFill/>
          <a:ln w="19050">
            <a:solidFill>
              <a:srgbClr val="D6CFC6"/>
            </a:solidFill>
            <a:prstDash val="solid"/>
          </a:ln>
        </p:spPr>
      </p:sp>
      <p:sp>
        <p:nvSpPr>
          <p:cNvPr id="5" name="apres-0"/>
          <p:cNvSpPr/>
          <p:nvPr/>
        </p:nvSpPr>
        <p:spPr>
          <a:xfrm>
            <a:off x="521208" y="1435608"/>
            <a:ext cx="329184" cy="329184"/>
          </a:xfrm>
          <a:prstGeom prst="ellipse">
            <a:avLst/>
          </a:prstGeom>
          <a:solidFill>
            <a:schemeClr val="accent1"/>
          </a:solidFill>
          <a:ln/>
        </p:spPr>
      </p:sp>
      <p:sp>
        <p:nvSpPr>
          <p:cNvPr id="6" name="Text 4"/>
          <p:cNvSpPr txBox="1"/>
          <p:nvPr/>
        </p:nvSpPr>
        <p:spPr>
          <a:xfrm>
            <a:off x="457200" y="1965960"/>
            <a:ext cx="1920240" cy="228600"/>
          </a:xfrm>
          <a:prstGeom prst="rect">
            <a:avLst/>
          </a:prstGeom>
          <a:noFill/>
          <a:ln/>
        </p:spPr>
        <p:txBody>
          <a:bodyPr wrap="square" lIns="0" tIns="0" rIns="0" bIns="0" rtlCol="0" anchor="t"/>
          <a:lstStyle/>
          <a:p>
            <a:pPr indent="0" marL="0">
              <a:buNone/>
            </a:pPr>
            <a:r>
              <a:rPr lang="en-US" sz="950" b="1" spc="100" kern="0" dirty="0">
                <a:solidFill>
                  <a:schemeClr val="tx2"/>
                </a:solidFill>
              </a:rPr>
              <a:t>AVRIL → MAI</a:t>
            </a:r>
            <a:endParaRPr lang="en-US" sz="950" dirty="0"/>
          </a:p>
        </p:txBody>
      </p:sp>
      <p:sp>
        <p:nvSpPr>
          <p:cNvPr id="7" name="Text 5"/>
          <p:cNvSpPr txBox="1"/>
          <p:nvPr/>
        </p:nvSpPr>
        <p:spPr>
          <a:xfrm>
            <a:off x="457200" y="2240280"/>
            <a:ext cx="1920240" cy="320040"/>
          </a:xfrm>
          <a:prstGeom prst="rect">
            <a:avLst/>
          </a:prstGeom>
          <a:noFill/>
          <a:ln/>
        </p:spPr>
        <p:txBody>
          <a:bodyPr wrap="square" lIns="0" tIns="0" rIns="0" bIns="0" rtlCol="0" anchor="t"/>
          <a:lstStyle/>
          <a:p>
            <a:pPr indent="0" marL="0">
              <a:buNone/>
            </a:pPr>
            <a:r>
              <a:rPr lang="en-US" sz="1600" b="1" dirty="0">
                <a:solidFill>
                  <a:schemeClr val="tx1"/>
                </a:solidFill>
              </a:rPr>
              <a:t>Structurer</a:t>
            </a:r>
            <a:endParaRPr lang="en-US" sz="1600" dirty="0"/>
          </a:p>
        </p:txBody>
      </p:sp>
      <p:sp>
        <p:nvSpPr>
          <p:cNvPr id="8" name="Text 6"/>
          <p:cNvSpPr txBox="1"/>
          <p:nvPr/>
        </p:nvSpPr>
        <p:spPr>
          <a:xfrm>
            <a:off x="457200" y="2606040"/>
            <a:ext cx="1828800" cy="1005840"/>
          </a:xfrm>
          <a:prstGeom prst="rect">
            <a:avLst/>
          </a:prstGeom>
          <a:noFill/>
          <a:ln/>
        </p:spPr>
        <p:txBody>
          <a:bodyPr wrap="square" lIns="0" tIns="0" rIns="0" bIns="0" rtlCol="0" anchor="t"/>
          <a:lstStyle/>
          <a:p>
            <a:pPr indent="0" marL="0">
              <a:buNone/>
            </a:pPr>
            <a:r>
              <a:rPr lang="en-US" sz="1150" dirty="0">
                <a:solidFill>
                  <a:schemeClr val="tx2"/>
                </a:solidFill>
              </a:rPr>
              <a:t>Création de la société, statut juridique, dépôt de la marque sip lab.</a:t>
            </a:r>
            <a:endParaRPr lang="en-US" sz="1150" dirty="0"/>
          </a:p>
        </p:txBody>
      </p:sp>
      <p:sp>
        <p:nvSpPr>
          <p:cNvPr id="9" name="apres-1"/>
          <p:cNvSpPr/>
          <p:nvPr/>
        </p:nvSpPr>
        <p:spPr>
          <a:xfrm>
            <a:off x="2624328" y="1435608"/>
            <a:ext cx="329184" cy="329184"/>
          </a:xfrm>
          <a:prstGeom prst="ellipse">
            <a:avLst/>
          </a:prstGeom>
          <a:solidFill>
            <a:schemeClr val="accent4"/>
          </a:solidFill>
          <a:ln/>
        </p:spPr>
      </p:sp>
      <p:sp>
        <p:nvSpPr>
          <p:cNvPr id="10" name="Text 8"/>
          <p:cNvSpPr txBox="1"/>
          <p:nvPr/>
        </p:nvSpPr>
        <p:spPr>
          <a:xfrm>
            <a:off x="2560320" y="1965960"/>
            <a:ext cx="1920240" cy="228600"/>
          </a:xfrm>
          <a:prstGeom prst="rect">
            <a:avLst/>
          </a:prstGeom>
          <a:noFill/>
          <a:ln/>
        </p:spPr>
        <p:txBody>
          <a:bodyPr wrap="square" lIns="0" tIns="0" rIns="0" bIns="0" rtlCol="0" anchor="t"/>
          <a:lstStyle/>
          <a:p>
            <a:pPr indent="0" marL="0">
              <a:buNone/>
            </a:pPr>
            <a:r>
              <a:rPr lang="en-US" sz="950" b="1" spc="100" kern="0" dirty="0">
                <a:solidFill>
                  <a:schemeClr val="tx2"/>
                </a:solidFill>
              </a:rPr>
              <a:t>MAI → JUIN</a:t>
            </a:r>
            <a:endParaRPr lang="en-US" sz="950" dirty="0"/>
          </a:p>
        </p:txBody>
      </p:sp>
      <p:sp>
        <p:nvSpPr>
          <p:cNvPr id="11" name="Text 9"/>
          <p:cNvSpPr txBox="1"/>
          <p:nvPr/>
        </p:nvSpPr>
        <p:spPr>
          <a:xfrm>
            <a:off x="2560320" y="2240280"/>
            <a:ext cx="1920240" cy="320040"/>
          </a:xfrm>
          <a:prstGeom prst="rect">
            <a:avLst/>
          </a:prstGeom>
          <a:noFill/>
          <a:ln/>
        </p:spPr>
        <p:txBody>
          <a:bodyPr wrap="square" lIns="0" tIns="0" rIns="0" bIns="0" rtlCol="0" anchor="t"/>
          <a:lstStyle/>
          <a:p>
            <a:pPr indent="0" marL="0">
              <a:buNone/>
            </a:pPr>
            <a:r>
              <a:rPr lang="en-US" sz="1600" b="1" dirty="0">
                <a:solidFill>
                  <a:schemeClr val="tx1"/>
                </a:solidFill>
              </a:rPr>
              <a:t>Financer</a:t>
            </a:r>
            <a:endParaRPr lang="en-US" sz="1600" dirty="0"/>
          </a:p>
        </p:txBody>
      </p:sp>
      <p:sp>
        <p:nvSpPr>
          <p:cNvPr id="12" name="Text 10"/>
          <p:cNvSpPr txBox="1"/>
          <p:nvPr/>
        </p:nvSpPr>
        <p:spPr>
          <a:xfrm>
            <a:off x="2560320" y="2606040"/>
            <a:ext cx="1828800" cy="1005840"/>
          </a:xfrm>
          <a:prstGeom prst="rect">
            <a:avLst/>
          </a:prstGeom>
          <a:noFill/>
          <a:ln/>
        </p:spPr>
        <p:txBody>
          <a:bodyPr wrap="square" lIns="0" tIns="0" rIns="0" bIns="0" rtlCol="0" anchor="t"/>
          <a:lstStyle/>
          <a:p>
            <a:pPr indent="0" marL="0">
              <a:buNone/>
            </a:pPr>
            <a:r>
              <a:rPr lang="en-US" sz="1150" dirty="0">
                <a:solidFill>
                  <a:schemeClr val="tx2"/>
                </a:solidFill>
              </a:rPr>
              <a:t>Apport personnel et love money, puis prêt d'honneur et aides à l'innovation à étudier.</a:t>
            </a:r>
            <a:endParaRPr lang="en-US" sz="1150" dirty="0"/>
          </a:p>
        </p:txBody>
      </p:sp>
      <p:sp>
        <p:nvSpPr>
          <p:cNvPr id="13" name="apres-2"/>
          <p:cNvSpPr/>
          <p:nvPr/>
        </p:nvSpPr>
        <p:spPr>
          <a:xfrm>
            <a:off x="4727448" y="1435608"/>
            <a:ext cx="329184" cy="329184"/>
          </a:xfrm>
          <a:prstGeom prst="ellipse">
            <a:avLst/>
          </a:prstGeom>
          <a:solidFill>
            <a:schemeClr val="accent2"/>
          </a:solidFill>
          <a:ln/>
        </p:spPr>
      </p:sp>
      <p:sp>
        <p:nvSpPr>
          <p:cNvPr id="14" name="Text 12"/>
          <p:cNvSpPr txBox="1"/>
          <p:nvPr/>
        </p:nvSpPr>
        <p:spPr>
          <a:xfrm>
            <a:off x="4663440" y="1965960"/>
            <a:ext cx="1920240" cy="228600"/>
          </a:xfrm>
          <a:prstGeom prst="rect">
            <a:avLst/>
          </a:prstGeom>
          <a:noFill/>
          <a:ln/>
        </p:spPr>
        <p:txBody>
          <a:bodyPr wrap="square" lIns="0" tIns="0" rIns="0" bIns="0" rtlCol="0" anchor="t"/>
          <a:lstStyle/>
          <a:p>
            <a:pPr indent="0" marL="0">
              <a:buNone/>
            </a:pPr>
            <a:r>
              <a:rPr lang="en-US" sz="950" b="1" spc="100" kern="0" dirty="0">
                <a:solidFill>
                  <a:schemeClr val="tx2"/>
                </a:solidFill>
              </a:rPr>
              <a:t>ÉTÉ 2027</a:t>
            </a:r>
            <a:endParaRPr lang="en-US" sz="950" dirty="0"/>
          </a:p>
        </p:txBody>
      </p:sp>
      <p:sp>
        <p:nvSpPr>
          <p:cNvPr id="15" name="Text 13"/>
          <p:cNvSpPr txBox="1"/>
          <p:nvPr/>
        </p:nvSpPr>
        <p:spPr>
          <a:xfrm>
            <a:off x="4663440" y="2240280"/>
            <a:ext cx="1920240" cy="320040"/>
          </a:xfrm>
          <a:prstGeom prst="rect">
            <a:avLst/>
          </a:prstGeom>
          <a:noFill/>
          <a:ln/>
        </p:spPr>
        <p:txBody>
          <a:bodyPr wrap="square" lIns="0" tIns="0" rIns="0" bIns="0" rtlCol="0" anchor="t"/>
          <a:lstStyle/>
          <a:p>
            <a:pPr indent="0" marL="0">
              <a:buNone/>
            </a:pPr>
            <a:r>
              <a:rPr lang="en-US" sz="1600" b="1" dirty="0">
                <a:solidFill>
                  <a:schemeClr val="tx1"/>
                </a:solidFill>
              </a:rPr>
              <a:t>Lancer luna</a:t>
            </a:r>
            <a:endParaRPr lang="en-US" sz="1600" dirty="0"/>
          </a:p>
        </p:txBody>
      </p:sp>
      <p:sp>
        <p:nvSpPr>
          <p:cNvPr id="16" name="Text 14"/>
          <p:cNvSpPr txBox="1"/>
          <p:nvPr/>
        </p:nvSpPr>
        <p:spPr>
          <a:xfrm>
            <a:off x="4663440" y="2606040"/>
            <a:ext cx="1828800" cy="1005840"/>
          </a:xfrm>
          <a:prstGeom prst="rect">
            <a:avLst/>
          </a:prstGeom>
          <a:noFill/>
          <a:ln/>
        </p:spPr>
        <p:txBody>
          <a:bodyPr wrap="square" lIns="0" tIns="0" rIns="0" bIns="0" rtlCol="0" anchor="t"/>
          <a:lstStyle/>
          <a:p>
            <a:pPr indent="0" marL="0">
              <a:buNone/>
            </a:pPr>
            <a:r>
              <a:rPr lang="en-US" sz="1150" dirty="0">
                <a:solidFill>
                  <a:schemeClr val="tx2"/>
                </a:solidFill>
              </a:rPr>
              <a:t>Première production, vente en ligne et abonnement, communauté et créatrices.</a:t>
            </a:r>
            <a:endParaRPr lang="en-US" sz="1150" dirty="0"/>
          </a:p>
        </p:txBody>
      </p:sp>
      <p:sp>
        <p:nvSpPr>
          <p:cNvPr id="17" name="apres-3"/>
          <p:cNvSpPr/>
          <p:nvPr/>
        </p:nvSpPr>
        <p:spPr>
          <a:xfrm>
            <a:off x="6830568" y="1435608"/>
            <a:ext cx="329184" cy="329184"/>
          </a:xfrm>
          <a:prstGeom prst="ellipse">
            <a:avLst/>
          </a:prstGeom>
          <a:solidFill>
            <a:schemeClr val="accent3"/>
          </a:solidFill>
          <a:ln/>
        </p:spPr>
      </p:sp>
      <p:sp>
        <p:nvSpPr>
          <p:cNvPr id="18" name="Text 16"/>
          <p:cNvSpPr txBox="1"/>
          <p:nvPr/>
        </p:nvSpPr>
        <p:spPr>
          <a:xfrm>
            <a:off x="6766560" y="1965960"/>
            <a:ext cx="1920240" cy="228600"/>
          </a:xfrm>
          <a:prstGeom prst="rect">
            <a:avLst/>
          </a:prstGeom>
          <a:noFill/>
          <a:ln/>
        </p:spPr>
        <p:txBody>
          <a:bodyPr wrap="square" lIns="0" tIns="0" rIns="0" bIns="0" rtlCol="0" anchor="t"/>
          <a:lstStyle/>
          <a:p>
            <a:pPr indent="0" marL="0">
              <a:buNone/>
            </a:pPr>
            <a:r>
              <a:rPr lang="en-US" sz="950" b="1" spc="100" kern="0" dirty="0">
                <a:solidFill>
                  <a:schemeClr val="tx2"/>
                </a:solidFill>
              </a:rPr>
              <a:t>ENSUITE</a:t>
            </a:r>
            <a:endParaRPr lang="en-US" sz="950" dirty="0"/>
          </a:p>
        </p:txBody>
      </p:sp>
      <p:sp>
        <p:nvSpPr>
          <p:cNvPr id="19" name="Text 17"/>
          <p:cNvSpPr txBox="1"/>
          <p:nvPr/>
        </p:nvSpPr>
        <p:spPr>
          <a:xfrm>
            <a:off x="6766560" y="2240280"/>
            <a:ext cx="1920240" cy="320040"/>
          </a:xfrm>
          <a:prstGeom prst="rect">
            <a:avLst/>
          </a:prstGeom>
          <a:noFill/>
          <a:ln/>
        </p:spPr>
        <p:txBody>
          <a:bodyPr wrap="square" lIns="0" tIns="0" rIns="0" bIns="0" rtlCol="0" anchor="t"/>
          <a:lstStyle/>
          <a:p>
            <a:pPr indent="0" marL="0">
              <a:buNone/>
            </a:pPr>
            <a:r>
              <a:rPr lang="en-US" sz="1600" b="1" dirty="0">
                <a:solidFill>
                  <a:schemeClr val="tx1"/>
                </a:solidFill>
              </a:rPr>
              <a:t>Élargir</a:t>
            </a:r>
            <a:endParaRPr lang="en-US" sz="1600" dirty="0"/>
          </a:p>
        </p:txBody>
      </p:sp>
      <p:sp>
        <p:nvSpPr>
          <p:cNvPr id="20" name="Text 18"/>
          <p:cNvSpPr txBox="1"/>
          <p:nvPr/>
        </p:nvSpPr>
        <p:spPr>
          <a:xfrm>
            <a:off x="6766560" y="2606040"/>
            <a:ext cx="1828800" cy="1005840"/>
          </a:xfrm>
          <a:prstGeom prst="rect">
            <a:avLst/>
          </a:prstGeom>
          <a:noFill/>
          <a:ln/>
        </p:spPr>
        <p:txBody>
          <a:bodyPr wrap="square" lIns="0" tIns="0" rIns="0" bIns="0" rtlCol="0" anchor="t"/>
          <a:lstStyle/>
          <a:p>
            <a:pPr indent="0" marL="0">
              <a:buNone/>
            </a:pPr>
            <a:r>
              <a:rPr lang="en-US" sz="1150" dirty="0">
                <a:solidFill>
                  <a:schemeClr val="tx2"/>
                </a:solidFill>
              </a:rPr>
              <a:t>Gamme active, puis mini et silver, et ouverture vers les pharmacies.</a:t>
            </a:r>
            <a:endParaRPr lang="en-US" sz="1150" dirty="0"/>
          </a:p>
        </p:txBody>
      </p:sp>
      <p:sp>
        <p:nvSpPr>
          <p:cNvPr id="21" name="condition"/>
          <p:cNvSpPr/>
          <p:nvPr/>
        </p:nvSpPr>
        <p:spPr>
          <a:xfrm>
            <a:off x="457200" y="3794760"/>
            <a:ext cx="8229600" cy="640080"/>
          </a:xfrm>
          <a:prstGeom prst="roundRect">
            <a:avLst>
              <a:gd name="adj" fmla="val 11429"/>
            </a:avLst>
          </a:prstGeom>
          <a:solidFill>
            <a:srgbClr val="ECE8E3"/>
          </a:solidFill>
          <a:ln/>
        </p:spPr>
      </p:sp>
      <p:sp>
        <p:nvSpPr>
          <p:cNvPr id="22" name="Text 20"/>
          <p:cNvSpPr txBox="1"/>
          <p:nvPr/>
        </p:nvSpPr>
        <p:spPr>
          <a:xfrm>
            <a:off x="731520" y="3794760"/>
            <a:ext cx="7772400" cy="640080"/>
          </a:xfrm>
          <a:prstGeom prst="rect">
            <a:avLst/>
          </a:prstGeom>
          <a:noFill/>
          <a:ln/>
        </p:spPr>
        <p:txBody>
          <a:bodyPr wrap="square" lIns="0" tIns="0" rIns="0" bIns="0" rtlCol="0" anchor="ctr"/>
          <a:lstStyle/>
          <a:p>
            <a:pPr indent="0" marL="0">
              <a:buNone/>
            </a:pPr>
            <a:r>
              <a:rPr lang="en-US" sz="1200" b="1" dirty="0">
                <a:solidFill>
                  <a:schemeClr val="tx1"/>
                </a:solidFill>
              </a:rPr>
              <a:t>Condition : </a:t>
            </a:r>
            <a:pPr indent="0" marL="0">
              <a:buNone/>
            </a:pPr>
            <a:r>
              <a:rPr lang="en-US" sz="1200" dirty="0">
                <a:solidFill>
                  <a:schemeClr val="tx1"/>
                </a:solidFill>
              </a:rPr>
              <a:t>le lancement dépend des résultats des tests (intérêt, prix, réachat) et du coût de production.</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POINTS DE VIGILANCE</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les risques </a:t>
            </a:r>
            <a:pPr algn="l" indent="0" marL="0">
              <a:buNone/>
            </a:pPr>
            <a:r>
              <a:rPr lang="en-US" sz="2800" i="1" dirty="0">
                <a:solidFill>
                  <a:schemeClr val="tx1"/>
                </a:solidFill>
                <a:latin typeface="Cambria" pitchFamily="34" charset="0"/>
                <a:ea typeface="Cambria" pitchFamily="34" charset="-122"/>
                <a:cs typeface="Cambria" pitchFamily="34" charset="-120"/>
              </a:rPr>
              <a:t>et ce dont j'ai besoin</a:t>
            </a:r>
            <a:endParaRPr lang="en-US" sz="2800" dirty="0"/>
          </a:p>
        </p:txBody>
      </p:sp>
      <p:sp>
        <p:nvSpPr>
          <p:cNvPr id="4" name="risques"/>
          <p:cNvSpPr/>
          <p:nvPr/>
        </p:nvSpPr>
        <p:spPr>
          <a:xfrm>
            <a:off x="457200" y="1280160"/>
            <a:ext cx="3977640" cy="3154680"/>
          </a:xfrm>
          <a:prstGeom prst="roundRect">
            <a:avLst>
              <a:gd name="adj" fmla="val 2319"/>
            </a:avLst>
          </a:prstGeom>
          <a:solidFill>
            <a:srgbClr val="FFFFFF"/>
          </a:solidFill>
          <a:ln/>
        </p:spPr>
      </p:sp>
      <p:sp>
        <p:nvSpPr>
          <p:cNvPr id="5" name="Text 3"/>
          <p:cNvSpPr txBox="1"/>
          <p:nvPr/>
        </p:nvSpPr>
        <p:spPr>
          <a:xfrm>
            <a:off x="731520" y="1463040"/>
            <a:ext cx="3474720" cy="320040"/>
          </a:xfrm>
          <a:prstGeom prst="rect">
            <a:avLst/>
          </a:prstGeom>
          <a:noFill/>
          <a:ln/>
        </p:spPr>
        <p:txBody>
          <a:bodyPr wrap="square" lIns="0" tIns="0" rIns="0" bIns="0" rtlCol="0" anchor="t"/>
          <a:lstStyle/>
          <a:p>
            <a:pPr indent="0" marL="0">
              <a:buNone/>
            </a:pPr>
            <a:r>
              <a:rPr lang="en-US" sz="1600" b="1" dirty="0">
                <a:solidFill>
                  <a:schemeClr val="tx1"/>
                </a:solidFill>
              </a:rPr>
              <a:t>risques identifiés</a:t>
            </a:r>
            <a:endParaRPr lang="en-US" sz="1600" dirty="0"/>
          </a:p>
        </p:txBody>
      </p:sp>
      <p:sp>
        <p:nvSpPr>
          <p:cNvPr id="6" name="Shape 4"/>
          <p:cNvSpPr/>
          <p:nvPr/>
        </p:nvSpPr>
        <p:spPr>
          <a:xfrm>
            <a:off x="731520" y="2020824"/>
            <a:ext cx="137160" cy="137160"/>
          </a:xfrm>
          <a:prstGeom prst="ellipse">
            <a:avLst/>
          </a:prstGeom>
          <a:solidFill>
            <a:schemeClr val="accent1"/>
          </a:solidFill>
          <a:ln/>
        </p:spPr>
      </p:sp>
      <p:sp>
        <p:nvSpPr>
          <p:cNvPr id="7" name="Text 5"/>
          <p:cNvSpPr txBox="1"/>
          <p:nvPr/>
        </p:nvSpPr>
        <p:spPr>
          <a:xfrm>
            <a:off x="1005840" y="1965960"/>
            <a:ext cx="3246120" cy="548640"/>
          </a:xfrm>
          <a:prstGeom prst="rect">
            <a:avLst/>
          </a:prstGeom>
          <a:noFill/>
          <a:ln/>
        </p:spPr>
        <p:txBody>
          <a:bodyPr wrap="square" lIns="0" tIns="0" rIns="0" bIns="0" rtlCol="0" anchor="t"/>
          <a:lstStyle/>
          <a:p>
            <a:pPr indent="0" marL="0">
              <a:buNone/>
            </a:pPr>
            <a:r>
              <a:rPr lang="en-US" sz="1200" dirty="0">
                <a:solidFill>
                  <a:schemeClr val="tx1"/>
                </a:solidFill>
              </a:rPr>
              <a:t>Pas de réponse ou refus du fabricant</a:t>
            </a:r>
            <a:endParaRPr lang="en-US" sz="1200" dirty="0"/>
          </a:p>
        </p:txBody>
      </p:sp>
      <p:sp>
        <p:nvSpPr>
          <p:cNvPr id="8" name="Shape 6"/>
          <p:cNvSpPr/>
          <p:nvPr/>
        </p:nvSpPr>
        <p:spPr>
          <a:xfrm>
            <a:off x="731520" y="2569464"/>
            <a:ext cx="137160" cy="137160"/>
          </a:xfrm>
          <a:prstGeom prst="ellipse">
            <a:avLst/>
          </a:prstGeom>
          <a:solidFill>
            <a:schemeClr val="accent1"/>
          </a:solidFill>
          <a:ln/>
        </p:spPr>
      </p:sp>
      <p:sp>
        <p:nvSpPr>
          <p:cNvPr id="9" name="Text 7"/>
          <p:cNvSpPr txBox="1"/>
          <p:nvPr/>
        </p:nvSpPr>
        <p:spPr>
          <a:xfrm>
            <a:off x="1005840" y="2514600"/>
            <a:ext cx="3246120" cy="548640"/>
          </a:xfrm>
          <a:prstGeom prst="rect">
            <a:avLst/>
          </a:prstGeom>
          <a:noFill/>
          <a:ln/>
        </p:spPr>
        <p:txBody>
          <a:bodyPr wrap="square" lIns="0" tIns="0" rIns="0" bIns="0" rtlCol="0" anchor="t"/>
          <a:lstStyle/>
          <a:p>
            <a:pPr indent="0" marL="0">
              <a:buNone/>
            </a:pPr>
            <a:r>
              <a:rPr lang="en-US" sz="1200" dirty="0">
                <a:solidFill>
                  <a:schemeClr val="tx1"/>
                </a:solidFill>
              </a:rPr>
              <a:t>Coût par paille trop élevé pour le prix visé</a:t>
            </a:r>
            <a:endParaRPr lang="en-US" sz="1200" dirty="0"/>
          </a:p>
        </p:txBody>
      </p:sp>
      <p:sp>
        <p:nvSpPr>
          <p:cNvPr id="10" name="Shape 8"/>
          <p:cNvSpPr/>
          <p:nvPr/>
        </p:nvSpPr>
        <p:spPr>
          <a:xfrm>
            <a:off x="731520" y="3118104"/>
            <a:ext cx="137160" cy="137160"/>
          </a:xfrm>
          <a:prstGeom prst="ellipse">
            <a:avLst/>
          </a:prstGeom>
          <a:solidFill>
            <a:schemeClr val="accent1"/>
          </a:solidFill>
          <a:ln/>
        </p:spPr>
      </p:sp>
      <p:sp>
        <p:nvSpPr>
          <p:cNvPr id="11" name="Text 9"/>
          <p:cNvSpPr txBox="1"/>
          <p:nvPr/>
        </p:nvSpPr>
        <p:spPr>
          <a:xfrm>
            <a:off x="1005840" y="3063240"/>
            <a:ext cx="3246120" cy="548640"/>
          </a:xfrm>
          <a:prstGeom prst="rect">
            <a:avLst/>
          </a:prstGeom>
          <a:noFill/>
          <a:ln/>
        </p:spPr>
        <p:txBody>
          <a:bodyPr wrap="square" lIns="0" tIns="0" rIns="0" bIns="0" rtlCol="0" anchor="t"/>
          <a:lstStyle/>
          <a:p>
            <a:pPr indent="0" marL="0">
              <a:buNone/>
            </a:pPr>
            <a:r>
              <a:rPr lang="en-US" sz="1200" dirty="0">
                <a:solidFill>
                  <a:schemeClr val="tx1"/>
                </a:solidFill>
              </a:rPr>
              <a:t>Réglementation des allégations santé</a:t>
            </a:r>
            <a:endParaRPr lang="en-US" sz="1200" dirty="0"/>
          </a:p>
        </p:txBody>
      </p:sp>
      <p:sp>
        <p:nvSpPr>
          <p:cNvPr id="12" name="Shape 10"/>
          <p:cNvSpPr/>
          <p:nvPr/>
        </p:nvSpPr>
        <p:spPr>
          <a:xfrm>
            <a:off x="731520" y="3666744"/>
            <a:ext cx="137160" cy="137160"/>
          </a:xfrm>
          <a:prstGeom prst="ellipse">
            <a:avLst/>
          </a:prstGeom>
          <a:solidFill>
            <a:schemeClr val="accent1"/>
          </a:solidFill>
          <a:ln/>
        </p:spPr>
      </p:sp>
      <p:sp>
        <p:nvSpPr>
          <p:cNvPr id="13" name="Text 11"/>
          <p:cNvSpPr txBox="1"/>
          <p:nvPr/>
        </p:nvSpPr>
        <p:spPr>
          <a:xfrm>
            <a:off x="1005840" y="3611880"/>
            <a:ext cx="3246120" cy="548640"/>
          </a:xfrm>
          <a:prstGeom prst="rect">
            <a:avLst/>
          </a:prstGeom>
          <a:noFill/>
          <a:ln/>
        </p:spPr>
        <p:txBody>
          <a:bodyPr wrap="square" lIns="0" tIns="0" rIns="0" bIns="0" rtlCol="0" anchor="t"/>
          <a:lstStyle/>
          <a:p>
            <a:pPr indent="0" marL="0">
              <a:buNone/>
            </a:pPr>
            <a:r>
              <a:rPr lang="en-US" sz="1200" dirty="0">
                <a:solidFill>
                  <a:schemeClr val="tx1"/>
                </a:solidFill>
              </a:rPr>
              <a:t>Délais de production avant la soutenance</a:t>
            </a:r>
            <a:endParaRPr lang="en-US" sz="1200" dirty="0"/>
          </a:p>
        </p:txBody>
      </p:sp>
      <p:sp>
        <p:nvSpPr>
          <p:cNvPr id="14" name="besoins"/>
          <p:cNvSpPr/>
          <p:nvPr/>
        </p:nvSpPr>
        <p:spPr>
          <a:xfrm>
            <a:off x="4709160" y="1280160"/>
            <a:ext cx="3977640" cy="3154680"/>
          </a:xfrm>
          <a:prstGeom prst="roundRect">
            <a:avLst>
              <a:gd name="adj" fmla="val 2319"/>
            </a:avLst>
          </a:prstGeom>
          <a:solidFill>
            <a:srgbClr val="FFFFFF"/>
          </a:solidFill>
          <a:ln/>
        </p:spPr>
      </p:sp>
      <p:sp>
        <p:nvSpPr>
          <p:cNvPr id="15" name="Text 13"/>
          <p:cNvSpPr txBox="1"/>
          <p:nvPr/>
        </p:nvSpPr>
        <p:spPr>
          <a:xfrm>
            <a:off x="4983480" y="1463040"/>
            <a:ext cx="3474720" cy="320040"/>
          </a:xfrm>
          <a:prstGeom prst="rect">
            <a:avLst/>
          </a:prstGeom>
          <a:noFill/>
          <a:ln/>
        </p:spPr>
        <p:txBody>
          <a:bodyPr wrap="square" lIns="0" tIns="0" rIns="0" bIns="0" rtlCol="0" anchor="t"/>
          <a:lstStyle/>
          <a:p>
            <a:pPr indent="0" marL="0">
              <a:buNone/>
            </a:pPr>
            <a:r>
              <a:rPr lang="en-US" sz="1600" b="1" dirty="0">
                <a:solidFill>
                  <a:schemeClr val="tx1"/>
                </a:solidFill>
              </a:rPr>
              <a:t>ce qui m'aiderait</a:t>
            </a:r>
            <a:endParaRPr lang="en-US" sz="1600" dirty="0"/>
          </a:p>
        </p:txBody>
      </p:sp>
      <p:sp>
        <p:nvSpPr>
          <p:cNvPr id="16" name="Shape 14"/>
          <p:cNvSpPr/>
          <p:nvPr/>
        </p:nvSpPr>
        <p:spPr>
          <a:xfrm>
            <a:off x="4983480" y="2020824"/>
            <a:ext cx="137160" cy="137160"/>
          </a:xfrm>
          <a:prstGeom prst="ellipse">
            <a:avLst/>
          </a:prstGeom>
          <a:solidFill>
            <a:schemeClr val="accent2"/>
          </a:solidFill>
          <a:ln/>
        </p:spPr>
      </p:sp>
      <p:sp>
        <p:nvSpPr>
          <p:cNvPr id="17" name="Text 15"/>
          <p:cNvSpPr txBox="1"/>
          <p:nvPr/>
        </p:nvSpPr>
        <p:spPr>
          <a:xfrm>
            <a:off x="5257800" y="1965960"/>
            <a:ext cx="3246120" cy="548640"/>
          </a:xfrm>
          <a:prstGeom prst="rect">
            <a:avLst/>
          </a:prstGeom>
          <a:noFill/>
          <a:ln/>
        </p:spPr>
        <p:txBody>
          <a:bodyPr wrap="square" lIns="0" tIns="0" rIns="0" bIns="0" rtlCol="0" anchor="t"/>
          <a:lstStyle/>
          <a:p>
            <a:pPr indent="0" marL="0">
              <a:buNone/>
            </a:pPr>
            <a:r>
              <a:rPr lang="en-US" sz="1200" dirty="0">
                <a:solidFill>
                  <a:schemeClr val="tx1"/>
                </a:solidFill>
              </a:rPr>
              <a:t>Votre avis sur le calendrier et le choix de luna</a:t>
            </a:r>
            <a:endParaRPr lang="en-US" sz="1200" dirty="0"/>
          </a:p>
        </p:txBody>
      </p:sp>
      <p:sp>
        <p:nvSpPr>
          <p:cNvPr id="18" name="Shape 16"/>
          <p:cNvSpPr/>
          <p:nvPr/>
        </p:nvSpPr>
        <p:spPr>
          <a:xfrm>
            <a:off x="4983480" y="2569464"/>
            <a:ext cx="137160" cy="137160"/>
          </a:xfrm>
          <a:prstGeom prst="ellipse">
            <a:avLst/>
          </a:prstGeom>
          <a:solidFill>
            <a:schemeClr val="accent2"/>
          </a:solidFill>
          <a:ln/>
        </p:spPr>
      </p:sp>
      <p:sp>
        <p:nvSpPr>
          <p:cNvPr id="19" name="Text 17"/>
          <p:cNvSpPr txBox="1"/>
          <p:nvPr/>
        </p:nvSpPr>
        <p:spPr>
          <a:xfrm>
            <a:off x="5257800" y="2514600"/>
            <a:ext cx="3246120" cy="548640"/>
          </a:xfrm>
          <a:prstGeom prst="rect">
            <a:avLst/>
          </a:prstGeom>
          <a:noFill/>
          <a:ln/>
        </p:spPr>
        <p:txBody>
          <a:bodyPr wrap="square" lIns="0" tIns="0" rIns="0" bIns="0" rtlCol="0" anchor="t"/>
          <a:lstStyle/>
          <a:p>
            <a:pPr indent="0" marL="0">
              <a:buNone/>
            </a:pPr>
            <a:r>
              <a:rPr lang="en-US" sz="1200" dirty="0">
                <a:solidFill>
                  <a:schemeClr val="tx1"/>
                </a:solidFill>
              </a:rPr>
              <a:t>Des contacts : incubateur, réseau d'anciens, experts</a:t>
            </a:r>
            <a:endParaRPr lang="en-US" sz="1200" dirty="0"/>
          </a:p>
        </p:txBody>
      </p:sp>
      <p:sp>
        <p:nvSpPr>
          <p:cNvPr id="20" name="Shape 18"/>
          <p:cNvSpPr/>
          <p:nvPr/>
        </p:nvSpPr>
        <p:spPr>
          <a:xfrm>
            <a:off x="4983480" y="3118104"/>
            <a:ext cx="137160" cy="137160"/>
          </a:xfrm>
          <a:prstGeom prst="ellipse">
            <a:avLst/>
          </a:prstGeom>
          <a:solidFill>
            <a:schemeClr val="accent2"/>
          </a:solidFill>
          <a:ln/>
        </p:spPr>
      </p:sp>
      <p:sp>
        <p:nvSpPr>
          <p:cNvPr id="21" name="Text 19"/>
          <p:cNvSpPr txBox="1"/>
          <p:nvPr/>
        </p:nvSpPr>
        <p:spPr>
          <a:xfrm>
            <a:off x="5257800" y="3063240"/>
            <a:ext cx="3246120" cy="548640"/>
          </a:xfrm>
          <a:prstGeom prst="rect">
            <a:avLst/>
          </a:prstGeom>
          <a:noFill/>
          <a:ln/>
        </p:spPr>
        <p:txBody>
          <a:bodyPr wrap="square" lIns="0" tIns="0" rIns="0" bIns="0" rtlCol="0" anchor="t"/>
          <a:lstStyle/>
          <a:p>
            <a:pPr indent="0" marL="0">
              <a:buNone/>
            </a:pPr>
            <a:r>
              <a:rPr lang="en-US" sz="1200" dirty="0">
                <a:solidFill>
                  <a:schemeClr val="tx1"/>
                </a:solidFill>
              </a:rPr>
              <a:t>Le statut étudiant-entrepreneur (PEPITE), si possible</a:t>
            </a:r>
            <a:endParaRPr lang="en-US" sz="1200" dirty="0"/>
          </a:p>
        </p:txBody>
      </p:sp>
      <p:sp>
        <p:nvSpPr>
          <p:cNvPr id="22" name="Shape 20"/>
          <p:cNvSpPr/>
          <p:nvPr/>
        </p:nvSpPr>
        <p:spPr>
          <a:xfrm>
            <a:off x="4983480" y="3666744"/>
            <a:ext cx="137160" cy="137160"/>
          </a:xfrm>
          <a:prstGeom prst="ellipse">
            <a:avLst/>
          </a:prstGeom>
          <a:solidFill>
            <a:schemeClr val="accent2"/>
          </a:solidFill>
          <a:ln/>
        </p:spPr>
      </p:sp>
      <p:sp>
        <p:nvSpPr>
          <p:cNvPr id="23" name="Text 21"/>
          <p:cNvSpPr txBox="1"/>
          <p:nvPr/>
        </p:nvSpPr>
        <p:spPr>
          <a:xfrm>
            <a:off x="5257800" y="3611880"/>
            <a:ext cx="3246120" cy="548640"/>
          </a:xfrm>
          <a:prstGeom prst="rect">
            <a:avLst/>
          </a:prstGeom>
          <a:noFill/>
          <a:ln/>
        </p:spPr>
        <p:txBody>
          <a:bodyPr wrap="square" lIns="0" tIns="0" rIns="0" bIns="0" rtlCol="0" anchor="t"/>
          <a:lstStyle/>
          <a:p>
            <a:pPr indent="0" marL="0">
              <a:buNone/>
            </a:pPr>
            <a:r>
              <a:rPr lang="en-US" sz="1200" dirty="0">
                <a:solidFill>
                  <a:schemeClr val="tx1"/>
                </a:solidFill>
              </a:rPr>
              <a:t>Des retours réguliers jusqu'à la soutenance</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hoto-fin" descr="photo-fin">    </p:cNvPr>
          <p:cNvPicPr>
            <a:picLocks noChangeAspect="1"/>
          </p:cNvPicPr>
          <p:nvPr/>
        </p:nvPicPr>
        <p:blipFill>
          <a:blip r:embed="rId1"/>
          <a:stretch>
            <a:fillRect/>
          </a:stretch>
        </p:blipFill>
        <p:spPr>
          <a:xfrm>
            <a:off x="5120640" y="0"/>
            <a:ext cx="4023360" cy="5143500"/>
          </a:xfrm>
          <a:prstGeom prst="rect">
            <a:avLst/>
          </a:prstGeom>
        </p:spPr>
      </p:pic>
      <p:pic>
        <p:nvPicPr>
          <p:cNvPr id="3" name="logo-fin" descr="logo sip lab">    </p:cNvPr>
          <p:cNvPicPr>
            <a:picLocks noChangeAspect="1"/>
          </p:cNvPicPr>
          <p:nvPr/>
        </p:nvPicPr>
        <p:blipFill>
          <a:blip r:embed="rId2"/>
          <a:stretch>
            <a:fillRect/>
          </a:stretch>
        </p:blipFill>
        <p:spPr>
          <a:xfrm>
            <a:off x="365760" y="411480"/>
            <a:ext cx="1737360" cy="710335"/>
          </a:xfrm>
          <a:prstGeom prst="rect">
            <a:avLst/>
          </a:prstGeom>
        </p:spPr>
      </p:pic>
      <p:sp>
        <p:nvSpPr>
          <p:cNvPr id="4" name="Text 0"/>
          <p:cNvSpPr txBox="1"/>
          <p:nvPr/>
        </p:nvSpPr>
        <p:spPr>
          <a:xfrm>
            <a:off x="457200" y="1463040"/>
            <a:ext cx="4389120" cy="1188720"/>
          </a:xfrm>
          <a:prstGeom prst="rect">
            <a:avLst/>
          </a:prstGeom>
          <a:noFill/>
          <a:ln/>
        </p:spPr>
        <p:txBody>
          <a:bodyPr wrap="square" lIns="0" tIns="0" rIns="0" bIns="0" rtlCol="0" anchor="t"/>
          <a:lstStyle/>
          <a:p>
            <a:pPr indent="0" marL="0">
              <a:buNone/>
            </a:pPr>
            <a:r>
              <a:rPr lang="en-US" sz="3200" dirty="0">
                <a:solidFill>
                  <a:schemeClr val="bg2"/>
                </a:solidFill>
              </a:rPr>
              <a:t>merci, </a:t>
            </a:r>
            <a:pPr indent="0" marL="0">
              <a:buNone/>
            </a:pPr>
            <a:r>
              <a:rPr lang="en-US" sz="3200" i="1" dirty="0">
                <a:solidFill>
                  <a:schemeClr val="bg2"/>
                </a:solidFill>
                <a:latin typeface="Cambria" pitchFamily="34" charset="0"/>
                <a:ea typeface="Cambria" pitchFamily="34" charset="-122"/>
                <a:cs typeface="Cambria" pitchFamily="34" charset="-120"/>
              </a:rPr>
              <a:t>place aux questions</a:t>
            </a:r>
            <a:endParaRPr lang="en-US" sz="3200" dirty="0"/>
          </a:p>
        </p:txBody>
      </p:sp>
      <p:sp>
        <p:nvSpPr>
          <p:cNvPr id="5" name="Text 1"/>
          <p:cNvSpPr txBox="1"/>
          <p:nvPr/>
        </p:nvSpPr>
        <p:spPr>
          <a:xfrm>
            <a:off x="457200" y="2880360"/>
            <a:ext cx="4206240" cy="594360"/>
          </a:xfrm>
          <a:prstGeom prst="rect">
            <a:avLst/>
          </a:prstGeom>
          <a:noFill/>
          <a:ln/>
        </p:spPr>
        <p:txBody>
          <a:bodyPr wrap="square" lIns="0" tIns="0" rIns="0" bIns="0" rtlCol="0" anchor="t"/>
          <a:lstStyle/>
          <a:p>
            <a:pPr indent="0" marL="0">
              <a:buNone/>
            </a:pPr>
            <a:r>
              <a:rPr lang="en-US" sz="1400" dirty="0">
                <a:solidFill>
                  <a:srgbClr val="D6CFC6"/>
                </a:solidFill>
              </a:rPr>
              <a:t>Prochain jalon : la réponse du fabricant et les premiers entretiens clientes.</a:t>
            </a:r>
            <a:endParaRPr lang="en-US" sz="1400" dirty="0"/>
          </a:p>
        </p:txBody>
      </p:sp>
      <p:sp>
        <p:nvSpPr>
          <p:cNvPr id="6" name="Text 2"/>
          <p:cNvSpPr txBox="1"/>
          <p:nvPr/>
        </p:nvSpPr>
        <p:spPr>
          <a:xfrm>
            <a:off x="457200" y="4343400"/>
            <a:ext cx="4206240" cy="274320"/>
          </a:xfrm>
          <a:prstGeom prst="rect">
            <a:avLst/>
          </a:prstGeom>
          <a:noFill/>
          <a:ln/>
        </p:spPr>
        <p:txBody>
          <a:bodyPr wrap="square" lIns="0" tIns="0" rIns="0" bIns="0" rtlCol="0" anchor="t"/>
          <a:lstStyle/>
          <a:p>
            <a:pPr indent="0" marL="0">
              <a:buNone/>
            </a:pPr>
            <a:r>
              <a:rPr lang="en-US" sz="1100" dirty="0">
                <a:solidFill>
                  <a:srgbClr val="A99F96"/>
                </a:solidFill>
              </a:rPr>
              <a:t>Nisrine Margoum · M2 Entrepreneuriat &amp; Innovation</a:t>
            </a:r>
            <a:endParaRPr lang="en-US" sz="1100" dirty="0"/>
          </a:p>
        </p:txBody>
      </p:sp>
    </p:spTree>
  </p:cSld>
  <p:clrMapOvr>
    <a:masterClrMapping/>
  </p:clrMapOvr>
</p:sld>
</file>

<file path=ppt/theme/theme1.xml><?xml version="1.0" encoding="utf-8"?>
<a:theme xmlns:a="http://schemas.openxmlformats.org/drawingml/2006/main" name="straw">
  <a:themeElements>
    <a:clrScheme name="straw">
      <a:dk1>
        <a:srgbClr val="1F1C19"/>
      </a:dk1>
      <a:lt1>
        <a:srgbClr val="FFFFFF"/>
      </a:lt1>
      <a:dk2>
        <a:srgbClr val="5E5650"/>
      </a:dk2>
      <a:lt2>
        <a:srgbClr val="F4F2EF"/>
      </a:lt2>
      <a:accent1>
        <a:srgbClr val="C8475A"/>
      </a:accent1>
      <a:accent2>
        <a:srgbClr val="2E9C9A"/>
      </a:accent2>
      <a:accent3>
        <a:srgbClr val="F5B700"/>
      </a:accent3>
      <a:accent4>
        <a:srgbClr val="D98A6C"/>
      </a:accent4>
      <a:accent5>
        <a:srgbClr val="E9E4DD"/>
      </a:accent5>
      <a:accent6>
        <a:srgbClr val="8C4A6B"/>
      </a:accent6>
      <a:hlink>
        <a:srgbClr val="2E9C9A"/>
      </a:hlink>
      <a:folHlink>
        <a:srgbClr val="8C4A6B"/>
      </a:folHlink>
    </a:clrScheme>
    <a:fontScheme name="stra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 lab : point d avancement du projet</dc:title>
  <dc:subject>PptxGenJS Presentation</dc:subject>
  <dc:creator>Nisrine Margoum</dc:creator>
  <cp:lastModifiedBy>Nisrine Margoum</cp:lastModifiedBy>
  <cp:revision>1</cp:revision>
  <dcterms:created xsi:type="dcterms:W3CDTF">2026-10-13T09:43:30Z</dcterms:created>
  <dcterms:modified xsi:type="dcterms:W3CDTF">2026-10-13T09:43:30Z</dcterms:modified>
</cp:coreProperties>
</file>