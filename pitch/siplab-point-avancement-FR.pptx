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3bf38654-b2b9-b347-1cf3-c7c526582447}">
          <p14:sldIdLst>
            <p14:sldId id="256"/>
          </p14:sldIdLst>
        </p14:section>
        <p14:section name="Projet" id="{a10cf24e-d3a1-086a-1595-61ecefec19d1}">
          <p14:sldIdLst>
            <p14:sldId id="257"/>
            <p14:sldId id="258"/>
            <p14:sldId id="259"/>
            <p14:sldId id="260"/>
          </p14:sldIdLst>
        </p14:section>
        <p14:section name="Lancement" id="{f76a2623-0e32-3b7f-9e13-ac2e919a9fc1}">
          <p14:sldIdLst>
            <p14:sldId id="261"/>
            <p14:sldId id="262"/>
          </p14:sldIdLst>
        </p14:section>
        <p14:section name="Calendrier" id="{7219657d-25fa-ea0c-67f4-2f03226829ac}">
          <p14:sldIdLst>
            <p14:sldId id="263"/>
            <p14:sldId id="264"/>
            <p14:sldId id="265"/>
          </p14:sldIdLst>
        </p14:section>
        <p14:section name="Après" id="{26becfba-26b7-5a34-873d-b622729788a7}">
          <p14:sldIdLst>
            <p14:sldId id="266"/>
            <p14:sldId id="267"/>
          </p14:sldIdLst>
        </p14:section>
        <p14:section name="Conclusion" id="{7b11b4be-6169-c681-baae-1fd496a00461}">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vais vous présenter où en est mon projet sip lab : ce qui est fait, où j'en suis aujourd'hui, et le calendrier jusqu'à la soutenance de fin mars, puis après.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Rappel rapide du projet : une paille active qui contient des micro-billes d'actifs. On boit, la dose est prise. Le concept repose aussi sur le rituel : donner envie de prendre ses compléments. La marque comporte quatre gammes.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 démarche est partie d'une envie : innover sur la forme galénique d'un complément alimentaire, c'est-à-dire la façon de le prendre. J'ai fait une veille internationale des formats innovants et je suis tombée sur les pailles actives. En regardant les marques qui les commercialisent, je suis remontée aux brevets d'Unistraw, en Australie. Mon constat : le format existe, mais il reste une niche en France. L'opportunité, c'est d'apporter la bonne cible, la bonne formule et une vraie marque.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benchmark montre que le format a déjà été tenté : Vita Straw en France, Tubulars aux États-Unis, et aujourd'hui Gut Straw ou SIPit. Mais il reste une niche en France. La technologie appartient à Unistraw, avec deux brevets : UniSphere, des microbilles retenues par un filtre, et UniLayer, une couche active sur la paroi. Je ne cherche pas à réinventer le mécanisme : Unistraw serait mon fournisseur technologique. Ma valeur ajoutée, c'est la cible, la formule, la marque et le marché français.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projet est très récent : l'idée date d'il y a environ trois semaines. Depuis, j'ai réalisé l'étude de marché, la stratégie marketing avec le choix de la gamme luna, l'identité de marque avec le site, et le pitch. J'ai aussi contacté le fabricant Unistraw, et j'attends sa réponse.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le lancement, je pense commencer par la gamme luna, la santé féminine. C'est un besoin qui revient chaque mois, donc adapté à l'abonnement. Le marché grandit, il existe peu de solutions simples calées sur le cycle, la cible est facile à toucher en ligne, et c'est cohérent avec ma formation. Les autres gammes viendront ensuite.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Unistraw est le partenaire technologique envisagé. Je leur ai demandé la faisabilité d'un partenariat en sous-traitance, les actifs compatibles, le minimum de commande, le coût par paille et les délais. Je suis en attente de réponse. En parallèle, je contacte d'autres fournisseurs, notamment une piste au Brésil. Les échanges prennent du temps, donc je vise une décision finale fin novembre.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diagramme de Gantt. En gris, ce qui est fait. En rouge, ce qui est en cours : les échanges avec les fournisseurs, avec un choix visé fin novembre. Les étapes les plus longues sont la formulation et surtout le prototype avec les tests de stabilité, qui continueront après la soutenance. Le business plan, lui, se fait rapidement une fois les coûts connus, en fin de parcours. La soutenance est fin mars, puis viennent la création de la société et le lancement de luna.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Dans les semaines qui viennent : fin octobre, je relance Unistraw et je contacte d'autres fournisseurs, dont une piste au Brésil, et je prépare les entretiens. En novembre, les échanges techniques avec les fournisseurs et les entretiens avec la cible luna, pour choisir le fournisseur fin novembre. En décembre, je lance la pré-formulation, je consulte un expert réglementaire et j'ajuste l'offre.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Jusqu'à la soutenance : de décembre à février, la formulation avec le fournisseur ; de janvier à mars, les premiers prototypes et les tests, sachant que la stabilité prendra plus de temps. En février et mars, le test de précommande, puis le business plan, qui se fait rapidement une fois les coûts connus. Fin mars, la soutenance.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Après la soutenance, si les tests sont concluants : au printemps, je crée la société et je dépose la marque ; ensuite je finance le lancement avec mon apport, la love money, et des aides à étudier comme le prêt d'honneur ; puis, une fois les tests de stabilité terminés, je lance luna entre l'été et l'automne 2027. Les autres gammes viendront ensuite.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principaux risques : la réponse du fabricant, le coût par paille, la réglementation des allégations et les délais. Ce qui m'aiderait : votre avis sur le calendrier et sur le choix de luna, des contacts, et l'accompagnement PÉPITE pour les démarches.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pour votre attention. Le prochain jalon, c'est le choix du fournisseur, fin novembre. Je suis disponible pour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2"/>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457200" y="4754880"/>
            <a:ext cx="5486400" cy="228600"/>
          </a:xfrm>
          <a:prstGeom prst="rect">
            <a:avLst/>
          </a:prstGeom>
          <a:noFill/>
          <a:ln/>
        </p:spPr>
        <p:txBody>
          <a:bodyPr wrap="square" lIns="0" tIns="0" rIns="0" bIns="0" rtlCol="0" anchor="ctr"/>
          <a:lstStyle/>
          <a:p>
            <a:pPr indent="0" marL="0">
              <a:buNone/>
            </a:pPr>
            <a:r>
              <a:rPr lang="en-US" sz="900" dirty="0">
                <a:solidFill>
                  <a:schemeClr val="tx2"/>
                </a:solidFill>
              </a:rPr>
              <a:t>sip lab · point d'avancement · M2 Entrepreneuriat &amp; Innovation</a:t>
            </a:r>
            <a:endParaRPr lang="en-US" sz="900" dirty="0"/>
          </a:p>
        </p:txBody>
      </p:sp>
      <p:sp>
        <p:nvSpPr>
          <p:cNvPr id="3" name="Text 1"/>
          <p:cNvSpPr/>
          <p:nvPr>
            <p:ph idx="101" type="body" hasCustomPrompt="1"/>
          </p:nvPr>
        </p:nvSpPr>
        <p:spPr>
          <a:xfrm>
            <a:off x="457200" y="292608"/>
            <a:ext cx="8229600" cy="228600"/>
          </a:xfrm>
          <a:prstGeom prst="rect">
            <a:avLst/>
          </a:prstGeom>
          <a:noFill/>
          <a:ln/>
        </p:spPr>
        <p:txBody>
          <a:bodyPr wrap="square" rtlCol="0"/>
          <a:lstStyle>
            <a:lvl1pPr indent="0" marL="0">
              <a:buNone/>
              <a:defRPr lang="en-US" sz="1000" b="1" spc="200" kern="0" dirty="0">
                <a:solidFill>
                  <a:schemeClr val="tx2"/>
                </a:solidFill>
              </a:defRPr>
            </a:lvl1pPr>
          </a:lstStyle>
          <a:p>
            <a:pPr indent="0" marL="0">
              <a:buNone/>
            </a:pPr>
            <a:endParaRPr lang="en-US" sz="1000" dirty="0"/>
          </a:p>
        </p:txBody>
      </p:sp>
      <p:sp>
        <p:nvSpPr>
          <p:cNvPr id="4" name="Text 1"/>
          <p:cNvSpPr/>
          <p:nvPr>
            <p:ph idx="102" type="title" hasCustomPrompt="1"/>
          </p:nvPr>
        </p:nvSpPr>
        <p:spPr>
          <a:xfrm>
            <a:off x="457200" y="502920"/>
            <a:ext cx="8229600" cy="594360"/>
          </a:xfrm>
          <a:prstGeom prst="rect">
            <a:avLst/>
          </a:prstGeom>
          <a:noFill/>
          <a:ln/>
        </p:spPr>
        <p:txBody>
          <a:bodyPr wrap="square" rtlCol="0"/>
          <a:lstStyle>
            <a:lvl1pPr algn="l" indent="0" marL="0">
              <a:buNone/>
              <a:defRPr lang="en-US" sz="2800" dirty="0">
                <a:solidFill>
                  <a:schemeClr val="tx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logo sip lab">    </p:cNvPr>
          <p:cNvPicPr>
            <a:picLocks noChangeAspect="1"/>
          </p:cNvPicPr>
          <p:nvPr/>
        </p:nvPicPr>
        <p:blipFill>
          <a:blip r:embed="rId1"/>
          <a:stretch>
            <a:fillRect/>
          </a:stretch>
        </p:blipFill>
        <p:spPr>
          <a:xfrm>
            <a:off x="320040" y="548640"/>
            <a:ext cx="3108960" cy="1271125"/>
          </a:xfrm>
          <a:prstGeom prst="rect">
            <a:avLst/>
          </a:prstGeom>
        </p:spPr>
      </p:pic>
      <p:sp>
        <p:nvSpPr>
          <p:cNvPr id="3" name="Text 0"/>
          <p:cNvSpPr txBox="1"/>
          <p:nvPr/>
        </p:nvSpPr>
        <p:spPr>
          <a:xfrm>
            <a:off x="457200" y="2011680"/>
            <a:ext cx="4114800" cy="548640"/>
          </a:xfrm>
          <a:prstGeom prst="rect">
            <a:avLst/>
          </a:prstGeom>
          <a:noFill/>
          <a:ln/>
        </p:spPr>
        <p:txBody>
          <a:bodyPr wrap="square" lIns="0" tIns="0" rIns="0" bIns="0" rtlCol="0" anchor="t"/>
          <a:lstStyle/>
          <a:p>
            <a:pPr indent="0" marL="0">
              <a:buNone/>
            </a:pPr>
            <a:r>
              <a:rPr lang="en-US" sz="2600" i="1" dirty="0">
                <a:solidFill>
                  <a:schemeClr val="bg2"/>
                </a:solidFill>
                <a:latin typeface="Cambria" pitchFamily="34" charset="0"/>
                <a:ea typeface="Cambria" pitchFamily="34" charset="-122"/>
                <a:cs typeface="Cambria" pitchFamily="34" charset="-120"/>
              </a:rPr>
              <a:t>point d'avancement du projet</a:t>
            </a:r>
            <a:endParaRPr lang="en-US" sz="2600" dirty="0"/>
          </a:p>
        </p:txBody>
      </p:sp>
      <p:sp>
        <p:nvSpPr>
          <p:cNvPr id="4" name="Text 1"/>
          <p:cNvSpPr txBox="1"/>
          <p:nvPr/>
        </p:nvSpPr>
        <p:spPr>
          <a:xfrm>
            <a:off x="457200" y="2651760"/>
            <a:ext cx="3840480" cy="731520"/>
          </a:xfrm>
          <a:prstGeom prst="rect">
            <a:avLst/>
          </a:prstGeom>
          <a:noFill/>
          <a:ln/>
        </p:spPr>
        <p:txBody>
          <a:bodyPr wrap="square" lIns="0" tIns="0" rIns="0" bIns="0" rtlCol="0" anchor="t"/>
          <a:lstStyle/>
          <a:p>
            <a:pPr indent="0" marL="0">
              <a:buNone/>
            </a:pPr>
            <a:r>
              <a:rPr lang="en-US" sz="1400" dirty="0">
                <a:solidFill>
                  <a:srgbClr val="D6CFC6"/>
                </a:solidFill>
              </a:rPr>
              <a:t>La paille active : des compléments alimentaires à boire, en 4 gammes. Lancement prévu avec la gamme luna.</a:t>
            </a:r>
            <a:endParaRPr lang="en-US" sz="1400" dirty="0"/>
          </a:p>
        </p:txBody>
      </p:sp>
      <p:sp>
        <p:nvSpPr>
          <p:cNvPr id="5" name="Text 2"/>
          <p:cNvSpPr txBox="1"/>
          <p:nvPr/>
        </p:nvSpPr>
        <p:spPr>
          <a:xfrm>
            <a:off x="457200" y="4206240"/>
            <a:ext cx="4023360" cy="457200"/>
          </a:xfrm>
          <a:prstGeom prst="rect">
            <a:avLst/>
          </a:prstGeom>
          <a:noFill/>
          <a:ln/>
        </p:spPr>
        <p:txBody>
          <a:bodyPr wrap="square" lIns="0" tIns="0" rIns="0" bIns="0" rtlCol="0" anchor="t"/>
          <a:lstStyle/>
          <a:p>
            <a:pPr indent="0" marL="0">
              <a:buNone/>
            </a:pPr>
            <a:r>
              <a:rPr lang="en-US" sz="1100" dirty="0">
                <a:solidFill>
                  <a:srgbClr val="A99F96"/>
                </a:solidFill>
              </a:rPr>
              <a:t>Nisrine Margoum · M2 Entrepreneuriat &amp; Innovation · IAE Clermont-Auvergne · octobre 2026</a:t>
            </a:r>
            <a:endParaRPr lang="en-US" sz="1100" dirty="0"/>
          </a:p>
        </p:txBody>
      </p:sp>
      <p:pic>
        <p:nvPicPr>
          <p:cNvPr id="6" name="cover-mini" descr="cover-mini">    </p:cNvPr>
          <p:cNvPicPr>
            <a:picLocks noChangeAspect="1"/>
          </p:cNvPicPr>
          <p:nvPr/>
        </p:nvPicPr>
        <p:blipFill>
          <a:blip r:embed="rId2"/>
          <a:stretch>
            <a:fillRect/>
          </a:stretch>
        </p:blipFill>
        <p:spPr>
          <a:xfrm>
            <a:off x="4572000" y="457200"/>
            <a:ext cx="2011680" cy="2057400"/>
          </a:xfrm>
          <a:prstGeom prst="rect">
            <a:avLst/>
          </a:prstGeom>
        </p:spPr>
      </p:pic>
      <p:sp>
        <p:nvSpPr>
          <p:cNvPr id="7" name="Shape 3"/>
          <p:cNvSpPr/>
          <p:nvPr/>
        </p:nvSpPr>
        <p:spPr>
          <a:xfrm>
            <a:off x="4681728" y="2103120"/>
            <a:ext cx="832104" cy="292608"/>
          </a:xfrm>
          <a:prstGeom prst="roundRect">
            <a:avLst>
              <a:gd name="adj" fmla="val 50000"/>
            </a:avLst>
          </a:prstGeom>
          <a:solidFill>
            <a:schemeClr val="bg2"/>
          </a:solidFill>
          <a:ln/>
        </p:spPr>
      </p:sp>
      <p:sp>
        <p:nvSpPr>
          <p:cNvPr id="8" name="Shape 4"/>
          <p:cNvSpPr/>
          <p:nvPr/>
        </p:nvSpPr>
        <p:spPr>
          <a:xfrm>
            <a:off x="4773168" y="2185416"/>
            <a:ext cx="128016" cy="128016"/>
          </a:xfrm>
          <a:prstGeom prst="ellipse">
            <a:avLst/>
          </a:prstGeom>
          <a:solidFill>
            <a:schemeClr val="accent3"/>
          </a:solidFill>
          <a:ln/>
        </p:spPr>
      </p:sp>
      <p:sp>
        <p:nvSpPr>
          <p:cNvPr id="9" name="Text 5"/>
          <p:cNvSpPr txBox="1"/>
          <p:nvPr/>
        </p:nvSpPr>
        <p:spPr>
          <a:xfrm>
            <a:off x="4956048" y="2103120"/>
            <a:ext cx="557784" cy="292608"/>
          </a:xfrm>
          <a:prstGeom prst="rect">
            <a:avLst/>
          </a:prstGeom>
          <a:noFill/>
          <a:ln/>
        </p:spPr>
        <p:txBody>
          <a:bodyPr wrap="square" lIns="0" tIns="0" rIns="0" bIns="0" rtlCol="0" anchor="ctr"/>
          <a:lstStyle/>
          <a:p>
            <a:pPr indent="0" marL="0">
              <a:buNone/>
            </a:pPr>
            <a:r>
              <a:rPr lang="en-US" sz="1200" b="1" dirty="0">
                <a:solidFill>
                  <a:schemeClr val="tx1"/>
                </a:solidFill>
              </a:rPr>
              <a:t>mini</a:t>
            </a:r>
            <a:endParaRPr lang="en-US" sz="1200" dirty="0"/>
          </a:p>
        </p:txBody>
      </p:sp>
      <p:pic>
        <p:nvPicPr>
          <p:cNvPr id="10" name="cover-active" descr="cover-active">    </p:cNvPr>
          <p:cNvPicPr>
            <a:picLocks noChangeAspect="1"/>
          </p:cNvPicPr>
          <p:nvPr/>
        </p:nvPicPr>
        <p:blipFill>
          <a:blip r:embed="rId3"/>
          <a:stretch>
            <a:fillRect/>
          </a:stretch>
        </p:blipFill>
        <p:spPr>
          <a:xfrm>
            <a:off x="6675120" y="457200"/>
            <a:ext cx="2011680" cy="2057400"/>
          </a:xfrm>
          <a:prstGeom prst="rect">
            <a:avLst/>
          </a:prstGeom>
        </p:spPr>
      </p:pic>
      <p:sp>
        <p:nvSpPr>
          <p:cNvPr id="11" name="Shape 6"/>
          <p:cNvSpPr/>
          <p:nvPr/>
        </p:nvSpPr>
        <p:spPr>
          <a:xfrm>
            <a:off x="6784848" y="2103120"/>
            <a:ext cx="996696" cy="292608"/>
          </a:xfrm>
          <a:prstGeom prst="roundRect">
            <a:avLst>
              <a:gd name="adj" fmla="val 50000"/>
            </a:avLst>
          </a:prstGeom>
          <a:solidFill>
            <a:schemeClr val="bg2"/>
          </a:solidFill>
          <a:ln/>
        </p:spPr>
      </p:sp>
      <p:sp>
        <p:nvSpPr>
          <p:cNvPr id="12" name="Shape 7"/>
          <p:cNvSpPr/>
          <p:nvPr/>
        </p:nvSpPr>
        <p:spPr>
          <a:xfrm>
            <a:off x="6876288" y="2185416"/>
            <a:ext cx="128016" cy="128016"/>
          </a:xfrm>
          <a:prstGeom prst="ellipse">
            <a:avLst/>
          </a:prstGeom>
          <a:solidFill>
            <a:schemeClr val="accent4"/>
          </a:solidFill>
          <a:ln/>
        </p:spPr>
      </p:sp>
      <p:sp>
        <p:nvSpPr>
          <p:cNvPr id="13" name="Text 8"/>
          <p:cNvSpPr txBox="1"/>
          <p:nvPr/>
        </p:nvSpPr>
        <p:spPr>
          <a:xfrm>
            <a:off x="7059168" y="2103120"/>
            <a:ext cx="722376" cy="292608"/>
          </a:xfrm>
          <a:prstGeom prst="rect">
            <a:avLst/>
          </a:prstGeom>
          <a:noFill/>
          <a:ln/>
        </p:spPr>
        <p:txBody>
          <a:bodyPr wrap="square" lIns="0" tIns="0" rIns="0" bIns="0" rtlCol="0" anchor="ctr"/>
          <a:lstStyle/>
          <a:p>
            <a:pPr indent="0" marL="0">
              <a:buNone/>
            </a:pPr>
            <a:r>
              <a:rPr lang="en-US" sz="1200" b="1" dirty="0">
                <a:solidFill>
                  <a:schemeClr val="tx1"/>
                </a:solidFill>
              </a:rPr>
              <a:t>active</a:t>
            </a:r>
            <a:endParaRPr lang="en-US" sz="1200" dirty="0"/>
          </a:p>
        </p:txBody>
      </p:sp>
      <p:pic>
        <p:nvPicPr>
          <p:cNvPr id="14" name="cover-luna" descr="cover-luna">    </p:cNvPr>
          <p:cNvPicPr>
            <a:picLocks noChangeAspect="1"/>
          </p:cNvPicPr>
          <p:nvPr/>
        </p:nvPicPr>
        <p:blipFill>
          <a:blip r:embed="rId4"/>
          <a:stretch>
            <a:fillRect/>
          </a:stretch>
        </p:blipFill>
        <p:spPr>
          <a:xfrm>
            <a:off x="4572000" y="2606040"/>
            <a:ext cx="2011680" cy="2057400"/>
          </a:xfrm>
          <a:prstGeom prst="rect">
            <a:avLst/>
          </a:prstGeom>
        </p:spPr>
      </p:pic>
      <p:sp>
        <p:nvSpPr>
          <p:cNvPr id="15" name="Shape 9"/>
          <p:cNvSpPr/>
          <p:nvPr/>
        </p:nvSpPr>
        <p:spPr>
          <a:xfrm>
            <a:off x="4681728" y="4251960"/>
            <a:ext cx="832104" cy="292608"/>
          </a:xfrm>
          <a:prstGeom prst="roundRect">
            <a:avLst>
              <a:gd name="adj" fmla="val 50000"/>
            </a:avLst>
          </a:prstGeom>
          <a:solidFill>
            <a:schemeClr val="bg2"/>
          </a:solidFill>
          <a:ln/>
        </p:spPr>
      </p:sp>
      <p:sp>
        <p:nvSpPr>
          <p:cNvPr id="16" name="Shape 10"/>
          <p:cNvSpPr/>
          <p:nvPr/>
        </p:nvSpPr>
        <p:spPr>
          <a:xfrm>
            <a:off x="4773168" y="4334256"/>
            <a:ext cx="128016" cy="128016"/>
          </a:xfrm>
          <a:prstGeom prst="ellipse">
            <a:avLst/>
          </a:prstGeom>
          <a:solidFill>
            <a:schemeClr val="accent1"/>
          </a:solidFill>
          <a:ln/>
        </p:spPr>
      </p:sp>
      <p:sp>
        <p:nvSpPr>
          <p:cNvPr id="17" name="Text 11"/>
          <p:cNvSpPr txBox="1"/>
          <p:nvPr/>
        </p:nvSpPr>
        <p:spPr>
          <a:xfrm>
            <a:off x="4956048" y="4251960"/>
            <a:ext cx="557784" cy="292608"/>
          </a:xfrm>
          <a:prstGeom prst="rect">
            <a:avLst/>
          </a:prstGeom>
          <a:noFill/>
          <a:ln/>
        </p:spPr>
        <p:txBody>
          <a:bodyPr wrap="square" lIns="0" tIns="0" rIns="0" bIns="0" rtlCol="0" anchor="ctr"/>
          <a:lstStyle/>
          <a:p>
            <a:pPr indent="0" marL="0">
              <a:buNone/>
            </a:pPr>
            <a:r>
              <a:rPr lang="en-US" sz="1200" b="1" dirty="0">
                <a:solidFill>
                  <a:schemeClr val="tx1"/>
                </a:solidFill>
              </a:rPr>
              <a:t>luna</a:t>
            </a:r>
            <a:endParaRPr lang="en-US" sz="1200" dirty="0"/>
          </a:p>
        </p:txBody>
      </p:sp>
      <p:pic>
        <p:nvPicPr>
          <p:cNvPr id="18" name="cover-silver" descr="cover-silver">    </p:cNvPr>
          <p:cNvPicPr>
            <a:picLocks noChangeAspect="1"/>
          </p:cNvPicPr>
          <p:nvPr/>
        </p:nvPicPr>
        <p:blipFill>
          <a:blip r:embed="rId5"/>
          <a:stretch>
            <a:fillRect/>
          </a:stretch>
        </p:blipFill>
        <p:spPr>
          <a:xfrm>
            <a:off x="6675120" y="2606040"/>
            <a:ext cx="2011680" cy="2057400"/>
          </a:xfrm>
          <a:prstGeom prst="rect">
            <a:avLst/>
          </a:prstGeom>
        </p:spPr>
      </p:pic>
      <p:sp>
        <p:nvSpPr>
          <p:cNvPr id="19" name="Shape 12"/>
          <p:cNvSpPr/>
          <p:nvPr/>
        </p:nvSpPr>
        <p:spPr>
          <a:xfrm>
            <a:off x="6784848" y="4251960"/>
            <a:ext cx="996696" cy="292608"/>
          </a:xfrm>
          <a:prstGeom prst="roundRect">
            <a:avLst>
              <a:gd name="adj" fmla="val 50000"/>
            </a:avLst>
          </a:prstGeom>
          <a:solidFill>
            <a:schemeClr val="bg2"/>
          </a:solidFill>
          <a:ln/>
        </p:spPr>
      </p:sp>
      <p:sp>
        <p:nvSpPr>
          <p:cNvPr id="20" name="Shape 13"/>
          <p:cNvSpPr/>
          <p:nvPr/>
        </p:nvSpPr>
        <p:spPr>
          <a:xfrm>
            <a:off x="6876288" y="4334256"/>
            <a:ext cx="128016" cy="128016"/>
          </a:xfrm>
          <a:prstGeom prst="ellipse">
            <a:avLst/>
          </a:prstGeom>
          <a:solidFill>
            <a:schemeClr val="accent2"/>
          </a:solidFill>
          <a:ln/>
        </p:spPr>
      </p:sp>
      <p:sp>
        <p:nvSpPr>
          <p:cNvPr id="21" name="Text 14"/>
          <p:cNvSpPr txBox="1"/>
          <p:nvPr/>
        </p:nvSpPr>
        <p:spPr>
          <a:xfrm>
            <a:off x="7059168" y="4251960"/>
            <a:ext cx="722376" cy="292608"/>
          </a:xfrm>
          <a:prstGeom prst="rect">
            <a:avLst/>
          </a:prstGeom>
          <a:noFill/>
          <a:ln/>
        </p:spPr>
        <p:txBody>
          <a:bodyPr wrap="square" lIns="0" tIns="0" rIns="0" bIns="0" rtlCol="0" anchor="ctr"/>
          <a:lstStyle/>
          <a:p>
            <a:pPr indent="0" marL="0">
              <a:buNone/>
            </a:pPr>
            <a:r>
              <a:rPr lang="en-US" sz="1200" b="1" dirty="0">
                <a:solidFill>
                  <a:schemeClr val="tx1"/>
                </a:solidFill>
              </a:rPr>
              <a:t>silver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LE PROJET EN BREF</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une paille, </a:t>
            </a:r>
            <a:pPr algn="l" indent="0" marL="0">
              <a:buNone/>
            </a:pPr>
            <a:r>
              <a:rPr lang="en-US" sz="2800" i="1" dirty="0">
                <a:solidFill>
                  <a:schemeClr val="tx1"/>
                </a:solidFill>
                <a:latin typeface="Cambria" pitchFamily="34" charset="0"/>
                <a:ea typeface="Cambria" pitchFamily="34" charset="-122"/>
                <a:cs typeface="Cambria" pitchFamily="34" charset="-120"/>
              </a:rPr>
              <a:t>un rituel quotidien</a:t>
            </a:r>
            <a:endParaRPr lang="en-US" sz="2800" dirty="0"/>
          </a:p>
        </p:txBody>
      </p:sp>
      <p:sp>
        <p:nvSpPr>
          <p:cNvPr id="4" name="fond-visuel"/>
          <p:cNvSpPr/>
          <p:nvPr/>
        </p:nvSpPr>
        <p:spPr>
          <a:xfrm>
            <a:off x="457200" y="1280160"/>
            <a:ext cx="3291840" cy="3108960"/>
          </a:xfrm>
          <a:prstGeom prst="roundRect">
            <a:avLst>
              <a:gd name="adj" fmla="val 2353"/>
            </a:avLst>
          </a:prstGeom>
          <a:solidFill>
            <a:srgbClr val="F6E7E2"/>
          </a:solidFill>
          <a:ln/>
        </p:spPr>
      </p:sp>
      <p:pic>
        <p:nvPicPr>
          <p:cNvPr id="5" name="visuel-paille" descr="étui et paille sip lab luna">    </p:cNvPr>
          <p:cNvPicPr>
            <a:picLocks noChangeAspect="1"/>
          </p:cNvPicPr>
          <p:nvPr/>
        </p:nvPicPr>
        <p:blipFill>
          <a:blip r:embed="rId1"/>
          <a:stretch>
            <a:fillRect/>
          </a:stretch>
        </p:blipFill>
        <p:spPr>
          <a:xfrm>
            <a:off x="760320" y="1463040"/>
            <a:ext cx="2685600" cy="2743200"/>
          </a:xfrm>
          <a:prstGeom prst="rect">
            <a:avLst/>
          </a:prstGeom>
        </p:spPr>
      </p:pic>
      <p:sp>
        <p:nvSpPr>
          <p:cNvPr id="6" name="bref-0"/>
          <p:cNvSpPr/>
          <p:nvPr/>
        </p:nvSpPr>
        <p:spPr>
          <a:xfrm>
            <a:off x="4023360" y="1280160"/>
            <a:ext cx="4663440" cy="694944"/>
          </a:xfrm>
          <a:prstGeom prst="roundRect">
            <a:avLst>
              <a:gd name="adj" fmla="val 10526"/>
            </a:avLst>
          </a:prstGeom>
          <a:solidFill>
            <a:srgbClr val="FFFFFF"/>
          </a:solidFill>
          <a:ln/>
        </p:spPr>
      </p:sp>
      <p:sp>
        <p:nvSpPr>
          <p:cNvPr id="7" name="Shape 4"/>
          <p:cNvSpPr/>
          <p:nvPr/>
        </p:nvSpPr>
        <p:spPr>
          <a:xfrm>
            <a:off x="4206240" y="1554480"/>
            <a:ext cx="146304" cy="146304"/>
          </a:xfrm>
          <a:prstGeom prst="ellipse">
            <a:avLst/>
          </a:prstGeom>
          <a:solidFill>
            <a:schemeClr val="accent4"/>
          </a:solidFill>
          <a:ln/>
        </p:spPr>
      </p:sp>
      <p:sp>
        <p:nvSpPr>
          <p:cNvPr id="8" name="Text 5"/>
          <p:cNvSpPr txBox="1"/>
          <p:nvPr/>
        </p:nvSpPr>
        <p:spPr>
          <a:xfrm>
            <a:off x="4526280" y="1371600"/>
            <a:ext cx="4023360" cy="228600"/>
          </a:xfrm>
          <a:prstGeom prst="rect">
            <a:avLst/>
          </a:prstGeom>
          <a:noFill/>
          <a:ln/>
        </p:spPr>
        <p:txBody>
          <a:bodyPr wrap="square" lIns="0" tIns="0" rIns="0" bIns="0" rtlCol="0" anchor="t"/>
          <a:lstStyle/>
          <a:p>
            <a:pPr indent="0" marL="0">
              <a:buNone/>
            </a:pPr>
            <a:r>
              <a:rPr lang="en-US" sz="1300" b="1" dirty="0">
                <a:solidFill>
                  <a:schemeClr val="tx1"/>
                </a:solidFill>
              </a:rPr>
              <a:t>le problème</a:t>
            </a:r>
            <a:endParaRPr lang="en-US" sz="1300" dirty="0"/>
          </a:p>
        </p:txBody>
      </p:sp>
      <p:sp>
        <p:nvSpPr>
          <p:cNvPr id="9" name="Text 6"/>
          <p:cNvSpPr txBox="1"/>
          <p:nvPr/>
        </p:nvSpPr>
        <p:spPr>
          <a:xfrm>
            <a:off x="4526280" y="1609344"/>
            <a:ext cx="4023360" cy="347472"/>
          </a:xfrm>
          <a:prstGeom prst="rect">
            <a:avLst/>
          </a:prstGeom>
          <a:noFill/>
          <a:ln/>
        </p:spPr>
        <p:txBody>
          <a:bodyPr wrap="square" lIns="0" tIns="0" rIns="0" bIns="0" rtlCol="0" anchor="t"/>
          <a:lstStyle/>
          <a:p>
            <a:pPr indent="0" marL="0">
              <a:buNone/>
            </a:pPr>
            <a:r>
              <a:rPr lang="en-US" sz="1050" dirty="0">
                <a:solidFill>
                  <a:schemeClr val="tx2"/>
                </a:solidFill>
              </a:rPr>
              <a:t>Les compléments sont achetés mais mal pris : gélules difficiles à avaler, oublis, pas d'habitude.</a:t>
            </a:r>
            <a:endParaRPr lang="en-US" sz="1050" dirty="0"/>
          </a:p>
        </p:txBody>
      </p:sp>
      <p:sp>
        <p:nvSpPr>
          <p:cNvPr id="10" name="bref-1"/>
          <p:cNvSpPr/>
          <p:nvPr/>
        </p:nvSpPr>
        <p:spPr>
          <a:xfrm>
            <a:off x="4023360" y="2066544"/>
            <a:ext cx="4663440" cy="694944"/>
          </a:xfrm>
          <a:prstGeom prst="roundRect">
            <a:avLst>
              <a:gd name="adj" fmla="val 10526"/>
            </a:avLst>
          </a:prstGeom>
          <a:solidFill>
            <a:srgbClr val="FFFFFF"/>
          </a:solidFill>
          <a:ln/>
        </p:spPr>
      </p:sp>
      <p:sp>
        <p:nvSpPr>
          <p:cNvPr id="11" name="Shape 8"/>
          <p:cNvSpPr/>
          <p:nvPr/>
        </p:nvSpPr>
        <p:spPr>
          <a:xfrm>
            <a:off x="4206240" y="2340864"/>
            <a:ext cx="146304" cy="146304"/>
          </a:xfrm>
          <a:prstGeom prst="ellipse">
            <a:avLst/>
          </a:prstGeom>
          <a:solidFill>
            <a:schemeClr val="accent1"/>
          </a:solidFill>
          <a:ln/>
        </p:spPr>
      </p:sp>
      <p:sp>
        <p:nvSpPr>
          <p:cNvPr id="12" name="Text 9"/>
          <p:cNvSpPr txBox="1"/>
          <p:nvPr/>
        </p:nvSpPr>
        <p:spPr>
          <a:xfrm>
            <a:off x="4526280" y="2157984"/>
            <a:ext cx="4023360" cy="228600"/>
          </a:xfrm>
          <a:prstGeom prst="rect">
            <a:avLst/>
          </a:prstGeom>
          <a:noFill/>
          <a:ln/>
        </p:spPr>
        <p:txBody>
          <a:bodyPr wrap="square" lIns="0" tIns="0" rIns="0" bIns="0" rtlCol="0" anchor="t"/>
          <a:lstStyle/>
          <a:p>
            <a:pPr indent="0" marL="0">
              <a:buNone/>
            </a:pPr>
            <a:r>
              <a:rPr lang="en-US" sz="1300" b="1" dirty="0">
                <a:solidFill>
                  <a:schemeClr val="tx1"/>
                </a:solidFill>
              </a:rPr>
              <a:t>la solution</a:t>
            </a:r>
            <a:endParaRPr lang="en-US" sz="1300" dirty="0"/>
          </a:p>
        </p:txBody>
      </p:sp>
      <p:sp>
        <p:nvSpPr>
          <p:cNvPr id="13" name="Text 10"/>
          <p:cNvSpPr txBox="1"/>
          <p:nvPr/>
        </p:nvSpPr>
        <p:spPr>
          <a:xfrm>
            <a:off x="4526280" y="2395728"/>
            <a:ext cx="4023360" cy="347472"/>
          </a:xfrm>
          <a:prstGeom prst="rect">
            <a:avLst/>
          </a:prstGeom>
          <a:noFill/>
          <a:ln/>
        </p:spPr>
        <p:txBody>
          <a:bodyPr wrap="square" lIns="0" tIns="0" rIns="0" bIns="0" rtlCol="0" anchor="t"/>
          <a:lstStyle/>
          <a:p>
            <a:pPr indent="0" marL="0">
              <a:buNone/>
            </a:pPr>
            <a:r>
              <a:rPr lang="en-US" sz="1050" dirty="0">
                <a:solidFill>
                  <a:schemeClr val="tx2"/>
                </a:solidFill>
              </a:rPr>
              <a:t>Une paille remplie de micro-billes d'actifs : on boit sa boisson habituelle, la dose est prise. Rien à avaler, sans sucre ajouté.</a:t>
            </a:r>
            <a:endParaRPr lang="en-US" sz="1050" dirty="0"/>
          </a:p>
        </p:txBody>
      </p:sp>
      <p:sp>
        <p:nvSpPr>
          <p:cNvPr id="14" name="bref-2"/>
          <p:cNvSpPr/>
          <p:nvPr/>
        </p:nvSpPr>
        <p:spPr>
          <a:xfrm>
            <a:off x="4023360" y="2852928"/>
            <a:ext cx="4663440" cy="694944"/>
          </a:xfrm>
          <a:prstGeom prst="roundRect">
            <a:avLst>
              <a:gd name="adj" fmla="val 10526"/>
            </a:avLst>
          </a:prstGeom>
          <a:solidFill>
            <a:srgbClr val="FFFFFF"/>
          </a:solidFill>
          <a:ln/>
        </p:spPr>
      </p:sp>
      <p:sp>
        <p:nvSpPr>
          <p:cNvPr id="15" name="Shape 12"/>
          <p:cNvSpPr/>
          <p:nvPr/>
        </p:nvSpPr>
        <p:spPr>
          <a:xfrm>
            <a:off x="4206240" y="3127248"/>
            <a:ext cx="146304" cy="146304"/>
          </a:xfrm>
          <a:prstGeom prst="ellipse">
            <a:avLst/>
          </a:prstGeom>
          <a:solidFill>
            <a:schemeClr val="accent2"/>
          </a:solidFill>
          <a:ln/>
        </p:spPr>
      </p:sp>
      <p:sp>
        <p:nvSpPr>
          <p:cNvPr id="16" name="Text 13"/>
          <p:cNvSpPr txBox="1"/>
          <p:nvPr/>
        </p:nvSpPr>
        <p:spPr>
          <a:xfrm>
            <a:off x="4526280" y="2944368"/>
            <a:ext cx="4023360" cy="228600"/>
          </a:xfrm>
          <a:prstGeom prst="rect">
            <a:avLst/>
          </a:prstGeom>
          <a:noFill/>
          <a:ln/>
        </p:spPr>
        <p:txBody>
          <a:bodyPr wrap="square" lIns="0" tIns="0" rIns="0" bIns="0" rtlCol="0" anchor="t"/>
          <a:lstStyle/>
          <a:p>
            <a:pPr indent="0" marL="0">
              <a:buNone/>
            </a:pPr>
            <a:r>
              <a:rPr lang="en-US" sz="1300" b="1" dirty="0">
                <a:solidFill>
                  <a:schemeClr val="tx1"/>
                </a:solidFill>
              </a:rPr>
              <a:t>le concept</a:t>
            </a:r>
            <a:endParaRPr lang="en-US" sz="1300" dirty="0"/>
          </a:p>
        </p:txBody>
      </p:sp>
      <p:sp>
        <p:nvSpPr>
          <p:cNvPr id="17" name="Text 14"/>
          <p:cNvSpPr txBox="1"/>
          <p:nvPr/>
        </p:nvSpPr>
        <p:spPr>
          <a:xfrm>
            <a:off x="4526280" y="3182112"/>
            <a:ext cx="4023360" cy="347472"/>
          </a:xfrm>
          <a:prstGeom prst="rect">
            <a:avLst/>
          </a:prstGeom>
          <a:noFill/>
          <a:ln/>
        </p:spPr>
        <p:txBody>
          <a:bodyPr wrap="square" lIns="0" tIns="0" rIns="0" bIns="0" rtlCol="0" anchor="t"/>
          <a:lstStyle/>
          <a:p>
            <a:pPr indent="0" marL="0">
              <a:buNone/>
            </a:pPr>
            <a:r>
              <a:rPr lang="en-US" sz="1050" dirty="0">
                <a:solidFill>
                  <a:schemeClr val="tx2"/>
                </a:solidFill>
              </a:rPr>
              <a:t>Plus qu'un complément, un rituel : une paille datée, un geste agréable que l'on a envie de refaire.</a:t>
            </a:r>
            <a:endParaRPr lang="en-US" sz="1050" dirty="0"/>
          </a:p>
        </p:txBody>
      </p:sp>
      <p:sp>
        <p:nvSpPr>
          <p:cNvPr id="18" name="bref-3"/>
          <p:cNvSpPr/>
          <p:nvPr/>
        </p:nvSpPr>
        <p:spPr>
          <a:xfrm>
            <a:off x="4023360" y="3639312"/>
            <a:ext cx="4663440" cy="694944"/>
          </a:xfrm>
          <a:prstGeom prst="roundRect">
            <a:avLst>
              <a:gd name="adj" fmla="val 10526"/>
            </a:avLst>
          </a:prstGeom>
          <a:solidFill>
            <a:srgbClr val="FFFFFF"/>
          </a:solidFill>
          <a:ln/>
        </p:spPr>
      </p:sp>
      <p:sp>
        <p:nvSpPr>
          <p:cNvPr id="19" name="Shape 16"/>
          <p:cNvSpPr/>
          <p:nvPr/>
        </p:nvSpPr>
        <p:spPr>
          <a:xfrm>
            <a:off x="4206240" y="3913632"/>
            <a:ext cx="146304" cy="146304"/>
          </a:xfrm>
          <a:prstGeom prst="ellipse">
            <a:avLst/>
          </a:prstGeom>
          <a:solidFill>
            <a:schemeClr val="accent3"/>
          </a:solidFill>
          <a:ln/>
        </p:spPr>
      </p:sp>
      <p:sp>
        <p:nvSpPr>
          <p:cNvPr id="20" name="Text 17"/>
          <p:cNvSpPr txBox="1"/>
          <p:nvPr/>
        </p:nvSpPr>
        <p:spPr>
          <a:xfrm>
            <a:off x="4526280" y="3730752"/>
            <a:ext cx="4023360" cy="228600"/>
          </a:xfrm>
          <a:prstGeom prst="rect">
            <a:avLst/>
          </a:prstGeom>
          <a:noFill/>
          <a:ln/>
        </p:spPr>
        <p:txBody>
          <a:bodyPr wrap="square" lIns="0" tIns="0" rIns="0" bIns="0" rtlCol="0" anchor="t"/>
          <a:lstStyle/>
          <a:p>
            <a:pPr indent="0" marL="0">
              <a:buNone/>
            </a:pPr>
            <a:r>
              <a:rPr lang="en-US" sz="1300" b="1" dirty="0">
                <a:solidFill>
                  <a:schemeClr val="tx1"/>
                </a:solidFill>
              </a:rPr>
              <a:t>la marque</a:t>
            </a:r>
            <a:endParaRPr lang="en-US" sz="1300" dirty="0"/>
          </a:p>
        </p:txBody>
      </p:sp>
      <p:sp>
        <p:nvSpPr>
          <p:cNvPr id="21" name="Text 18"/>
          <p:cNvSpPr txBox="1"/>
          <p:nvPr/>
        </p:nvSpPr>
        <p:spPr>
          <a:xfrm>
            <a:off x="4526280" y="3968496"/>
            <a:ext cx="4023360" cy="347472"/>
          </a:xfrm>
          <a:prstGeom prst="rect">
            <a:avLst/>
          </a:prstGeom>
          <a:noFill/>
          <a:ln/>
        </p:spPr>
        <p:txBody>
          <a:bodyPr wrap="square" lIns="0" tIns="0" rIns="0" bIns="0" rtlCol="0" anchor="t"/>
          <a:lstStyle/>
          <a:p>
            <a:pPr indent="0" marL="0">
              <a:buNone/>
            </a:pPr>
            <a:r>
              <a:rPr lang="en-US" sz="1050" dirty="0">
                <a:solidFill>
                  <a:schemeClr val="tx2"/>
                </a:solidFill>
              </a:rPr>
              <a:t>4 gammes : mini (enfants), active (femmes actives), luna (santé féminine), silver (seniors).</a:t>
            </a:r>
            <a:endParaRPr lang="en-US" sz="105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MA DÉMARCHE</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innover sur </a:t>
            </a:r>
            <a:pPr algn="l" indent="0" marL="0">
              <a:buNone/>
            </a:pPr>
            <a:r>
              <a:rPr lang="en-US" sz="2800" i="1" dirty="0">
                <a:solidFill>
                  <a:schemeClr val="tx1"/>
                </a:solidFill>
                <a:latin typeface="Cambria" pitchFamily="34" charset="0"/>
                <a:ea typeface="Cambria" pitchFamily="34" charset="-122"/>
                <a:cs typeface="Cambria" pitchFamily="34" charset="-120"/>
              </a:rPr>
              <a:t>la forme galénique</a:t>
            </a:r>
            <a:endParaRPr lang="en-US" sz="2800" dirty="0"/>
          </a:p>
        </p:txBody>
      </p:sp>
      <p:sp>
        <p:nvSpPr>
          <p:cNvPr id="4" name="etape-0"/>
          <p:cNvSpPr/>
          <p:nvPr/>
        </p:nvSpPr>
        <p:spPr>
          <a:xfrm>
            <a:off x="457200" y="1280160"/>
            <a:ext cx="1947672" cy="2514600"/>
          </a:xfrm>
          <a:prstGeom prst="roundRect">
            <a:avLst>
              <a:gd name="adj" fmla="val 3756"/>
            </a:avLst>
          </a:prstGeom>
          <a:solidFill>
            <a:srgbClr val="FFFFFF"/>
          </a:solidFill>
          <a:ln/>
        </p:spPr>
      </p:sp>
      <p:sp>
        <p:nvSpPr>
          <p:cNvPr id="5" name="Shape 3"/>
          <p:cNvSpPr/>
          <p:nvPr/>
        </p:nvSpPr>
        <p:spPr>
          <a:xfrm>
            <a:off x="658368" y="1463040"/>
            <a:ext cx="384048" cy="384048"/>
          </a:xfrm>
          <a:prstGeom prst="ellipse">
            <a:avLst/>
          </a:prstGeom>
          <a:solidFill>
            <a:schemeClr val="accent4"/>
          </a:solidFill>
          <a:ln/>
        </p:spPr>
      </p:sp>
      <p:sp>
        <p:nvSpPr>
          <p:cNvPr id="6" name="Text 4"/>
          <p:cNvSpPr txBox="1"/>
          <p:nvPr/>
        </p:nvSpPr>
        <p:spPr>
          <a:xfrm>
            <a:off x="658368" y="1463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Text 5"/>
          <p:cNvSpPr txBox="1"/>
          <p:nvPr/>
        </p:nvSpPr>
        <p:spPr>
          <a:xfrm>
            <a:off x="658368" y="1965960"/>
            <a:ext cx="1645920" cy="292608"/>
          </a:xfrm>
          <a:prstGeom prst="rect">
            <a:avLst/>
          </a:prstGeom>
          <a:noFill/>
          <a:ln/>
        </p:spPr>
        <p:txBody>
          <a:bodyPr wrap="square" lIns="0" tIns="0" rIns="0" bIns="0" rtlCol="0" anchor="t"/>
          <a:lstStyle/>
          <a:p>
            <a:pPr indent="0" marL="0">
              <a:buNone/>
            </a:pPr>
            <a:r>
              <a:rPr lang="en-US" sz="1350" b="1" dirty="0">
                <a:solidFill>
                  <a:schemeClr val="tx1"/>
                </a:solidFill>
              </a:rPr>
              <a:t>Le point de départ</a:t>
            </a:r>
            <a:endParaRPr lang="en-US" sz="1350" dirty="0"/>
          </a:p>
        </p:txBody>
      </p:sp>
      <p:sp>
        <p:nvSpPr>
          <p:cNvPr id="8" name="Text 6"/>
          <p:cNvSpPr txBox="1"/>
          <p:nvPr/>
        </p:nvSpPr>
        <p:spPr>
          <a:xfrm>
            <a:off x="658368" y="2286000"/>
            <a:ext cx="1600200" cy="1463040"/>
          </a:xfrm>
          <a:prstGeom prst="rect">
            <a:avLst/>
          </a:prstGeom>
          <a:noFill/>
          <a:ln/>
        </p:spPr>
        <p:txBody>
          <a:bodyPr wrap="square" lIns="0" tIns="0" rIns="0" bIns="0" rtlCol="0" anchor="t"/>
          <a:lstStyle/>
          <a:p>
            <a:pPr indent="0" marL="0">
              <a:buNone/>
            </a:pPr>
            <a:r>
              <a:rPr lang="en-US" sz="1050" dirty="0">
                <a:solidFill>
                  <a:schemeClr val="tx2"/>
                </a:solidFill>
              </a:rPr>
              <a:t>Innover sur la forme galénique d'un complément alimentaire : changer la façon de le prendre, pas seulement la formule.</a:t>
            </a:r>
            <a:endParaRPr lang="en-US" sz="1050" dirty="0"/>
          </a:p>
        </p:txBody>
      </p:sp>
      <p:sp>
        <p:nvSpPr>
          <p:cNvPr id="9" name="Text 7"/>
          <p:cNvSpPr txBox="1"/>
          <p:nvPr/>
        </p:nvSpPr>
        <p:spPr>
          <a:xfrm>
            <a:off x="2404872" y="2331720"/>
            <a:ext cx="146304" cy="274320"/>
          </a:xfrm>
          <a:prstGeom prst="rect">
            <a:avLst/>
          </a:prstGeom>
          <a:noFill/>
          <a:ln/>
        </p:spPr>
        <p:txBody>
          <a:bodyPr wrap="square" lIns="0" tIns="0" rIns="0" bIns="0" rtlCol="0" anchor="t"/>
          <a:lstStyle/>
          <a:p>
            <a:pPr algn="ctr" indent="0" marL="0">
              <a:buNone/>
            </a:pPr>
            <a:r>
              <a:rPr lang="en-US" sz="1200" dirty="0">
                <a:solidFill>
                  <a:schemeClr val="tx2"/>
                </a:solidFill>
              </a:rPr>
              <a:t>→</a:t>
            </a:r>
            <a:endParaRPr lang="en-US" sz="1200" dirty="0"/>
          </a:p>
        </p:txBody>
      </p:sp>
      <p:sp>
        <p:nvSpPr>
          <p:cNvPr id="10" name="etape-1"/>
          <p:cNvSpPr/>
          <p:nvPr/>
        </p:nvSpPr>
        <p:spPr>
          <a:xfrm>
            <a:off x="2551176" y="1280160"/>
            <a:ext cx="1947672" cy="2514600"/>
          </a:xfrm>
          <a:prstGeom prst="roundRect">
            <a:avLst>
              <a:gd name="adj" fmla="val 3756"/>
            </a:avLst>
          </a:prstGeom>
          <a:solidFill>
            <a:srgbClr val="FFFFFF"/>
          </a:solidFill>
          <a:ln/>
        </p:spPr>
      </p:sp>
      <p:sp>
        <p:nvSpPr>
          <p:cNvPr id="11" name="Shape 9"/>
          <p:cNvSpPr/>
          <p:nvPr/>
        </p:nvSpPr>
        <p:spPr>
          <a:xfrm>
            <a:off x="2752344" y="1463040"/>
            <a:ext cx="384048" cy="384048"/>
          </a:xfrm>
          <a:prstGeom prst="ellipse">
            <a:avLst/>
          </a:prstGeom>
          <a:solidFill>
            <a:schemeClr val="accent1"/>
          </a:solidFill>
          <a:ln/>
        </p:spPr>
      </p:sp>
      <p:sp>
        <p:nvSpPr>
          <p:cNvPr id="12" name="Text 10"/>
          <p:cNvSpPr txBox="1"/>
          <p:nvPr/>
        </p:nvSpPr>
        <p:spPr>
          <a:xfrm>
            <a:off x="2752344" y="1463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3" name="Text 11"/>
          <p:cNvSpPr txBox="1"/>
          <p:nvPr/>
        </p:nvSpPr>
        <p:spPr>
          <a:xfrm>
            <a:off x="2752344" y="1965960"/>
            <a:ext cx="1645920" cy="292608"/>
          </a:xfrm>
          <a:prstGeom prst="rect">
            <a:avLst/>
          </a:prstGeom>
          <a:noFill/>
          <a:ln/>
        </p:spPr>
        <p:txBody>
          <a:bodyPr wrap="square" lIns="0" tIns="0" rIns="0" bIns="0" rtlCol="0" anchor="t"/>
          <a:lstStyle/>
          <a:p>
            <a:pPr indent="0" marL="0">
              <a:buNone/>
            </a:pPr>
            <a:r>
              <a:rPr lang="en-US" sz="1350" b="1" dirty="0">
                <a:solidFill>
                  <a:schemeClr val="tx1"/>
                </a:solidFill>
              </a:rPr>
              <a:t>Veille internationale</a:t>
            </a:r>
            <a:endParaRPr lang="en-US" sz="1350" dirty="0"/>
          </a:p>
        </p:txBody>
      </p:sp>
      <p:sp>
        <p:nvSpPr>
          <p:cNvPr id="14" name="Text 12"/>
          <p:cNvSpPr txBox="1"/>
          <p:nvPr/>
        </p:nvSpPr>
        <p:spPr>
          <a:xfrm>
            <a:off x="2752344" y="2286000"/>
            <a:ext cx="1600200" cy="1463040"/>
          </a:xfrm>
          <a:prstGeom prst="rect">
            <a:avLst/>
          </a:prstGeom>
          <a:noFill/>
          <a:ln/>
        </p:spPr>
        <p:txBody>
          <a:bodyPr wrap="square" lIns="0" tIns="0" rIns="0" bIns="0" rtlCol="0" anchor="t"/>
          <a:lstStyle/>
          <a:p>
            <a:pPr indent="0" marL="0">
              <a:buNone/>
            </a:pPr>
            <a:r>
              <a:rPr lang="en-US" sz="1050" dirty="0">
                <a:solidFill>
                  <a:schemeClr val="tx2"/>
                </a:solidFill>
              </a:rPr>
              <a:t>Recherche des formats innovants dans le monde : pailles actives aux États-Unis, en Australie, et déjà en France par le passé.</a:t>
            </a:r>
            <a:endParaRPr lang="en-US" sz="1050" dirty="0"/>
          </a:p>
        </p:txBody>
      </p:sp>
      <p:sp>
        <p:nvSpPr>
          <p:cNvPr id="15" name="Text 13"/>
          <p:cNvSpPr txBox="1"/>
          <p:nvPr/>
        </p:nvSpPr>
        <p:spPr>
          <a:xfrm>
            <a:off x="4498848" y="2331720"/>
            <a:ext cx="146304" cy="274320"/>
          </a:xfrm>
          <a:prstGeom prst="rect">
            <a:avLst/>
          </a:prstGeom>
          <a:noFill/>
          <a:ln/>
        </p:spPr>
        <p:txBody>
          <a:bodyPr wrap="square" lIns="0" tIns="0" rIns="0" bIns="0" rtlCol="0" anchor="t"/>
          <a:lstStyle/>
          <a:p>
            <a:pPr algn="ctr" indent="0" marL="0">
              <a:buNone/>
            </a:pPr>
            <a:r>
              <a:rPr lang="en-US" sz="1200" dirty="0">
                <a:solidFill>
                  <a:schemeClr val="tx2"/>
                </a:solidFill>
              </a:rPr>
              <a:t>→</a:t>
            </a:r>
            <a:endParaRPr lang="en-US" sz="1200" dirty="0"/>
          </a:p>
        </p:txBody>
      </p:sp>
      <p:sp>
        <p:nvSpPr>
          <p:cNvPr id="16" name="etape-2"/>
          <p:cNvSpPr/>
          <p:nvPr/>
        </p:nvSpPr>
        <p:spPr>
          <a:xfrm>
            <a:off x="4645152" y="1280160"/>
            <a:ext cx="1947672" cy="2514600"/>
          </a:xfrm>
          <a:prstGeom prst="roundRect">
            <a:avLst>
              <a:gd name="adj" fmla="val 3756"/>
            </a:avLst>
          </a:prstGeom>
          <a:solidFill>
            <a:srgbClr val="FFFFFF"/>
          </a:solidFill>
          <a:ln/>
        </p:spPr>
      </p:sp>
      <p:sp>
        <p:nvSpPr>
          <p:cNvPr id="17" name="Shape 15"/>
          <p:cNvSpPr/>
          <p:nvPr/>
        </p:nvSpPr>
        <p:spPr>
          <a:xfrm>
            <a:off x="4846320" y="1463040"/>
            <a:ext cx="384048" cy="384048"/>
          </a:xfrm>
          <a:prstGeom prst="ellipse">
            <a:avLst/>
          </a:prstGeom>
          <a:solidFill>
            <a:schemeClr val="accent2"/>
          </a:solidFill>
          <a:ln/>
        </p:spPr>
      </p:sp>
      <p:sp>
        <p:nvSpPr>
          <p:cNvPr id="18" name="Text 16"/>
          <p:cNvSpPr txBox="1"/>
          <p:nvPr/>
        </p:nvSpPr>
        <p:spPr>
          <a:xfrm>
            <a:off x="4846320" y="1463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9" name="Text 17"/>
          <p:cNvSpPr txBox="1"/>
          <p:nvPr/>
        </p:nvSpPr>
        <p:spPr>
          <a:xfrm>
            <a:off x="4846320" y="1965960"/>
            <a:ext cx="1645920" cy="292608"/>
          </a:xfrm>
          <a:prstGeom prst="rect">
            <a:avLst/>
          </a:prstGeom>
          <a:noFill/>
          <a:ln/>
        </p:spPr>
        <p:txBody>
          <a:bodyPr wrap="square" lIns="0" tIns="0" rIns="0" bIns="0" rtlCol="0" anchor="t"/>
          <a:lstStyle/>
          <a:p>
            <a:pPr indent="0" marL="0">
              <a:buNone/>
            </a:pPr>
            <a:r>
              <a:rPr lang="en-US" sz="1350" b="1" dirty="0">
                <a:solidFill>
                  <a:schemeClr val="tx1"/>
                </a:solidFill>
              </a:rPr>
              <a:t>Les brevets</a:t>
            </a:r>
            <a:endParaRPr lang="en-US" sz="1350" dirty="0"/>
          </a:p>
        </p:txBody>
      </p:sp>
      <p:sp>
        <p:nvSpPr>
          <p:cNvPr id="20" name="Text 18"/>
          <p:cNvSpPr txBox="1"/>
          <p:nvPr/>
        </p:nvSpPr>
        <p:spPr>
          <a:xfrm>
            <a:off x="4846320" y="2286000"/>
            <a:ext cx="1600200" cy="1463040"/>
          </a:xfrm>
          <a:prstGeom prst="rect">
            <a:avLst/>
          </a:prstGeom>
          <a:noFill/>
          <a:ln/>
        </p:spPr>
        <p:txBody>
          <a:bodyPr wrap="square" lIns="0" tIns="0" rIns="0" bIns="0" rtlCol="0" anchor="t"/>
          <a:lstStyle/>
          <a:p>
            <a:pPr indent="0" marL="0">
              <a:buNone/>
            </a:pPr>
            <a:r>
              <a:rPr lang="en-US" sz="1050" dirty="0">
                <a:solidFill>
                  <a:schemeClr val="tx2"/>
                </a:solidFill>
              </a:rPr>
              <a:t>En étudiant les marques qui commercialisent ces pailles, je remonte aux brevets d'Unistraw (Australie), à l'origine de la technologie.</a:t>
            </a:r>
            <a:endParaRPr lang="en-US" sz="1050" dirty="0"/>
          </a:p>
        </p:txBody>
      </p:sp>
      <p:sp>
        <p:nvSpPr>
          <p:cNvPr id="21" name="Text 19"/>
          <p:cNvSpPr txBox="1"/>
          <p:nvPr/>
        </p:nvSpPr>
        <p:spPr>
          <a:xfrm>
            <a:off x="6592824" y="2331720"/>
            <a:ext cx="146304" cy="274320"/>
          </a:xfrm>
          <a:prstGeom prst="rect">
            <a:avLst/>
          </a:prstGeom>
          <a:noFill/>
          <a:ln/>
        </p:spPr>
        <p:txBody>
          <a:bodyPr wrap="square" lIns="0" tIns="0" rIns="0" bIns="0" rtlCol="0" anchor="t"/>
          <a:lstStyle/>
          <a:p>
            <a:pPr algn="ctr" indent="0" marL="0">
              <a:buNone/>
            </a:pPr>
            <a:r>
              <a:rPr lang="en-US" sz="1200" dirty="0">
                <a:solidFill>
                  <a:schemeClr val="tx2"/>
                </a:solidFill>
              </a:rPr>
              <a:t>→</a:t>
            </a:r>
            <a:endParaRPr lang="en-US" sz="1200" dirty="0"/>
          </a:p>
        </p:txBody>
      </p:sp>
      <p:sp>
        <p:nvSpPr>
          <p:cNvPr id="22" name="etape-3"/>
          <p:cNvSpPr/>
          <p:nvPr/>
        </p:nvSpPr>
        <p:spPr>
          <a:xfrm>
            <a:off x="6739128" y="1280160"/>
            <a:ext cx="1947672" cy="2514600"/>
          </a:xfrm>
          <a:prstGeom prst="roundRect">
            <a:avLst>
              <a:gd name="adj" fmla="val 3756"/>
            </a:avLst>
          </a:prstGeom>
          <a:solidFill>
            <a:srgbClr val="FFFFFF"/>
          </a:solidFill>
          <a:ln/>
        </p:spPr>
      </p:sp>
      <p:sp>
        <p:nvSpPr>
          <p:cNvPr id="23" name="Shape 21"/>
          <p:cNvSpPr/>
          <p:nvPr/>
        </p:nvSpPr>
        <p:spPr>
          <a:xfrm>
            <a:off x="6940296" y="1463040"/>
            <a:ext cx="384048" cy="384048"/>
          </a:xfrm>
          <a:prstGeom prst="ellipse">
            <a:avLst/>
          </a:prstGeom>
          <a:solidFill>
            <a:schemeClr val="accent3"/>
          </a:solidFill>
          <a:ln/>
        </p:spPr>
      </p:sp>
      <p:sp>
        <p:nvSpPr>
          <p:cNvPr id="24" name="Text 22"/>
          <p:cNvSpPr txBox="1"/>
          <p:nvPr/>
        </p:nvSpPr>
        <p:spPr>
          <a:xfrm>
            <a:off x="6940296" y="1463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5" name="Text 23"/>
          <p:cNvSpPr txBox="1"/>
          <p:nvPr/>
        </p:nvSpPr>
        <p:spPr>
          <a:xfrm>
            <a:off x="6940296" y="1965960"/>
            <a:ext cx="1645920" cy="292608"/>
          </a:xfrm>
          <a:prstGeom prst="rect">
            <a:avLst/>
          </a:prstGeom>
          <a:noFill/>
          <a:ln/>
        </p:spPr>
        <p:txBody>
          <a:bodyPr wrap="square" lIns="0" tIns="0" rIns="0" bIns="0" rtlCol="0" anchor="t"/>
          <a:lstStyle/>
          <a:p>
            <a:pPr indent="0" marL="0">
              <a:buNone/>
            </a:pPr>
            <a:r>
              <a:rPr lang="en-US" sz="1350" b="1" dirty="0">
                <a:solidFill>
                  <a:schemeClr val="tx1"/>
                </a:solidFill>
              </a:rPr>
              <a:t>Le constat</a:t>
            </a:r>
            <a:endParaRPr lang="en-US" sz="1350" dirty="0"/>
          </a:p>
        </p:txBody>
      </p:sp>
      <p:sp>
        <p:nvSpPr>
          <p:cNvPr id="26" name="Text 24"/>
          <p:cNvSpPr txBox="1"/>
          <p:nvPr/>
        </p:nvSpPr>
        <p:spPr>
          <a:xfrm>
            <a:off x="6940296" y="2286000"/>
            <a:ext cx="1600200" cy="1463040"/>
          </a:xfrm>
          <a:prstGeom prst="rect">
            <a:avLst/>
          </a:prstGeom>
          <a:noFill/>
          <a:ln/>
        </p:spPr>
        <p:txBody>
          <a:bodyPr wrap="square" lIns="0" tIns="0" rIns="0" bIns="0" rtlCol="0" anchor="t"/>
          <a:lstStyle/>
          <a:p>
            <a:pPr indent="0" marL="0">
              <a:buNone/>
            </a:pPr>
            <a:r>
              <a:rPr lang="en-US" sz="1050" dirty="0">
                <a:solidFill>
                  <a:schemeClr val="tx2"/>
                </a:solidFill>
              </a:rPr>
              <a:t>Le format existe mais reste une niche en France : l'opportunité est d'y apporter la bonne cible, la bonne formule et une vraie marque.</a:t>
            </a:r>
            <a:endParaRPr lang="en-US" sz="1050" dirty="0"/>
          </a:p>
        </p:txBody>
      </p:sp>
      <p:sp>
        <p:nvSpPr>
          <p:cNvPr id="27" name="pourquoi"/>
          <p:cNvSpPr/>
          <p:nvPr/>
        </p:nvSpPr>
        <p:spPr>
          <a:xfrm>
            <a:off x="457200" y="3931920"/>
            <a:ext cx="8229600" cy="502920"/>
          </a:xfrm>
          <a:prstGeom prst="roundRect">
            <a:avLst>
              <a:gd name="adj" fmla="val 14545"/>
            </a:avLst>
          </a:prstGeom>
          <a:solidFill>
            <a:srgbClr val="ECE8E3"/>
          </a:solidFill>
          <a:ln/>
        </p:spPr>
      </p:sp>
      <p:sp>
        <p:nvSpPr>
          <p:cNvPr id="28" name="Text 26"/>
          <p:cNvSpPr txBox="1"/>
          <p:nvPr/>
        </p:nvSpPr>
        <p:spPr>
          <a:xfrm>
            <a:off x="685800" y="3931920"/>
            <a:ext cx="7863840" cy="502920"/>
          </a:xfrm>
          <a:prstGeom prst="rect">
            <a:avLst/>
          </a:prstGeom>
          <a:noFill/>
          <a:ln/>
        </p:spPr>
        <p:txBody>
          <a:bodyPr wrap="square" lIns="0" tIns="0" rIns="0" bIns="0" rtlCol="0" anchor="ctr"/>
          <a:lstStyle/>
          <a:p>
            <a:pPr indent="0" marL="0">
              <a:buNone/>
            </a:pPr>
            <a:r>
              <a:rPr lang="en-US" sz="1200" b="1" dirty="0">
                <a:solidFill>
                  <a:schemeClr val="tx1"/>
                </a:solidFill>
              </a:rPr>
              <a:t>Pourquoi la paille : </a:t>
            </a:r>
            <a:pPr indent="0" marL="0">
              <a:buNone/>
            </a:pPr>
            <a:r>
              <a:rPr lang="en-US" sz="1200" dirty="0">
                <a:solidFill>
                  <a:schemeClr val="tx1"/>
                </a:solidFill>
              </a:rPr>
              <a:t>1 paille = 1 dose, actif conservé à sec, rien à avaler, et un geste qui devient un rituel.</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BENCHMARK ET TECHNOLOGIE</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le format existe, </a:t>
            </a:r>
            <a:pPr algn="l" indent="0" marL="0">
              <a:buNone/>
            </a:pPr>
            <a:r>
              <a:rPr lang="en-US" sz="2800" i="1" dirty="0">
                <a:solidFill>
                  <a:schemeClr val="tx1"/>
                </a:solidFill>
                <a:latin typeface="Cambria" pitchFamily="34" charset="0"/>
                <a:ea typeface="Cambria" pitchFamily="34" charset="-122"/>
                <a:cs typeface="Cambria" pitchFamily="34" charset="-120"/>
              </a:rPr>
              <a:t>il reste une niche en France</a:t>
            </a:r>
            <a:endParaRPr lang="en-US" sz="2800" dirty="0"/>
          </a:p>
        </p:txBody>
      </p:sp>
      <p:sp>
        <p:nvSpPr>
          <p:cNvPr id="4" name="Text 2"/>
          <p:cNvSpPr txBox="1"/>
          <p:nvPr/>
        </p:nvSpPr>
        <p:spPr>
          <a:xfrm>
            <a:off x="457200" y="1234440"/>
            <a:ext cx="4023360" cy="274320"/>
          </a:xfrm>
          <a:prstGeom prst="rect">
            <a:avLst/>
          </a:prstGeom>
          <a:noFill/>
          <a:ln/>
        </p:spPr>
        <p:txBody>
          <a:bodyPr wrap="square" lIns="0" tIns="0" rIns="0" bIns="0" rtlCol="0" anchor="t"/>
          <a:lstStyle/>
          <a:p>
            <a:pPr indent="0" marL="0">
              <a:buNone/>
            </a:pPr>
            <a:r>
              <a:rPr lang="en-US" sz="1400" i="1" dirty="0">
                <a:solidFill>
                  <a:schemeClr val="tx1"/>
                </a:solidFill>
                <a:latin typeface="Cambria" pitchFamily="34" charset="0"/>
                <a:ea typeface="Cambria" pitchFamily="34" charset="-122"/>
                <a:cs typeface="Cambria" pitchFamily="34" charset="-120"/>
              </a:rPr>
              <a:t>exemples identifiés</a:t>
            </a:r>
            <a:endParaRPr lang="en-US" sz="1400" dirty="0"/>
          </a:p>
        </p:txBody>
      </p:sp>
      <p:sp>
        <p:nvSpPr>
          <p:cNvPr id="5" name="bm-0"/>
          <p:cNvSpPr/>
          <p:nvPr/>
        </p:nvSpPr>
        <p:spPr>
          <a:xfrm>
            <a:off x="457200" y="1600200"/>
            <a:ext cx="4023360" cy="621792"/>
          </a:xfrm>
          <a:prstGeom prst="roundRect">
            <a:avLst>
              <a:gd name="adj" fmla="val 11765"/>
            </a:avLst>
          </a:prstGeom>
          <a:solidFill>
            <a:srgbClr val="FFFFFF"/>
          </a:solidFill>
          <a:ln/>
        </p:spPr>
      </p:sp>
      <p:sp>
        <p:nvSpPr>
          <p:cNvPr id="6" name="Text 4"/>
          <p:cNvSpPr txBox="1"/>
          <p:nvPr/>
        </p:nvSpPr>
        <p:spPr>
          <a:xfrm>
            <a:off x="640080" y="1673352"/>
            <a:ext cx="1828800" cy="256032"/>
          </a:xfrm>
          <a:prstGeom prst="rect">
            <a:avLst/>
          </a:prstGeom>
          <a:noFill/>
          <a:ln/>
        </p:spPr>
        <p:txBody>
          <a:bodyPr wrap="square" lIns="0" tIns="0" rIns="0" bIns="0" rtlCol="0" anchor="t"/>
          <a:lstStyle/>
          <a:p>
            <a:pPr indent="0" marL="0">
              <a:buNone/>
            </a:pPr>
            <a:r>
              <a:rPr lang="en-US" sz="1250" b="1" dirty="0">
                <a:solidFill>
                  <a:schemeClr val="tx1"/>
                </a:solidFill>
              </a:rPr>
              <a:t>Vita Straw</a:t>
            </a:r>
            <a:endParaRPr lang="en-US" sz="1250" dirty="0"/>
          </a:p>
        </p:txBody>
      </p:sp>
      <p:sp>
        <p:nvSpPr>
          <p:cNvPr id="7" name="Text 5"/>
          <p:cNvSpPr txBox="1"/>
          <p:nvPr/>
        </p:nvSpPr>
        <p:spPr>
          <a:xfrm>
            <a:off x="2377440" y="1691640"/>
            <a:ext cx="1965960" cy="228600"/>
          </a:xfrm>
          <a:prstGeom prst="rect">
            <a:avLst/>
          </a:prstGeom>
          <a:noFill/>
          <a:ln/>
        </p:spPr>
        <p:txBody>
          <a:bodyPr wrap="square" lIns="0" tIns="0" rIns="0" bIns="0" rtlCol="0" anchor="t"/>
          <a:lstStyle/>
          <a:p>
            <a:pPr algn="r" indent="0" marL="0">
              <a:buNone/>
            </a:pPr>
            <a:r>
              <a:rPr lang="en-US" sz="850" b="1" spc="100" kern="0" dirty="0">
                <a:solidFill>
                  <a:schemeClr val="tx2"/>
                </a:solidFill>
              </a:rPr>
              <a:t>FRANCE · HISTORIQUE</a:t>
            </a:r>
            <a:endParaRPr lang="en-US" sz="850" dirty="0"/>
          </a:p>
        </p:txBody>
      </p:sp>
      <p:sp>
        <p:nvSpPr>
          <p:cNvPr id="8" name="Text 6"/>
          <p:cNvSpPr txBox="1"/>
          <p:nvPr/>
        </p:nvSpPr>
        <p:spPr>
          <a:xfrm>
            <a:off x="640080" y="1929384"/>
            <a:ext cx="3657600" cy="256032"/>
          </a:xfrm>
          <a:prstGeom prst="rect">
            <a:avLst/>
          </a:prstGeom>
          <a:noFill/>
          <a:ln/>
        </p:spPr>
        <p:txBody>
          <a:bodyPr wrap="square" lIns="0" tIns="0" rIns="0" bIns="0" rtlCol="0" anchor="t"/>
          <a:lstStyle/>
          <a:p>
            <a:pPr indent="0" marL="0">
              <a:buNone/>
            </a:pPr>
            <a:r>
              <a:rPr lang="en-US" sz="1000" dirty="0">
                <a:solidFill>
                  <a:schemeClr val="tx2"/>
                </a:solidFill>
              </a:rPr>
              <a:t>13 vitamines + zinc, enfants et adultes (2021)</a:t>
            </a:r>
            <a:endParaRPr lang="en-US" sz="1000" dirty="0"/>
          </a:p>
        </p:txBody>
      </p:sp>
      <p:sp>
        <p:nvSpPr>
          <p:cNvPr id="9" name="bm-1"/>
          <p:cNvSpPr/>
          <p:nvPr/>
        </p:nvSpPr>
        <p:spPr>
          <a:xfrm>
            <a:off x="457200" y="2313432"/>
            <a:ext cx="4023360" cy="621792"/>
          </a:xfrm>
          <a:prstGeom prst="roundRect">
            <a:avLst>
              <a:gd name="adj" fmla="val 11765"/>
            </a:avLst>
          </a:prstGeom>
          <a:solidFill>
            <a:srgbClr val="FFFFFF"/>
          </a:solidFill>
          <a:ln/>
        </p:spPr>
      </p:sp>
      <p:sp>
        <p:nvSpPr>
          <p:cNvPr id="10" name="Text 8"/>
          <p:cNvSpPr txBox="1"/>
          <p:nvPr/>
        </p:nvSpPr>
        <p:spPr>
          <a:xfrm>
            <a:off x="640080" y="2386584"/>
            <a:ext cx="1828800" cy="256032"/>
          </a:xfrm>
          <a:prstGeom prst="rect">
            <a:avLst/>
          </a:prstGeom>
          <a:noFill/>
          <a:ln/>
        </p:spPr>
        <p:txBody>
          <a:bodyPr wrap="square" lIns="0" tIns="0" rIns="0" bIns="0" rtlCol="0" anchor="t"/>
          <a:lstStyle/>
          <a:p>
            <a:pPr indent="0" marL="0">
              <a:buNone/>
            </a:pPr>
            <a:r>
              <a:rPr lang="en-US" sz="1250" b="1" dirty="0">
                <a:solidFill>
                  <a:schemeClr val="tx1"/>
                </a:solidFill>
              </a:rPr>
              <a:t>Tubulars Immunity</a:t>
            </a:r>
            <a:endParaRPr lang="en-US" sz="1250" dirty="0"/>
          </a:p>
        </p:txBody>
      </p:sp>
      <p:sp>
        <p:nvSpPr>
          <p:cNvPr id="11" name="Text 9"/>
          <p:cNvSpPr txBox="1"/>
          <p:nvPr/>
        </p:nvSpPr>
        <p:spPr>
          <a:xfrm>
            <a:off x="2377440" y="2404872"/>
            <a:ext cx="1965960" cy="228600"/>
          </a:xfrm>
          <a:prstGeom prst="rect">
            <a:avLst/>
          </a:prstGeom>
          <a:noFill/>
          <a:ln/>
        </p:spPr>
        <p:txBody>
          <a:bodyPr wrap="square" lIns="0" tIns="0" rIns="0" bIns="0" rtlCol="0" anchor="t"/>
          <a:lstStyle/>
          <a:p>
            <a:pPr algn="r" indent="0" marL="0">
              <a:buNone/>
            </a:pPr>
            <a:r>
              <a:rPr lang="en-US" sz="850" b="1" spc="100" kern="0" dirty="0">
                <a:solidFill>
                  <a:schemeClr val="tx2"/>
                </a:solidFill>
              </a:rPr>
              <a:t>USA · HISTORIQUE</a:t>
            </a:r>
            <a:endParaRPr lang="en-US" sz="850" dirty="0"/>
          </a:p>
        </p:txBody>
      </p:sp>
      <p:sp>
        <p:nvSpPr>
          <p:cNvPr id="12" name="Text 10"/>
          <p:cNvSpPr txBox="1"/>
          <p:nvPr/>
        </p:nvSpPr>
        <p:spPr>
          <a:xfrm>
            <a:off x="640080" y="2642616"/>
            <a:ext cx="3657600" cy="256032"/>
          </a:xfrm>
          <a:prstGeom prst="rect">
            <a:avLst/>
          </a:prstGeom>
          <a:noFill/>
          <a:ln/>
        </p:spPr>
        <p:txBody>
          <a:bodyPr wrap="square" lIns="0" tIns="0" rIns="0" bIns="0" rtlCol="0" anchor="t"/>
          <a:lstStyle/>
          <a:p>
            <a:pPr indent="0" marL="0">
              <a:buNone/>
            </a:pPr>
            <a:r>
              <a:rPr lang="en-US" sz="1000" dirty="0">
                <a:solidFill>
                  <a:schemeClr val="tx2"/>
                </a:solidFill>
              </a:rPr>
              <a:t>paille avec Wellmune®, à boire avec du lait (2013)</a:t>
            </a:r>
            <a:endParaRPr lang="en-US" sz="1000" dirty="0"/>
          </a:p>
        </p:txBody>
      </p:sp>
      <p:sp>
        <p:nvSpPr>
          <p:cNvPr id="13" name="bm-2"/>
          <p:cNvSpPr/>
          <p:nvPr/>
        </p:nvSpPr>
        <p:spPr>
          <a:xfrm>
            <a:off x="457200" y="3026664"/>
            <a:ext cx="4023360" cy="621792"/>
          </a:xfrm>
          <a:prstGeom prst="roundRect">
            <a:avLst>
              <a:gd name="adj" fmla="val 11765"/>
            </a:avLst>
          </a:prstGeom>
          <a:solidFill>
            <a:srgbClr val="FFFFFF"/>
          </a:solidFill>
          <a:ln/>
        </p:spPr>
      </p:sp>
      <p:sp>
        <p:nvSpPr>
          <p:cNvPr id="14" name="Text 12"/>
          <p:cNvSpPr txBox="1"/>
          <p:nvPr/>
        </p:nvSpPr>
        <p:spPr>
          <a:xfrm>
            <a:off x="640080" y="3099816"/>
            <a:ext cx="1828800" cy="256032"/>
          </a:xfrm>
          <a:prstGeom prst="rect">
            <a:avLst/>
          </a:prstGeom>
          <a:noFill/>
          <a:ln/>
        </p:spPr>
        <p:txBody>
          <a:bodyPr wrap="square" lIns="0" tIns="0" rIns="0" bIns="0" rtlCol="0" anchor="t"/>
          <a:lstStyle/>
          <a:p>
            <a:pPr indent="0" marL="0">
              <a:buNone/>
            </a:pPr>
            <a:r>
              <a:rPr lang="en-US" sz="1250" b="1" dirty="0">
                <a:solidFill>
                  <a:schemeClr val="tx1"/>
                </a:solidFill>
              </a:rPr>
              <a:t>Gut Straw</a:t>
            </a:r>
            <a:endParaRPr lang="en-US" sz="1250" dirty="0"/>
          </a:p>
        </p:txBody>
      </p:sp>
      <p:sp>
        <p:nvSpPr>
          <p:cNvPr id="15" name="Text 13"/>
          <p:cNvSpPr txBox="1"/>
          <p:nvPr/>
        </p:nvSpPr>
        <p:spPr>
          <a:xfrm>
            <a:off x="2377440" y="3118104"/>
            <a:ext cx="1965960" cy="228600"/>
          </a:xfrm>
          <a:prstGeom prst="rect">
            <a:avLst/>
          </a:prstGeom>
          <a:noFill/>
          <a:ln/>
        </p:spPr>
        <p:txBody>
          <a:bodyPr wrap="square" lIns="0" tIns="0" rIns="0" bIns="0" rtlCol="0" anchor="t"/>
          <a:lstStyle/>
          <a:p>
            <a:pPr algn="r" indent="0" marL="0">
              <a:buNone/>
            </a:pPr>
            <a:r>
              <a:rPr lang="en-US" sz="850" b="1" spc="100" kern="0" dirty="0">
                <a:solidFill>
                  <a:schemeClr val="tx2"/>
                </a:solidFill>
              </a:rPr>
              <a:t>USA · ACTUEL</a:t>
            </a:r>
            <a:endParaRPr lang="en-US" sz="850" dirty="0"/>
          </a:p>
        </p:txBody>
      </p:sp>
      <p:sp>
        <p:nvSpPr>
          <p:cNvPr id="16" name="Text 14"/>
          <p:cNvSpPr txBox="1"/>
          <p:nvPr/>
        </p:nvSpPr>
        <p:spPr>
          <a:xfrm>
            <a:off x="640080" y="3355848"/>
            <a:ext cx="3657600" cy="256032"/>
          </a:xfrm>
          <a:prstGeom prst="rect">
            <a:avLst/>
          </a:prstGeom>
          <a:noFill/>
          <a:ln/>
        </p:spPr>
        <p:txBody>
          <a:bodyPr wrap="square" lIns="0" tIns="0" rIns="0" bIns="0" rtlCol="0" anchor="t"/>
          <a:lstStyle/>
          <a:p>
            <a:pPr indent="0" marL="0">
              <a:buNone/>
            </a:pPr>
            <a:r>
              <a:rPr lang="en-US" sz="1000" dirty="0">
                <a:solidFill>
                  <a:schemeClr val="tx2"/>
                </a:solidFill>
              </a:rPr>
              <a:t>4 g de fibres + vitamines D3/K2, en vente</a:t>
            </a:r>
            <a:endParaRPr lang="en-US" sz="1000" dirty="0"/>
          </a:p>
        </p:txBody>
      </p:sp>
      <p:sp>
        <p:nvSpPr>
          <p:cNvPr id="17" name="bm-3"/>
          <p:cNvSpPr/>
          <p:nvPr/>
        </p:nvSpPr>
        <p:spPr>
          <a:xfrm>
            <a:off x="457200" y="3739896"/>
            <a:ext cx="4023360" cy="621792"/>
          </a:xfrm>
          <a:prstGeom prst="roundRect">
            <a:avLst>
              <a:gd name="adj" fmla="val 11765"/>
            </a:avLst>
          </a:prstGeom>
          <a:solidFill>
            <a:srgbClr val="FFFFFF"/>
          </a:solidFill>
          <a:ln/>
        </p:spPr>
      </p:sp>
      <p:sp>
        <p:nvSpPr>
          <p:cNvPr id="18" name="Text 16"/>
          <p:cNvSpPr txBox="1"/>
          <p:nvPr/>
        </p:nvSpPr>
        <p:spPr>
          <a:xfrm>
            <a:off x="640080" y="3813048"/>
            <a:ext cx="1828800" cy="256032"/>
          </a:xfrm>
          <a:prstGeom prst="rect">
            <a:avLst/>
          </a:prstGeom>
          <a:noFill/>
          <a:ln/>
        </p:spPr>
        <p:txBody>
          <a:bodyPr wrap="square" lIns="0" tIns="0" rIns="0" bIns="0" rtlCol="0" anchor="t"/>
          <a:lstStyle/>
          <a:p>
            <a:pPr indent="0" marL="0">
              <a:buNone/>
            </a:pPr>
            <a:r>
              <a:rPr lang="en-US" sz="1250" b="1" dirty="0">
                <a:solidFill>
                  <a:schemeClr val="tx1"/>
                </a:solidFill>
              </a:rPr>
              <a:t>SIPit</a:t>
            </a:r>
            <a:endParaRPr lang="en-US" sz="1250" dirty="0"/>
          </a:p>
        </p:txBody>
      </p:sp>
      <p:sp>
        <p:nvSpPr>
          <p:cNvPr id="19" name="Text 17"/>
          <p:cNvSpPr txBox="1"/>
          <p:nvPr/>
        </p:nvSpPr>
        <p:spPr>
          <a:xfrm>
            <a:off x="2377440" y="3831336"/>
            <a:ext cx="1965960" cy="228600"/>
          </a:xfrm>
          <a:prstGeom prst="rect">
            <a:avLst/>
          </a:prstGeom>
          <a:noFill/>
          <a:ln/>
        </p:spPr>
        <p:txBody>
          <a:bodyPr wrap="square" lIns="0" tIns="0" rIns="0" bIns="0" rtlCol="0" anchor="t"/>
          <a:lstStyle/>
          <a:p>
            <a:pPr algn="r" indent="0" marL="0">
              <a:buNone/>
            </a:pPr>
            <a:r>
              <a:rPr lang="en-US" sz="850" b="1" spc="100" kern="0" dirty="0">
                <a:solidFill>
                  <a:schemeClr val="tx2"/>
                </a:solidFill>
              </a:rPr>
              <a:t>USA · ÉMERGENT</a:t>
            </a:r>
            <a:endParaRPr lang="en-US" sz="850" dirty="0"/>
          </a:p>
        </p:txBody>
      </p:sp>
      <p:sp>
        <p:nvSpPr>
          <p:cNvPr id="20" name="Text 18"/>
          <p:cNvSpPr txBox="1"/>
          <p:nvPr/>
        </p:nvSpPr>
        <p:spPr>
          <a:xfrm>
            <a:off x="640080" y="4069080"/>
            <a:ext cx="3657600" cy="256032"/>
          </a:xfrm>
          <a:prstGeom prst="rect">
            <a:avLst/>
          </a:prstGeom>
          <a:noFill/>
          <a:ln/>
        </p:spPr>
        <p:txBody>
          <a:bodyPr wrap="square" lIns="0" tIns="0" rIns="0" bIns="0" rtlCol="0" anchor="t"/>
          <a:lstStyle/>
          <a:p>
            <a:pPr indent="0" marL="0">
              <a:buNone/>
            </a:pPr>
            <a:r>
              <a:rPr lang="en-US" sz="1000" dirty="0">
                <a:solidFill>
                  <a:schemeClr val="tx2"/>
                </a:solidFill>
              </a:rPr>
              <a:t>énergie, hydratation, sommeil, en ligne</a:t>
            </a:r>
            <a:endParaRPr lang="en-US" sz="1000" dirty="0"/>
          </a:p>
        </p:txBody>
      </p:sp>
      <p:sp>
        <p:nvSpPr>
          <p:cNvPr id="21" name="techno"/>
          <p:cNvSpPr/>
          <p:nvPr/>
        </p:nvSpPr>
        <p:spPr>
          <a:xfrm>
            <a:off x="4709160" y="1234440"/>
            <a:ext cx="3977640" cy="3200400"/>
          </a:xfrm>
          <a:prstGeom prst="roundRect">
            <a:avLst>
              <a:gd name="adj" fmla="val 2286"/>
            </a:avLst>
          </a:prstGeom>
          <a:solidFill>
            <a:srgbClr val="FFFFFF"/>
          </a:solidFill>
          <a:ln/>
        </p:spPr>
      </p:sp>
      <p:sp>
        <p:nvSpPr>
          <p:cNvPr id="22" name="Text 20"/>
          <p:cNvSpPr txBox="1"/>
          <p:nvPr/>
        </p:nvSpPr>
        <p:spPr>
          <a:xfrm>
            <a:off x="4937760" y="1371600"/>
            <a:ext cx="3566160" cy="274320"/>
          </a:xfrm>
          <a:prstGeom prst="rect">
            <a:avLst/>
          </a:prstGeom>
          <a:noFill/>
          <a:ln/>
        </p:spPr>
        <p:txBody>
          <a:bodyPr wrap="square" lIns="0" tIns="0" rIns="0" bIns="0" rtlCol="0" anchor="t"/>
          <a:lstStyle/>
          <a:p>
            <a:pPr indent="0" marL="0">
              <a:buNone/>
            </a:pPr>
            <a:r>
              <a:rPr lang="en-US" sz="1400" b="1" dirty="0">
                <a:solidFill>
                  <a:schemeClr val="tx1"/>
                </a:solidFill>
              </a:rPr>
              <a:t>Unistraw · Australie</a:t>
            </a:r>
            <a:endParaRPr lang="en-US" sz="1400" dirty="0"/>
          </a:p>
        </p:txBody>
      </p:sp>
      <p:sp>
        <p:nvSpPr>
          <p:cNvPr id="23" name="Text 21"/>
          <p:cNvSpPr txBox="1"/>
          <p:nvPr/>
        </p:nvSpPr>
        <p:spPr>
          <a:xfrm>
            <a:off x="4937760" y="1645920"/>
            <a:ext cx="3566160" cy="228600"/>
          </a:xfrm>
          <a:prstGeom prst="rect">
            <a:avLst/>
          </a:prstGeom>
          <a:noFill/>
          <a:ln/>
        </p:spPr>
        <p:txBody>
          <a:bodyPr wrap="square" lIns="0" tIns="0" rIns="0" bIns="0" rtlCol="0" anchor="t"/>
          <a:lstStyle/>
          <a:p>
            <a:pPr indent="0" marL="0">
              <a:buNone/>
            </a:pPr>
            <a:r>
              <a:rPr lang="en-US" sz="1050" dirty="0">
                <a:solidFill>
                  <a:schemeClr val="tx2"/>
                </a:solidFill>
              </a:rPr>
              <a:t>deux technologies brevetées</a:t>
            </a:r>
            <a:endParaRPr lang="en-US" sz="1050" dirty="0"/>
          </a:p>
        </p:txBody>
      </p:sp>
      <p:sp>
        <p:nvSpPr>
          <p:cNvPr id="24" name="Shape 22"/>
          <p:cNvSpPr/>
          <p:nvPr/>
        </p:nvSpPr>
        <p:spPr>
          <a:xfrm>
            <a:off x="4937760" y="2066544"/>
            <a:ext cx="146304" cy="146304"/>
          </a:xfrm>
          <a:prstGeom prst="ellipse">
            <a:avLst/>
          </a:prstGeom>
          <a:solidFill>
            <a:schemeClr val="accent1"/>
          </a:solidFill>
          <a:ln/>
        </p:spPr>
      </p:sp>
      <p:sp>
        <p:nvSpPr>
          <p:cNvPr id="25" name="Text 23"/>
          <p:cNvSpPr txBox="1"/>
          <p:nvPr/>
        </p:nvSpPr>
        <p:spPr>
          <a:xfrm>
            <a:off x="5212080" y="2011680"/>
            <a:ext cx="3291840" cy="237744"/>
          </a:xfrm>
          <a:prstGeom prst="rect">
            <a:avLst/>
          </a:prstGeom>
          <a:noFill/>
          <a:ln/>
        </p:spPr>
        <p:txBody>
          <a:bodyPr wrap="square" lIns="0" tIns="0" rIns="0" bIns="0" rtlCol="0" anchor="t"/>
          <a:lstStyle/>
          <a:p>
            <a:pPr indent="0" marL="0">
              <a:buNone/>
            </a:pPr>
            <a:r>
              <a:rPr lang="en-US" sz="1250" b="1" dirty="0">
                <a:solidFill>
                  <a:schemeClr val="tx1"/>
                </a:solidFill>
              </a:rPr>
              <a:t>UniSphere®</a:t>
            </a:r>
            <a:endParaRPr lang="en-US" sz="1250" dirty="0"/>
          </a:p>
        </p:txBody>
      </p:sp>
      <p:sp>
        <p:nvSpPr>
          <p:cNvPr id="26" name="Text 24"/>
          <p:cNvSpPr txBox="1"/>
          <p:nvPr/>
        </p:nvSpPr>
        <p:spPr>
          <a:xfrm>
            <a:off x="5212080" y="2258568"/>
            <a:ext cx="3291840" cy="384048"/>
          </a:xfrm>
          <a:prstGeom prst="rect">
            <a:avLst/>
          </a:prstGeom>
          <a:noFill/>
          <a:ln/>
        </p:spPr>
        <p:txBody>
          <a:bodyPr wrap="square" lIns="0" tIns="0" rIns="0" bIns="0" rtlCol="0" anchor="t"/>
          <a:lstStyle/>
          <a:p>
            <a:pPr indent="0" marL="0">
              <a:buNone/>
            </a:pPr>
            <a:r>
              <a:rPr lang="en-US" sz="1000" dirty="0">
                <a:solidFill>
                  <a:schemeClr val="tx2"/>
                </a:solidFill>
              </a:rPr>
              <a:t>microbilles d'actifs retenues par un filtre, qui se dissolvent au passage du liquide</a:t>
            </a:r>
            <a:endParaRPr lang="en-US" sz="1000" dirty="0"/>
          </a:p>
        </p:txBody>
      </p:sp>
      <p:sp>
        <p:nvSpPr>
          <p:cNvPr id="27" name="Shape 25"/>
          <p:cNvSpPr/>
          <p:nvPr/>
        </p:nvSpPr>
        <p:spPr>
          <a:xfrm>
            <a:off x="4937760" y="2724912"/>
            <a:ext cx="146304" cy="146304"/>
          </a:xfrm>
          <a:prstGeom prst="ellipse">
            <a:avLst/>
          </a:prstGeom>
          <a:solidFill>
            <a:schemeClr val="accent2"/>
          </a:solidFill>
          <a:ln/>
        </p:spPr>
      </p:sp>
      <p:sp>
        <p:nvSpPr>
          <p:cNvPr id="28" name="Text 26"/>
          <p:cNvSpPr txBox="1"/>
          <p:nvPr/>
        </p:nvSpPr>
        <p:spPr>
          <a:xfrm>
            <a:off x="5212080" y="2670048"/>
            <a:ext cx="3291840" cy="237744"/>
          </a:xfrm>
          <a:prstGeom prst="rect">
            <a:avLst/>
          </a:prstGeom>
          <a:noFill/>
          <a:ln/>
        </p:spPr>
        <p:txBody>
          <a:bodyPr wrap="square" lIns="0" tIns="0" rIns="0" bIns="0" rtlCol="0" anchor="t"/>
          <a:lstStyle/>
          <a:p>
            <a:pPr indent="0" marL="0">
              <a:buNone/>
            </a:pPr>
            <a:r>
              <a:rPr lang="en-US" sz="1250" b="1" dirty="0">
                <a:solidFill>
                  <a:schemeClr val="tx1"/>
                </a:solidFill>
              </a:rPr>
              <a:t>UniLayer®</a:t>
            </a:r>
            <a:endParaRPr lang="en-US" sz="1250" dirty="0"/>
          </a:p>
        </p:txBody>
      </p:sp>
      <p:sp>
        <p:nvSpPr>
          <p:cNvPr id="29" name="Text 27"/>
          <p:cNvSpPr txBox="1"/>
          <p:nvPr/>
        </p:nvSpPr>
        <p:spPr>
          <a:xfrm>
            <a:off x="5212080" y="2916936"/>
            <a:ext cx="3291840" cy="384048"/>
          </a:xfrm>
          <a:prstGeom prst="rect">
            <a:avLst/>
          </a:prstGeom>
          <a:noFill/>
          <a:ln/>
        </p:spPr>
        <p:txBody>
          <a:bodyPr wrap="square" lIns="0" tIns="0" rIns="0" bIns="0" rtlCol="0" anchor="t"/>
          <a:lstStyle/>
          <a:p>
            <a:pPr indent="0" marL="0">
              <a:buNone/>
            </a:pPr>
            <a:r>
              <a:rPr lang="en-US" sz="1000" dirty="0">
                <a:solidFill>
                  <a:schemeClr val="tx2"/>
                </a:solidFill>
              </a:rPr>
              <a:t>couche active sur la paroi interne, libérée progressivement</a:t>
            </a:r>
            <a:endParaRPr lang="en-US" sz="1000" dirty="0"/>
          </a:p>
        </p:txBody>
      </p:sp>
      <p:sp>
        <p:nvSpPr>
          <p:cNvPr id="30" name="Text 28"/>
          <p:cNvSpPr txBox="1"/>
          <p:nvPr/>
        </p:nvSpPr>
        <p:spPr>
          <a:xfrm>
            <a:off x="4937760" y="3383280"/>
            <a:ext cx="3566160" cy="228600"/>
          </a:xfrm>
          <a:prstGeom prst="rect">
            <a:avLst/>
          </a:prstGeom>
          <a:noFill/>
          <a:ln/>
        </p:spPr>
        <p:txBody>
          <a:bodyPr wrap="square" lIns="0" tIns="0" rIns="0" bIns="0" rtlCol="0" anchor="t"/>
          <a:lstStyle/>
          <a:p>
            <a:pPr indent="0" marL="0">
              <a:buNone/>
            </a:pPr>
            <a:r>
              <a:rPr lang="en-US" sz="1000" b="1" dirty="0">
                <a:solidFill>
                  <a:schemeClr val="tx1"/>
                </a:solidFill>
              </a:rPr>
              <a:t>modèle envisagé : fournisseur technologique (CDMO)</a:t>
            </a:r>
            <a:endParaRPr lang="en-US" sz="1000" dirty="0"/>
          </a:p>
        </p:txBody>
      </p:sp>
      <p:sp>
        <p:nvSpPr>
          <p:cNvPr id="31" name="Text 29"/>
          <p:cNvSpPr txBox="1"/>
          <p:nvPr/>
        </p:nvSpPr>
        <p:spPr>
          <a:xfrm>
            <a:off x="4937760" y="3611880"/>
            <a:ext cx="3566160" cy="365760"/>
          </a:xfrm>
          <a:prstGeom prst="rect">
            <a:avLst/>
          </a:prstGeom>
          <a:noFill/>
          <a:ln/>
        </p:spPr>
        <p:txBody>
          <a:bodyPr wrap="square" lIns="0" tIns="0" rIns="0" bIns="0" rtlCol="0" anchor="t"/>
          <a:lstStyle/>
          <a:p>
            <a:pPr indent="0" marL="0">
              <a:buNone/>
            </a:pPr>
            <a:r>
              <a:rPr lang="en-US" sz="1000" dirty="0">
                <a:solidFill>
                  <a:schemeClr val="tx2"/>
                </a:solidFill>
              </a:rPr>
              <a:t>pré-formulation → stabilité → fabrication → produit sous la marque sip lab</a:t>
            </a:r>
            <a:endParaRPr lang="en-US" sz="1000" dirty="0"/>
          </a:p>
        </p:txBody>
      </p:sp>
      <p:sp>
        <p:nvSpPr>
          <p:cNvPr id="32" name="Text 30"/>
          <p:cNvSpPr txBox="1"/>
          <p:nvPr/>
        </p:nvSpPr>
        <p:spPr>
          <a:xfrm>
            <a:off x="4937760" y="4023360"/>
            <a:ext cx="3566160" cy="274320"/>
          </a:xfrm>
          <a:prstGeom prst="rect">
            <a:avLst/>
          </a:prstGeom>
          <a:noFill/>
          <a:ln/>
        </p:spPr>
        <p:txBody>
          <a:bodyPr wrap="square" lIns="0" tIns="0" rIns="0" bIns="0" rtlCol="0" anchor="t"/>
          <a:lstStyle/>
          <a:p>
            <a:pPr indent="0" marL="0">
              <a:buNone/>
            </a:pPr>
            <a:r>
              <a:rPr lang="en-US" sz="1050" b="1" dirty="0">
                <a:solidFill>
                  <a:schemeClr val="accent1"/>
                </a:solidFill>
              </a:rPr>
              <a:t>Ma valeur ajoutée : </a:t>
            </a:r>
            <a:pPr indent="0" marL="0">
              <a:buNone/>
            </a:pPr>
            <a:r>
              <a:rPr lang="en-US" sz="1050" dirty="0">
                <a:solidFill>
                  <a:schemeClr val="tx1"/>
                </a:solidFill>
              </a:rPr>
              <a:t>cible + formule + marque + marché France.</a:t>
            </a:r>
            <a:endParaRPr lang="en-US" sz="1050" dirty="0"/>
          </a:p>
        </p:txBody>
      </p:sp>
      <p:sp>
        <p:nvSpPr>
          <p:cNvPr id="33" name="sources"/>
          <p:cNvSpPr txBox="1"/>
          <p:nvPr/>
        </p:nvSpPr>
        <p:spPr>
          <a:xfrm>
            <a:off x="457200" y="4526280"/>
            <a:ext cx="8229600" cy="201168"/>
          </a:xfrm>
          <a:prstGeom prst="rect">
            <a:avLst/>
          </a:prstGeom>
          <a:noFill/>
          <a:ln/>
        </p:spPr>
        <p:txBody>
          <a:bodyPr wrap="square" lIns="0" tIns="0" rIns="0" bIns="0" rtlCol="0" anchor="ctr"/>
          <a:lstStyle/>
          <a:p>
            <a:pPr indent="0" marL="0">
              <a:buNone/>
            </a:pPr>
            <a:r>
              <a:rPr lang="en-US" sz="800" dirty="0">
                <a:solidFill>
                  <a:schemeClr val="tx2"/>
                </a:solidFill>
              </a:rPr>
              <a:t>Sources du benchmark : Irati (Vita Straw, 2021) · Tubulars / Unistraw (2013) · Gut Straw · SIPit · Unistraw.</a:t>
            </a:r>
            <a:endParaRPr lang="en-US" sz="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OÙ J'EN SUIS</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un projet né </a:t>
            </a:r>
            <a:pPr algn="l" indent="0" marL="0">
              <a:buNone/>
            </a:pPr>
            <a:r>
              <a:rPr lang="en-US" sz="2800" i="1" dirty="0">
                <a:solidFill>
                  <a:schemeClr val="tx1"/>
                </a:solidFill>
                <a:latin typeface="Cambria" pitchFamily="34" charset="0"/>
                <a:ea typeface="Cambria" pitchFamily="34" charset="-122"/>
                <a:cs typeface="Cambria" pitchFamily="34" charset="-120"/>
              </a:rPr>
              <a:t>il y a trois semaines</a:t>
            </a:r>
            <a:endParaRPr lang="en-US" sz="2800" dirty="0"/>
          </a:p>
        </p:txBody>
      </p:sp>
      <p:sp>
        <p:nvSpPr>
          <p:cNvPr id="4" name="Shape 2"/>
          <p:cNvSpPr/>
          <p:nvPr/>
        </p:nvSpPr>
        <p:spPr>
          <a:xfrm>
            <a:off x="1120140" y="1874520"/>
            <a:ext cx="6903720" cy="0"/>
          </a:xfrm>
          <a:prstGeom prst="line">
            <a:avLst/>
          </a:prstGeom>
          <a:noFill/>
          <a:ln w="19050">
            <a:solidFill>
              <a:srgbClr val="D6CFC6"/>
            </a:solidFill>
            <a:prstDash val="solid"/>
          </a:ln>
        </p:spPr>
      </p:sp>
      <p:sp>
        <p:nvSpPr>
          <p:cNvPr id="5" name="jalon-0"/>
          <p:cNvSpPr/>
          <p:nvPr/>
        </p:nvSpPr>
        <p:spPr>
          <a:xfrm>
            <a:off x="1001268" y="1755648"/>
            <a:ext cx="237744" cy="237744"/>
          </a:xfrm>
          <a:prstGeom prst="ellipse">
            <a:avLst/>
          </a:prstGeom>
          <a:solidFill>
            <a:schemeClr val="accent2"/>
          </a:solidFill>
          <a:ln/>
        </p:spPr>
      </p:sp>
      <p:sp>
        <p:nvSpPr>
          <p:cNvPr id="6" name="Text 4"/>
          <p:cNvSpPr txBox="1"/>
          <p:nvPr/>
        </p:nvSpPr>
        <p:spPr>
          <a:xfrm>
            <a:off x="457200" y="1325880"/>
            <a:ext cx="1325880" cy="228600"/>
          </a:xfrm>
          <a:prstGeom prst="rect">
            <a:avLst/>
          </a:prstGeom>
          <a:noFill/>
          <a:ln/>
        </p:spPr>
        <p:txBody>
          <a:bodyPr wrap="square" lIns="0" tIns="0" rIns="0" bIns="0" rtlCol="0" anchor="t"/>
          <a:lstStyle/>
          <a:p>
            <a:pPr algn="ctr" indent="0" marL="0">
              <a:buNone/>
            </a:pPr>
            <a:r>
              <a:rPr lang="en-US" sz="900" b="1" spc="100" kern="0" dirty="0">
                <a:solidFill>
                  <a:schemeClr val="tx2"/>
                </a:solidFill>
              </a:rPr>
              <a:t>MI-SEPT.</a:t>
            </a:r>
            <a:endParaRPr lang="en-US" sz="900" dirty="0"/>
          </a:p>
        </p:txBody>
      </p:sp>
      <p:sp>
        <p:nvSpPr>
          <p:cNvPr id="7" name="Text 5"/>
          <p:cNvSpPr txBox="1"/>
          <p:nvPr/>
        </p:nvSpPr>
        <p:spPr>
          <a:xfrm>
            <a:off x="457200" y="2148840"/>
            <a:ext cx="1325880" cy="274320"/>
          </a:xfrm>
          <a:prstGeom prst="rect">
            <a:avLst/>
          </a:prstGeom>
          <a:noFill/>
          <a:ln/>
        </p:spPr>
        <p:txBody>
          <a:bodyPr wrap="square" lIns="0" tIns="0" rIns="0" bIns="0" rtlCol="0" anchor="t"/>
          <a:lstStyle/>
          <a:p>
            <a:pPr algn="ctr" indent="0" marL="0">
              <a:buNone/>
            </a:pPr>
            <a:r>
              <a:rPr lang="en-US" sz="1300" b="1" dirty="0">
                <a:solidFill>
                  <a:schemeClr val="tx1"/>
                </a:solidFill>
              </a:rPr>
              <a:t>Recherche</a:t>
            </a:r>
            <a:endParaRPr lang="en-US" sz="1300" dirty="0"/>
          </a:p>
        </p:txBody>
      </p:sp>
      <p:sp>
        <p:nvSpPr>
          <p:cNvPr id="8" name="Text 6"/>
          <p:cNvSpPr txBox="1"/>
          <p:nvPr/>
        </p:nvSpPr>
        <p:spPr>
          <a:xfrm>
            <a:off x="457200" y="2450592"/>
            <a:ext cx="1325880" cy="685800"/>
          </a:xfrm>
          <a:prstGeom prst="rect">
            <a:avLst/>
          </a:prstGeom>
          <a:noFill/>
          <a:ln/>
        </p:spPr>
        <p:txBody>
          <a:bodyPr wrap="square" lIns="0" tIns="0" rIns="0" bIns="0" rtlCol="0" anchor="t"/>
          <a:lstStyle/>
          <a:p>
            <a:pPr algn="ctr" indent="0" marL="0">
              <a:buNone/>
            </a:pPr>
            <a:r>
              <a:rPr lang="en-US" sz="1000" dirty="0">
                <a:solidFill>
                  <a:schemeClr val="tx2"/>
                </a:solidFill>
              </a:rPr>
              <a:t>innover sur la forme galénique</a:t>
            </a:r>
            <a:endParaRPr lang="en-US" sz="1000" dirty="0"/>
          </a:p>
        </p:txBody>
      </p:sp>
      <p:sp>
        <p:nvSpPr>
          <p:cNvPr id="9" name="jalon-1"/>
          <p:cNvSpPr/>
          <p:nvPr/>
        </p:nvSpPr>
        <p:spPr>
          <a:xfrm>
            <a:off x="2382012" y="1755648"/>
            <a:ext cx="237744" cy="237744"/>
          </a:xfrm>
          <a:prstGeom prst="ellipse">
            <a:avLst/>
          </a:prstGeom>
          <a:solidFill>
            <a:schemeClr val="accent2"/>
          </a:solidFill>
          <a:ln/>
        </p:spPr>
      </p:sp>
      <p:sp>
        <p:nvSpPr>
          <p:cNvPr id="10" name="Text 8"/>
          <p:cNvSpPr txBox="1"/>
          <p:nvPr/>
        </p:nvSpPr>
        <p:spPr>
          <a:xfrm>
            <a:off x="1837944" y="1325880"/>
            <a:ext cx="1325880" cy="228600"/>
          </a:xfrm>
          <a:prstGeom prst="rect">
            <a:avLst/>
          </a:prstGeom>
          <a:noFill/>
          <a:ln/>
        </p:spPr>
        <p:txBody>
          <a:bodyPr wrap="square" lIns="0" tIns="0" rIns="0" bIns="0" rtlCol="0" anchor="t"/>
          <a:lstStyle/>
          <a:p>
            <a:pPr algn="ctr" indent="0" marL="0">
              <a:buNone/>
            </a:pPr>
            <a:r>
              <a:rPr lang="en-US" sz="900" b="1" spc="100" kern="0" dirty="0">
                <a:solidFill>
                  <a:schemeClr val="tx2"/>
                </a:solidFill>
              </a:rPr>
              <a:t>FIN SEPT.</a:t>
            </a:r>
            <a:endParaRPr lang="en-US" sz="900" dirty="0"/>
          </a:p>
        </p:txBody>
      </p:sp>
      <p:sp>
        <p:nvSpPr>
          <p:cNvPr id="11" name="Text 9"/>
          <p:cNvSpPr txBox="1"/>
          <p:nvPr/>
        </p:nvSpPr>
        <p:spPr>
          <a:xfrm>
            <a:off x="1837944" y="2148840"/>
            <a:ext cx="1325880" cy="274320"/>
          </a:xfrm>
          <a:prstGeom prst="rect">
            <a:avLst/>
          </a:prstGeom>
          <a:noFill/>
          <a:ln/>
        </p:spPr>
        <p:txBody>
          <a:bodyPr wrap="square" lIns="0" tIns="0" rIns="0" bIns="0" rtlCol="0" anchor="t"/>
          <a:lstStyle/>
          <a:p>
            <a:pPr algn="ctr" indent="0" marL="0">
              <a:buNone/>
            </a:pPr>
            <a:r>
              <a:rPr lang="en-US" sz="1300" b="1" dirty="0">
                <a:solidFill>
                  <a:schemeClr val="tx1"/>
                </a:solidFill>
              </a:rPr>
              <a:t>Veille et brevets</a:t>
            </a:r>
            <a:endParaRPr lang="en-US" sz="1300" dirty="0"/>
          </a:p>
        </p:txBody>
      </p:sp>
      <p:sp>
        <p:nvSpPr>
          <p:cNvPr id="12" name="Text 10"/>
          <p:cNvSpPr txBox="1"/>
          <p:nvPr/>
        </p:nvSpPr>
        <p:spPr>
          <a:xfrm>
            <a:off x="1837944" y="2450592"/>
            <a:ext cx="1325880" cy="685800"/>
          </a:xfrm>
          <a:prstGeom prst="rect">
            <a:avLst/>
          </a:prstGeom>
          <a:noFill/>
          <a:ln/>
        </p:spPr>
        <p:txBody>
          <a:bodyPr wrap="square" lIns="0" tIns="0" rIns="0" bIns="0" rtlCol="0" anchor="t"/>
          <a:lstStyle/>
          <a:p>
            <a:pPr algn="ctr" indent="0" marL="0">
              <a:buNone/>
            </a:pPr>
            <a:r>
              <a:rPr lang="en-US" sz="1000" dirty="0">
                <a:solidFill>
                  <a:schemeClr val="tx2"/>
                </a:solidFill>
              </a:rPr>
              <a:t>benchmark international, brevets Unistraw</a:t>
            </a:r>
            <a:endParaRPr lang="en-US" sz="1000" dirty="0"/>
          </a:p>
        </p:txBody>
      </p:sp>
      <p:sp>
        <p:nvSpPr>
          <p:cNvPr id="13" name="jalon-2"/>
          <p:cNvSpPr/>
          <p:nvPr/>
        </p:nvSpPr>
        <p:spPr>
          <a:xfrm>
            <a:off x="3762756" y="1755648"/>
            <a:ext cx="237744" cy="237744"/>
          </a:xfrm>
          <a:prstGeom prst="ellipse">
            <a:avLst/>
          </a:prstGeom>
          <a:solidFill>
            <a:schemeClr val="accent2"/>
          </a:solidFill>
          <a:ln/>
        </p:spPr>
      </p:sp>
      <p:sp>
        <p:nvSpPr>
          <p:cNvPr id="14" name="Text 12"/>
          <p:cNvSpPr txBox="1"/>
          <p:nvPr/>
        </p:nvSpPr>
        <p:spPr>
          <a:xfrm>
            <a:off x="3218688" y="1325880"/>
            <a:ext cx="1325880" cy="228600"/>
          </a:xfrm>
          <a:prstGeom prst="rect">
            <a:avLst/>
          </a:prstGeom>
          <a:noFill/>
          <a:ln/>
        </p:spPr>
        <p:txBody>
          <a:bodyPr wrap="square" lIns="0" tIns="0" rIns="0" bIns="0" rtlCol="0" anchor="t"/>
          <a:lstStyle/>
          <a:p>
            <a:pPr algn="ctr" indent="0" marL="0">
              <a:buNone/>
            </a:pPr>
            <a:r>
              <a:rPr lang="en-US" sz="900" b="1" spc="100" kern="0" dirty="0">
                <a:solidFill>
                  <a:schemeClr val="tx2"/>
                </a:solidFill>
              </a:rPr>
              <a:t>DÉBUT OCT.</a:t>
            </a:r>
            <a:endParaRPr lang="en-US" sz="900" dirty="0"/>
          </a:p>
        </p:txBody>
      </p:sp>
      <p:sp>
        <p:nvSpPr>
          <p:cNvPr id="15" name="Text 13"/>
          <p:cNvSpPr txBox="1"/>
          <p:nvPr/>
        </p:nvSpPr>
        <p:spPr>
          <a:xfrm>
            <a:off x="3218688" y="2148840"/>
            <a:ext cx="1325880" cy="274320"/>
          </a:xfrm>
          <a:prstGeom prst="rect">
            <a:avLst/>
          </a:prstGeom>
          <a:noFill/>
          <a:ln/>
        </p:spPr>
        <p:txBody>
          <a:bodyPr wrap="square" lIns="0" tIns="0" rIns="0" bIns="0" rtlCol="0" anchor="t"/>
          <a:lstStyle/>
          <a:p>
            <a:pPr algn="ctr" indent="0" marL="0">
              <a:buNone/>
            </a:pPr>
            <a:r>
              <a:rPr lang="en-US" sz="1300" b="1" dirty="0">
                <a:solidFill>
                  <a:schemeClr val="tx1"/>
                </a:solidFill>
              </a:rPr>
              <a:t>Étude de marché</a:t>
            </a:r>
            <a:endParaRPr lang="en-US" sz="1300" dirty="0"/>
          </a:p>
        </p:txBody>
      </p:sp>
      <p:sp>
        <p:nvSpPr>
          <p:cNvPr id="16" name="Text 14"/>
          <p:cNvSpPr txBox="1"/>
          <p:nvPr/>
        </p:nvSpPr>
        <p:spPr>
          <a:xfrm>
            <a:off x="3218688" y="2450592"/>
            <a:ext cx="1325880" cy="685800"/>
          </a:xfrm>
          <a:prstGeom prst="rect">
            <a:avLst/>
          </a:prstGeom>
          <a:noFill/>
          <a:ln/>
        </p:spPr>
        <p:txBody>
          <a:bodyPr wrap="square" lIns="0" tIns="0" rIns="0" bIns="0" rtlCol="0" anchor="t"/>
          <a:lstStyle/>
          <a:p>
            <a:pPr algn="ctr" indent="0" marL="0">
              <a:buNone/>
            </a:pPr>
            <a:r>
              <a:rPr lang="en-US" sz="1000" dirty="0">
                <a:solidFill>
                  <a:schemeClr val="tx2"/>
                </a:solidFill>
              </a:rPr>
              <a:t>Synadiet, Anses, INSEE, 4 cibles, choix de luna</a:t>
            </a:r>
            <a:endParaRPr lang="en-US" sz="1000" dirty="0"/>
          </a:p>
        </p:txBody>
      </p:sp>
      <p:sp>
        <p:nvSpPr>
          <p:cNvPr id="17" name="jalon-3"/>
          <p:cNvSpPr/>
          <p:nvPr/>
        </p:nvSpPr>
        <p:spPr>
          <a:xfrm>
            <a:off x="5143500" y="1755648"/>
            <a:ext cx="237744" cy="237744"/>
          </a:xfrm>
          <a:prstGeom prst="ellipse">
            <a:avLst/>
          </a:prstGeom>
          <a:solidFill>
            <a:schemeClr val="accent2"/>
          </a:solidFill>
          <a:ln/>
        </p:spPr>
      </p:sp>
      <p:sp>
        <p:nvSpPr>
          <p:cNvPr id="18" name="Text 16"/>
          <p:cNvSpPr txBox="1"/>
          <p:nvPr/>
        </p:nvSpPr>
        <p:spPr>
          <a:xfrm>
            <a:off x="4599432" y="1325880"/>
            <a:ext cx="1325880" cy="228600"/>
          </a:xfrm>
          <a:prstGeom prst="rect">
            <a:avLst/>
          </a:prstGeom>
          <a:noFill/>
          <a:ln/>
        </p:spPr>
        <p:txBody>
          <a:bodyPr wrap="square" lIns="0" tIns="0" rIns="0" bIns="0" rtlCol="0" anchor="t"/>
          <a:lstStyle/>
          <a:p>
            <a:pPr algn="ctr" indent="0" marL="0">
              <a:buNone/>
            </a:pPr>
            <a:r>
              <a:rPr lang="en-US" sz="900" b="1" spc="100" kern="0" dirty="0">
                <a:solidFill>
                  <a:schemeClr val="tx2"/>
                </a:solidFill>
              </a:rPr>
              <a:t>OCT.</a:t>
            </a:r>
            <a:endParaRPr lang="en-US" sz="900" dirty="0"/>
          </a:p>
        </p:txBody>
      </p:sp>
      <p:sp>
        <p:nvSpPr>
          <p:cNvPr id="19" name="Text 17"/>
          <p:cNvSpPr txBox="1"/>
          <p:nvPr/>
        </p:nvSpPr>
        <p:spPr>
          <a:xfrm>
            <a:off x="4599432" y="2148840"/>
            <a:ext cx="1325880" cy="274320"/>
          </a:xfrm>
          <a:prstGeom prst="rect">
            <a:avLst/>
          </a:prstGeom>
          <a:noFill/>
          <a:ln/>
        </p:spPr>
        <p:txBody>
          <a:bodyPr wrap="square" lIns="0" tIns="0" rIns="0" bIns="0" rtlCol="0" anchor="t"/>
          <a:lstStyle/>
          <a:p>
            <a:pPr algn="ctr" indent="0" marL="0">
              <a:buNone/>
            </a:pPr>
            <a:r>
              <a:rPr lang="en-US" sz="1300" b="1" dirty="0">
                <a:solidFill>
                  <a:schemeClr val="tx1"/>
                </a:solidFill>
              </a:rPr>
              <a:t>Marque</a:t>
            </a:r>
            <a:endParaRPr lang="en-US" sz="1300" dirty="0"/>
          </a:p>
        </p:txBody>
      </p:sp>
      <p:sp>
        <p:nvSpPr>
          <p:cNvPr id="20" name="Text 18"/>
          <p:cNvSpPr txBox="1"/>
          <p:nvPr/>
        </p:nvSpPr>
        <p:spPr>
          <a:xfrm>
            <a:off x="4599432" y="2450592"/>
            <a:ext cx="1325880" cy="685800"/>
          </a:xfrm>
          <a:prstGeom prst="rect">
            <a:avLst/>
          </a:prstGeom>
          <a:noFill/>
          <a:ln/>
        </p:spPr>
        <p:txBody>
          <a:bodyPr wrap="square" lIns="0" tIns="0" rIns="0" bIns="0" rtlCol="0" anchor="t"/>
          <a:lstStyle/>
          <a:p>
            <a:pPr algn="ctr" indent="0" marL="0">
              <a:buNone/>
            </a:pPr>
            <a:r>
              <a:rPr lang="en-US" sz="1000" dirty="0">
                <a:solidFill>
                  <a:schemeClr val="tx2"/>
                </a:solidFill>
              </a:rPr>
              <a:t>nom sip lab, logo, 16 pailles, site vitrine</a:t>
            </a:r>
            <a:endParaRPr lang="en-US" sz="1000" dirty="0"/>
          </a:p>
        </p:txBody>
      </p:sp>
      <p:sp>
        <p:nvSpPr>
          <p:cNvPr id="21" name="jalon-4"/>
          <p:cNvSpPr/>
          <p:nvPr/>
        </p:nvSpPr>
        <p:spPr>
          <a:xfrm>
            <a:off x="6524244" y="1755648"/>
            <a:ext cx="237744" cy="237744"/>
          </a:xfrm>
          <a:prstGeom prst="ellipse">
            <a:avLst/>
          </a:prstGeom>
          <a:solidFill>
            <a:schemeClr val="accent2"/>
          </a:solidFill>
          <a:ln/>
        </p:spPr>
      </p:sp>
      <p:sp>
        <p:nvSpPr>
          <p:cNvPr id="22" name="Text 20"/>
          <p:cNvSpPr txBox="1"/>
          <p:nvPr/>
        </p:nvSpPr>
        <p:spPr>
          <a:xfrm>
            <a:off x="5980176" y="1325880"/>
            <a:ext cx="1325880" cy="228600"/>
          </a:xfrm>
          <a:prstGeom prst="rect">
            <a:avLst/>
          </a:prstGeom>
          <a:noFill/>
          <a:ln/>
        </p:spPr>
        <p:txBody>
          <a:bodyPr wrap="square" lIns="0" tIns="0" rIns="0" bIns="0" rtlCol="0" anchor="t"/>
          <a:lstStyle/>
          <a:p>
            <a:pPr algn="ctr" indent="0" marL="0">
              <a:buNone/>
            </a:pPr>
            <a:r>
              <a:rPr lang="en-US" sz="900" b="1" spc="100" kern="0" dirty="0">
                <a:solidFill>
                  <a:schemeClr val="tx2"/>
                </a:solidFill>
              </a:rPr>
              <a:t>OCT.</a:t>
            </a:r>
            <a:endParaRPr lang="en-US" sz="900" dirty="0"/>
          </a:p>
        </p:txBody>
      </p:sp>
      <p:sp>
        <p:nvSpPr>
          <p:cNvPr id="23" name="Text 21"/>
          <p:cNvSpPr txBox="1"/>
          <p:nvPr/>
        </p:nvSpPr>
        <p:spPr>
          <a:xfrm>
            <a:off x="5980176" y="2148840"/>
            <a:ext cx="1325880" cy="274320"/>
          </a:xfrm>
          <a:prstGeom prst="rect">
            <a:avLst/>
          </a:prstGeom>
          <a:noFill/>
          <a:ln/>
        </p:spPr>
        <p:txBody>
          <a:bodyPr wrap="square" lIns="0" tIns="0" rIns="0" bIns="0" rtlCol="0" anchor="t"/>
          <a:lstStyle/>
          <a:p>
            <a:pPr algn="ctr" indent="0" marL="0">
              <a:buNone/>
            </a:pPr>
            <a:r>
              <a:rPr lang="en-US" sz="1300" b="1" dirty="0">
                <a:solidFill>
                  <a:schemeClr val="tx1"/>
                </a:solidFill>
              </a:rPr>
              <a:t>Pitch</a:t>
            </a:r>
            <a:endParaRPr lang="en-US" sz="1300" dirty="0"/>
          </a:p>
        </p:txBody>
      </p:sp>
      <p:sp>
        <p:nvSpPr>
          <p:cNvPr id="24" name="Text 22"/>
          <p:cNvSpPr txBox="1"/>
          <p:nvPr/>
        </p:nvSpPr>
        <p:spPr>
          <a:xfrm>
            <a:off x="5980176" y="2450592"/>
            <a:ext cx="1325880" cy="685800"/>
          </a:xfrm>
          <a:prstGeom prst="rect">
            <a:avLst/>
          </a:prstGeom>
          <a:noFill/>
          <a:ln/>
        </p:spPr>
        <p:txBody>
          <a:bodyPr wrap="square" lIns="0" tIns="0" rIns="0" bIns="0" rtlCol="0" anchor="t"/>
          <a:lstStyle/>
          <a:p>
            <a:pPr algn="ctr" indent="0" marL="0">
              <a:buNone/>
            </a:pPr>
            <a:r>
              <a:rPr lang="en-US" sz="1000" dirty="0">
                <a:solidFill>
                  <a:schemeClr val="tx2"/>
                </a:solidFill>
              </a:rPr>
              <a:t>pitch investisseurs en 7 minutes (EN)</a:t>
            </a:r>
            <a:endParaRPr lang="en-US" sz="1000" dirty="0"/>
          </a:p>
        </p:txBody>
      </p:sp>
      <p:sp>
        <p:nvSpPr>
          <p:cNvPr id="25" name="jalon-5"/>
          <p:cNvSpPr/>
          <p:nvPr/>
        </p:nvSpPr>
        <p:spPr>
          <a:xfrm>
            <a:off x="7904988" y="1755648"/>
            <a:ext cx="237744" cy="237744"/>
          </a:xfrm>
          <a:prstGeom prst="ellipse">
            <a:avLst/>
          </a:prstGeom>
          <a:solidFill>
            <a:srgbClr val="FFFFFF"/>
          </a:solidFill>
          <a:ln w="31750">
            <a:solidFill>
              <a:schemeClr val="accent1"/>
            </a:solidFill>
            <a:prstDash val="solid"/>
          </a:ln>
        </p:spPr>
      </p:sp>
      <p:sp>
        <p:nvSpPr>
          <p:cNvPr id="26" name="Text 24"/>
          <p:cNvSpPr txBox="1"/>
          <p:nvPr/>
        </p:nvSpPr>
        <p:spPr>
          <a:xfrm>
            <a:off x="7360920" y="1325880"/>
            <a:ext cx="1325880" cy="228600"/>
          </a:xfrm>
          <a:prstGeom prst="rect">
            <a:avLst/>
          </a:prstGeom>
          <a:noFill/>
          <a:ln/>
        </p:spPr>
        <p:txBody>
          <a:bodyPr wrap="square" lIns="0" tIns="0" rIns="0" bIns="0" rtlCol="0" anchor="t"/>
          <a:lstStyle/>
          <a:p>
            <a:pPr algn="ctr" indent="0" marL="0">
              <a:buNone/>
            </a:pPr>
            <a:r>
              <a:rPr lang="en-US" sz="900" b="1" spc="100" kern="0" dirty="0">
                <a:solidFill>
                  <a:schemeClr val="accent1"/>
                </a:solidFill>
              </a:rPr>
              <a:t>EN COURS</a:t>
            </a:r>
            <a:endParaRPr lang="en-US" sz="900" dirty="0"/>
          </a:p>
        </p:txBody>
      </p:sp>
      <p:sp>
        <p:nvSpPr>
          <p:cNvPr id="27" name="Text 25"/>
          <p:cNvSpPr txBox="1"/>
          <p:nvPr/>
        </p:nvSpPr>
        <p:spPr>
          <a:xfrm>
            <a:off x="7360920" y="2148840"/>
            <a:ext cx="1325880" cy="274320"/>
          </a:xfrm>
          <a:prstGeom prst="rect">
            <a:avLst/>
          </a:prstGeom>
          <a:noFill/>
          <a:ln/>
        </p:spPr>
        <p:txBody>
          <a:bodyPr wrap="square" lIns="0" tIns="0" rIns="0" bIns="0" rtlCol="0" anchor="t"/>
          <a:lstStyle/>
          <a:p>
            <a:pPr algn="ctr" indent="0" marL="0">
              <a:buNone/>
            </a:pPr>
            <a:r>
              <a:rPr lang="en-US" sz="1300" b="1" dirty="0">
                <a:solidFill>
                  <a:schemeClr val="accent1"/>
                </a:solidFill>
              </a:rPr>
              <a:t>Fournisseur</a:t>
            </a:r>
            <a:endParaRPr lang="en-US" sz="1300" dirty="0"/>
          </a:p>
        </p:txBody>
      </p:sp>
      <p:sp>
        <p:nvSpPr>
          <p:cNvPr id="28" name="Text 26"/>
          <p:cNvSpPr txBox="1"/>
          <p:nvPr/>
        </p:nvSpPr>
        <p:spPr>
          <a:xfrm>
            <a:off x="7360920" y="2450592"/>
            <a:ext cx="1325880" cy="685800"/>
          </a:xfrm>
          <a:prstGeom prst="rect">
            <a:avLst/>
          </a:prstGeom>
          <a:noFill/>
          <a:ln/>
        </p:spPr>
        <p:txBody>
          <a:bodyPr wrap="square" lIns="0" tIns="0" rIns="0" bIns="0" rtlCol="0" anchor="t"/>
          <a:lstStyle/>
          <a:p>
            <a:pPr algn="ctr" indent="0" marL="0">
              <a:buNone/>
            </a:pPr>
            <a:r>
              <a:rPr lang="en-US" sz="1000" dirty="0">
                <a:solidFill>
                  <a:schemeClr val="tx2"/>
                </a:solidFill>
              </a:rPr>
              <a:t>Unistraw contacté, en attente de réponse</a:t>
            </a:r>
            <a:endParaRPr lang="en-US" sz="1000" dirty="0"/>
          </a:p>
        </p:txBody>
      </p:sp>
      <p:sp>
        <p:nvSpPr>
          <p:cNvPr id="29" name="bilan"/>
          <p:cNvSpPr/>
          <p:nvPr/>
        </p:nvSpPr>
        <p:spPr>
          <a:xfrm>
            <a:off x="457200" y="3429000"/>
            <a:ext cx="8229600" cy="960120"/>
          </a:xfrm>
          <a:prstGeom prst="roundRect">
            <a:avLst>
              <a:gd name="adj" fmla="val 7619"/>
            </a:avLst>
          </a:prstGeom>
          <a:solidFill>
            <a:srgbClr val="FFFFFF"/>
          </a:solidFill>
          <a:ln/>
        </p:spPr>
      </p:sp>
      <p:sp>
        <p:nvSpPr>
          <p:cNvPr id="30" name="Text 28"/>
          <p:cNvSpPr txBox="1"/>
          <p:nvPr/>
        </p:nvSpPr>
        <p:spPr>
          <a:xfrm>
            <a:off x="731520" y="3584448"/>
            <a:ext cx="7680960" cy="685800"/>
          </a:xfrm>
          <a:prstGeom prst="rect">
            <a:avLst/>
          </a:prstGeom>
          <a:noFill/>
          <a:ln/>
        </p:spPr>
        <p:txBody>
          <a:bodyPr wrap="square" lIns="0" tIns="0" rIns="0" bIns="0" rtlCol="0" anchor="ctr"/>
          <a:lstStyle/>
          <a:p>
            <a:pPr indent="0" marL="0">
              <a:buNone/>
            </a:pPr>
            <a:r>
              <a:rPr lang="en-US" sz="1250" b="1" dirty="0">
                <a:solidFill>
                  <a:schemeClr val="tx1"/>
                </a:solidFill>
              </a:rPr>
              <a:t>Bilan : </a:t>
            </a:r>
            <a:pPr indent="0" marL="0">
              <a:buNone/>
            </a:pPr>
            <a:r>
              <a:rPr lang="en-US" sz="1250" dirty="0">
                <a:solidFill>
                  <a:schemeClr val="tx1"/>
                </a:solidFill>
              </a:rPr>
              <a:t>en trois semaines, le projet est passé d'une recherche sur la galénique à une stratégie argumentée, une identité de marque complète et un premier contact industriel. Il reste à valider le produit (faisabilité, coût) et la demande réelle.</a:t>
            </a:r>
            <a:endParaRPr lang="en-US" sz="125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LE CHOIX DE LANCEMENT</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commencer par </a:t>
            </a:r>
            <a:pPr algn="l" indent="0" marL="0">
              <a:buNone/>
            </a:pPr>
            <a:r>
              <a:rPr lang="en-US" sz="2800" i="1" dirty="0">
                <a:solidFill>
                  <a:schemeClr val="tx1"/>
                </a:solidFill>
                <a:latin typeface="Cambria" pitchFamily="34" charset="0"/>
                <a:ea typeface="Cambria" pitchFamily="34" charset="-122"/>
                <a:cs typeface="Cambria" pitchFamily="34" charset="-120"/>
              </a:rPr>
              <a:t>la gamme luna</a:t>
            </a:r>
            <a:endParaRPr lang="en-US" sz="2800" dirty="0"/>
          </a:p>
        </p:txBody>
      </p:sp>
      <p:pic>
        <p:nvPicPr>
          <p:cNvPr id="4" name="photo-luna" descr="photo-luna">    </p:cNvPr>
          <p:cNvPicPr>
            <a:picLocks noChangeAspect="1"/>
          </p:cNvPicPr>
          <p:nvPr/>
        </p:nvPicPr>
        <p:blipFill>
          <a:blip r:embed="rId1"/>
          <a:stretch>
            <a:fillRect/>
          </a:stretch>
        </p:blipFill>
        <p:spPr>
          <a:xfrm>
            <a:off x="457200" y="1280160"/>
            <a:ext cx="2651760" cy="3154680"/>
          </a:xfrm>
          <a:prstGeom prst="rect">
            <a:avLst/>
          </a:prstGeom>
        </p:spPr>
      </p:pic>
      <p:sp>
        <p:nvSpPr>
          <p:cNvPr id="5" name="Shape 2"/>
          <p:cNvSpPr/>
          <p:nvPr/>
        </p:nvSpPr>
        <p:spPr>
          <a:xfrm>
            <a:off x="3429000" y="1344168"/>
            <a:ext cx="146304" cy="146304"/>
          </a:xfrm>
          <a:prstGeom prst="ellipse">
            <a:avLst/>
          </a:prstGeom>
          <a:solidFill>
            <a:schemeClr val="accent1"/>
          </a:solidFill>
          <a:ln/>
        </p:spPr>
      </p:sp>
      <p:sp>
        <p:nvSpPr>
          <p:cNvPr id="6" name="Text 3"/>
          <p:cNvSpPr txBox="1"/>
          <p:nvPr/>
        </p:nvSpPr>
        <p:spPr>
          <a:xfrm>
            <a:off x="3703320" y="1280160"/>
            <a:ext cx="4937760" cy="256032"/>
          </a:xfrm>
          <a:prstGeom prst="rect">
            <a:avLst/>
          </a:prstGeom>
          <a:noFill/>
          <a:ln/>
        </p:spPr>
        <p:txBody>
          <a:bodyPr wrap="square" lIns="0" tIns="0" rIns="0" bIns="0" rtlCol="0" anchor="t"/>
          <a:lstStyle/>
          <a:p>
            <a:pPr indent="0" marL="0">
              <a:buNone/>
            </a:pPr>
            <a:r>
              <a:rPr lang="en-US" sz="1350" b="1" dirty="0">
                <a:solidFill>
                  <a:schemeClr val="tx1"/>
                </a:solidFill>
              </a:rPr>
              <a:t>un besoin chaque mois</a:t>
            </a:r>
            <a:endParaRPr lang="en-US" sz="1350" dirty="0"/>
          </a:p>
        </p:txBody>
      </p:sp>
      <p:sp>
        <p:nvSpPr>
          <p:cNvPr id="7" name="Text 4"/>
          <p:cNvSpPr txBox="1"/>
          <p:nvPr/>
        </p:nvSpPr>
        <p:spPr>
          <a:xfrm>
            <a:off x="3703320" y="1545336"/>
            <a:ext cx="4937760" cy="329184"/>
          </a:xfrm>
          <a:prstGeom prst="rect">
            <a:avLst/>
          </a:prstGeom>
          <a:noFill/>
          <a:ln/>
        </p:spPr>
        <p:txBody>
          <a:bodyPr wrap="square" lIns="0" tIns="0" rIns="0" bIns="0" rtlCol="0" anchor="t"/>
          <a:lstStyle/>
          <a:p>
            <a:pPr indent="0" marL="0">
              <a:buNone/>
            </a:pPr>
            <a:r>
              <a:rPr lang="en-US" sz="1100" dirty="0">
                <a:solidFill>
                  <a:schemeClr val="tx2"/>
                </a:solidFill>
              </a:rPr>
              <a:t>cycle, syndrome prémenstruel, fatigue : un usage récurrent, idéal pour l'abonnement</a:t>
            </a:r>
            <a:endParaRPr lang="en-US" sz="1100" dirty="0"/>
          </a:p>
        </p:txBody>
      </p:sp>
      <p:sp>
        <p:nvSpPr>
          <p:cNvPr id="8" name="Shape 5"/>
          <p:cNvSpPr/>
          <p:nvPr/>
        </p:nvSpPr>
        <p:spPr>
          <a:xfrm>
            <a:off x="3429000" y="1984248"/>
            <a:ext cx="146304" cy="146304"/>
          </a:xfrm>
          <a:prstGeom prst="ellipse">
            <a:avLst/>
          </a:prstGeom>
          <a:solidFill>
            <a:schemeClr val="accent1"/>
          </a:solidFill>
          <a:ln/>
        </p:spPr>
      </p:sp>
      <p:sp>
        <p:nvSpPr>
          <p:cNvPr id="9" name="Text 6"/>
          <p:cNvSpPr txBox="1"/>
          <p:nvPr/>
        </p:nvSpPr>
        <p:spPr>
          <a:xfrm>
            <a:off x="3703320" y="1920240"/>
            <a:ext cx="4937760" cy="256032"/>
          </a:xfrm>
          <a:prstGeom prst="rect">
            <a:avLst/>
          </a:prstGeom>
          <a:noFill/>
          <a:ln/>
        </p:spPr>
        <p:txBody>
          <a:bodyPr wrap="square" lIns="0" tIns="0" rIns="0" bIns="0" rtlCol="0" anchor="t"/>
          <a:lstStyle/>
          <a:p>
            <a:pPr indent="0" marL="0">
              <a:buNone/>
            </a:pPr>
            <a:r>
              <a:rPr lang="en-US" sz="1350" b="1" dirty="0">
                <a:solidFill>
                  <a:schemeClr val="tx1"/>
                </a:solidFill>
              </a:rPr>
              <a:t>un marché qui grandit</a:t>
            </a:r>
            <a:endParaRPr lang="en-US" sz="1350" dirty="0"/>
          </a:p>
        </p:txBody>
      </p:sp>
      <p:sp>
        <p:nvSpPr>
          <p:cNvPr id="10" name="Text 7"/>
          <p:cNvSpPr txBox="1"/>
          <p:nvPr/>
        </p:nvSpPr>
        <p:spPr>
          <a:xfrm>
            <a:off x="3703320" y="2185416"/>
            <a:ext cx="4937760" cy="329184"/>
          </a:xfrm>
          <a:prstGeom prst="rect">
            <a:avLst/>
          </a:prstGeom>
          <a:noFill/>
          <a:ln/>
        </p:spPr>
        <p:txBody>
          <a:bodyPr wrap="square" lIns="0" tIns="0" rIns="0" bIns="0" rtlCol="0" anchor="t"/>
          <a:lstStyle/>
          <a:p>
            <a:pPr indent="0" marL="0">
              <a:buNone/>
            </a:pPr>
            <a:r>
              <a:rPr lang="en-US" sz="1100" dirty="0">
                <a:solidFill>
                  <a:schemeClr val="tx2"/>
                </a:solidFill>
              </a:rPr>
              <a:t>santé féminine en croissance, peu de solutions simples et dédiées au cycle</a:t>
            </a:r>
            <a:endParaRPr lang="en-US" sz="1100" dirty="0"/>
          </a:p>
        </p:txBody>
      </p:sp>
      <p:sp>
        <p:nvSpPr>
          <p:cNvPr id="11" name="Shape 8"/>
          <p:cNvSpPr/>
          <p:nvPr/>
        </p:nvSpPr>
        <p:spPr>
          <a:xfrm>
            <a:off x="3429000" y="2624328"/>
            <a:ext cx="146304" cy="146304"/>
          </a:xfrm>
          <a:prstGeom prst="ellipse">
            <a:avLst/>
          </a:prstGeom>
          <a:solidFill>
            <a:schemeClr val="accent1"/>
          </a:solidFill>
          <a:ln/>
        </p:spPr>
      </p:sp>
      <p:sp>
        <p:nvSpPr>
          <p:cNvPr id="12" name="Text 9"/>
          <p:cNvSpPr txBox="1"/>
          <p:nvPr/>
        </p:nvSpPr>
        <p:spPr>
          <a:xfrm>
            <a:off x="3703320" y="2560320"/>
            <a:ext cx="4937760" cy="256032"/>
          </a:xfrm>
          <a:prstGeom prst="rect">
            <a:avLst/>
          </a:prstGeom>
          <a:noFill/>
          <a:ln/>
        </p:spPr>
        <p:txBody>
          <a:bodyPr wrap="square" lIns="0" tIns="0" rIns="0" bIns="0" rtlCol="0" anchor="t"/>
          <a:lstStyle/>
          <a:p>
            <a:pPr indent="0" marL="0">
              <a:buNone/>
            </a:pPr>
            <a:r>
              <a:rPr lang="en-US" sz="1350" b="1" dirty="0">
                <a:solidFill>
                  <a:schemeClr val="tx1"/>
                </a:solidFill>
              </a:rPr>
              <a:t>une cible facile à atteindre</a:t>
            </a:r>
            <a:endParaRPr lang="en-US" sz="1350" dirty="0"/>
          </a:p>
        </p:txBody>
      </p:sp>
      <p:sp>
        <p:nvSpPr>
          <p:cNvPr id="13" name="Text 10"/>
          <p:cNvSpPr txBox="1"/>
          <p:nvPr/>
        </p:nvSpPr>
        <p:spPr>
          <a:xfrm>
            <a:off x="3703320" y="2825496"/>
            <a:ext cx="4937760" cy="329184"/>
          </a:xfrm>
          <a:prstGeom prst="rect">
            <a:avLst/>
          </a:prstGeom>
          <a:noFill/>
          <a:ln/>
        </p:spPr>
        <p:txBody>
          <a:bodyPr wrap="square" lIns="0" tIns="0" rIns="0" bIns="0" rtlCol="0" anchor="t"/>
          <a:lstStyle/>
          <a:p>
            <a:pPr indent="0" marL="0">
              <a:buNone/>
            </a:pPr>
            <a:r>
              <a:rPr lang="en-US" sz="1100" dirty="0">
                <a:solidFill>
                  <a:schemeClr val="tx2"/>
                </a:solidFill>
              </a:rPr>
              <a:t>femmes de 20 à 35 ans, en ligne, via des créatrices de contenu santé</a:t>
            </a:r>
            <a:endParaRPr lang="en-US" sz="1100" dirty="0"/>
          </a:p>
        </p:txBody>
      </p:sp>
      <p:sp>
        <p:nvSpPr>
          <p:cNvPr id="14" name="Shape 11"/>
          <p:cNvSpPr/>
          <p:nvPr/>
        </p:nvSpPr>
        <p:spPr>
          <a:xfrm>
            <a:off x="3429000" y="3264408"/>
            <a:ext cx="146304" cy="146304"/>
          </a:xfrm>
          <a:prstGeom prst="ellipse">
            <a:avLst/>
          </a:prstGeom>
          <a:solidFill>
            <a:schemeClr val="accent1"/>
          </a:solidFill>
          <a:ln/>
        </p:spPr>
      </p:sp>
      <p:sp>
        <p:nvSpPr>
          <p:cNvPr id="15" name="Text 12"/>
          <p:cNvSpPr txBox="1"/>
          <p:nvPr/>
        </p:nvSpPr>
        <p:spPr>
          <a:xfrm>
            <a:off x="3703320" y="3200400"/>
            <a:ext cx="4937760" cy="256032"/>
          </a:xfrm>
          <a:prstGeom prst="rect">
            <a:avLst/>
          </a:prstGeom>
          <a:noFill/>
          <a:ln/>
        </p:spPr>
        <p:txBody>
          <a:bodyPr wrap="square" lIns="0" tIns="0" rIns="0" bIns="0" rtlCol="0" anchor="t"/>
          <a:lstStyle/>
          <a:p>
            <a:pPr indent="0" marL="0">
              <a:buNone/>
            </a:pPr>
            <a:r>
              <a:rPr lang="en-US" sz="1350" b="1" dirty="0">
                <a:solidFill>
                  <a:schemeClr val="tx1"/>
                </a:solidFill>
              </a:rPr>
              <a:t>cohérent avec mon profil</a:t>
            </a:r>
            <a:endParaRPr lang="en-US" sz="1350" dirty="0"/>
          </a:p>
        </p:txBody>
      </p:sp>
      <p:sp>
        <p:nvSpPr>
          <p:cNvPr id="16" name="Text 13"/>
          <p:cNvSpPr txBox="1"/>
          <p:nvPr/>
        </p:nvSpPr>
        <p:spPr>
          <a:xfrm>
            <a:off x="3703320" y="3465576"/>
            <a:ext cx="4937760" cy="329184"/>
          </a:xfrm>
          <a:prstGeom prst="rect">
            <a:avLst/>
          </a:prstGeom>
          <a:noFill/>
          <a:ln/>
        </p:spPr>
        <p:txBody>
          <a:bodyPr wrap="square" lIns="0" tIns="0" rIns="0" bIns="0" rtlCol="0" anchor="t"/>
          <a:lstStyle/>
          <a:p>
            <a:pPr indent="0" marL="0">
              <a:buNone/>
            </a:pPr>
            <a:r>
              <a:rPr lang="en-US" sz="1100" dirty="0">
                <a:solidFill>
                  <a:schemeClr val="tx2"/>
                </a:solidFill>
              </a:rPr>
              <a:t>formation en biologie-santé, expérience des actifs en cosmétique</a:t>
            </a:r>
            <a:endParaRPr lang="en-US" sz="1100" dirty="0"/>
          </a:p>
        </p:txBody>
      </p:sp>
      <p:sp>
        <p:nvSpPr>
          <p:cNvPr id="17" name="offre-luna"/>
          <p:cNvSpPr/>
          <p:nvPr/>
        </p:nvSpPr>
        <p:spPr>
          <a:xfrm>
            <a:off x="3429000" y="3886200"/>
            <a:ext cx="5257800" cy="548640"/>
          </a:xfrm>
          <a:prstGeom prst="roundRect">
            <a:avLst>
              <a:gd name="adj" fmla="val 13333"/>
            </a:avLst>
          </a:prstGeom>
          <a:solidFill>
            <a:srgbClr val="F3E3E6"/>
          </a:solidFill>
          <a:ln/>
        </p:spPr>
      </p:sp>
      <p:sp>
        <p:nvSpPr>
          <p:cNvPr id="18" name="Text 15"/>
          <p:cNvSpPr txBox="1"/>
          <p:nvPr/>
        </p:nvSpPr>
        <p:spPr>
          <a:xfrm>
            <a:off x="3611880" y="3886200"/>
            <a:ext cx="4937760" cy="548640"/>
          </a:xfrm>
          <a:prstGeom prst="rect">
            <a:avLst/>
          </a:prstGeom>
          <a:noFill/>
          <a:ln/>
        </p:spPr>
        <p:txBody>
          <a:bodyPr wrap="square" lIns="0" tIns="0" rIns="0" bIns="0" rtlCol="0" anchor="ctr"/>
          <a:lstStyle/>
          <a:p>
            <a:pPr indent="0" marL="0">
              <a:buNone/>
            </a:pPr>
            <a:r>
              <a:rPr lang="en-US" sz="1200" b="1" dirty="0">
                <a:solidFill>
                  <a:schemeClr val="accent1"/>
                </a:solidFill>
              </a:rPr>
              <a:t>Offre de départ : </a:t>
            </a:r>
            <a:pPr indent="0" marL="0">
              <a:buNone/>
            </a:pPr>
            <a:r>
              <a:rPr lang="en-US" sz="1200" dirty="0">
                <a:solidFill>
                  <a:schemeClr val="tx1"/>
                </a:solidFill>
              </a:rPr>
              <a:t>box cycle flow + balance, environ 26 € par cycle, en précommande.</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LE PARTENAIRE INDUSTRIEL</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choisir le fournisseur </a:t>
            </a:r>
            <a:pPr algn="l" indent="0" marL="0">
              <a:buNone/>
            </a:pPr>
            <a:r>
              <a:rPr lang="en-US" sz="2800" i="1" dirty="0">
                <a:solidFill>
                  <a:schemeClr val="tx1"/>
                </a:solidFill>
                <a:latin typeface="Cambria" pitchFamily="34" charset="0"/>
                <a:ea typeface="Cambria" pitchFamily="34" charset="-122"/>
                <a:cs typeface="Cambria" pitchFamily="34" charset="-120"/>
              </a:rPr>
              <a:t>d'ici fin novembre</a:t>
            </a:r>
            <a:endParaRPr lang="en-US" sz="2800" dirty="0"/>
          </a:p>
        </p:txBody>
      </p:sp>
      <p:sp>
        <p:nvSpPr>
          <p:cNvPr id="4" name="demande"/>
          <p:cNvSpPr/>
          <p:nvPr/>
        </p:nvSpPr>
        <p:spPr>
          <a:xfrm>
            <a:off x="457200" y="1280160"/>
            <a:ext cx="3977640" cy="3154680"/>
          </a:xfrm>
          <a:prstGeom prst="roundRect">
            <a:avLst>
              <a:gd name="adj" fmla="val 2319"/>
            </a:avLst>
          </a:prstGeom>
          <a:solidFill>
            <a:srgbClr val="FFFFFF"/>
          </a:solidFill>
          <a:ln/>
        </p:spPr>
      </p:sp>
      <p:sp>
        <p:nvSpPr>
          <p:cNvPr id="5" name="Text 3"/>
          <p:cNvSpPr txBox="1"/>
          <p:nvPr/>
        </p:nvSpPr>
        <p:spPr>
          <a:xfrm>
            <a:off x="731520" y="1463040"/>
            <a:ext cx="3474720" cy="320040"/>
          </a:xfrm>
          <a:prstGeom prst="rect">
            <a:avLst/>
          </a:prstGeom>
          <a:noFill/>
          <a:ln/>
        </p:spPr>
        <p:txBody>
          <a:bodyPr wrap="square" lIns="0" tIns="0" rIns="0" bIns="0" rtlCol="0" anchor="t"/>
          <a:lstStyle/>
          <a:p>
            <a:pPr indent="0" marL="0">
              <a:buNone/>
            </a:pPr>
            <a:r>
              <a:rPr lang="en-US" sz="1600" b="1" dirty="0">
                <a:solidFill>
                  <a:schemeClr val="tx1"/>
                </a:solidFill>
              </a:rPr>
              <a:t>ma demande à Unistraw</a:t>
            </a:r>
            <a:endParaRPr lang="en-US" sz="1600" dirty="0"/>
          </a:p>
        </p:txBody>
      </p:sp>
      <p:sp>
        <p:nvSpPr>
          <p:cNvPr id="6" name="Shape 4"/>
          <p:cNvSpPr/>
          <p:nvPr/>
        </p:nvSpPr>
        <p:spPr>
          <a:xfrm>
            <a:off x="731520" y="1975104"/>
            <a:ext cx="137160" cy="137160"/>
          </a:xfrm>
          <a:prstGeom prst="ellipse">
            <a:avLst/>
          </a:prstGeom>
          <a:solidFill>
            <a:schemeClr val="accent4"/>
          </a:solidFill>
          <a:ln/>
        </p:spPr>
      </p:sp>
      <p:sp>
        <p:nvSpPr>
          <p:cNvPr id="7" name="Text 5"/>
          <p:cNvSpPr txBox="1"/>
          <p:nvPr/>
        </p:nvSpPr>
        <p:spPr>
          <a:xfrm>
            <a:off x="1005840" y="1920240"/>
            <a:ext cx="3246120" cy="603504"/>
          </a:xfrm>
          <a:prstGeom prst="rect">
            <a:avLst/>
          </a:prstGeom>
          <a:noFill/>
          <a:ln/>
        </p:spPr>
        <p:txBody>
          <a:bodyPr wrap="square" lIns="0" tIns="0" rIns="0" bIns="0" rtlCol="0" anchor="t"/>
          <a:lstStyle/>
          <a:p>
            <a:pPr indent="0" marL="0">
              <a:buNone/>
            </a:pPr>
            <a:r>
              <a:rPr lang="en-US" sz="1200" dirty="0">
                <a:solidFill>
                  <a:schemeClr val="tx1"/>
                </a:solidFill>
              </a:rPr>
              <a:t>Faisabilité technique et commerciale d'un partenariat B2B / CDMO</a:t>
            </a:r>
            <a:endParaRPr lang="en-US" sz="1200" dirty="0"/>
          </a:p>
        </p:txBody>
      </p:sp>
      <p:sp>
        <p:nvSpPr>
          <p:cNvPr id="8" name="Shape 6"/>
          <p:cNvSpPr/>
          <p:nvPr/>
        </p:nvSpPr>
        <p:spPr>
          <a:xfrm>
            <a:off x="731520" y="2578608"/>
            <a:ext cx="137160" cy="137160"/>
          </a:xfrm>
          <a:prstGeom prst="ellipse">
            <a:avLst/>
          </a:prstGeom>
          <a:solidFill>
            <a:schemeClr val="accent4"/>
          </a:solidFill>
          <a:ln/>
        </p:spPr>
      </p:sp>
      <p:sp>
        <p:nvSpPr>
          <p:cNvPr id="9" name="Text 7"/>
          <p:cNvSpPr txBox="1"/>
          <p:nvPr/>
        </p:nvSpPr>
        <p:spPr>
          <a:xfrm>
            <a:off x="1005840" y="2523744"/>
            <a:ext cx="3246120" cy="603504"/>
          </a:xfrm>
          <a:prstGeom prst="rect">
            <a:avLst/>
          </a:prstGeom>
          <a:noFill/>
          <a:ln/>
        </p:spPr>
        <p:txBody>
          <a:bodyPr wrap="square" lIns="0" tIns="0" rIns="0" bIns="0" rtlCol="0" anchor="t"/>
          <a:lstStyle/>
          <a:p>
            <a:pPr indent="0" marL="0">
              <a:buNone/>
            </a:pPr>
            <a:r>
              <a:rPr lang="en-US" sz="1200" dirty="0">
                <a:solidFill>
                  <a:schemeClr val="tx1"/>
                </a:solidFill>
              </a:rPr>
              <a:t>Actifs compatibles : dose, goût, stabilité, libération</a:t>
            </a:r>
            <a:endParaRPr lang="en-US" sz="1200" dirty="0"/>
          </a:p>
        </p:txBody>
      </p:sp>
      <p:sp>
        <p:nvSpPr>
          <p:cNvPr id="10" name="Shape 8"/>
          <p:cNvSpPr/>
          <p:nvPr/>
        </p:nvSpPr>
        <p:spPr>
          <a:xfrm>
            <a:off x="731520" y="3182112"/>
            <a:ext cx="137160" cy="137160"/>
          </a:xfrm>
          <a:prstGeom prst="ellipse">
            <a:avLst/>
          </a:prstGeom>
          <a:solidFill>
            <a:schemeClr val="accent4"/>
          </a:solidFill>
          <a:ln/>
        </p:spPr>
      </p:sp>
      <p:sp>
        <p:nvSpPr>
          <p:cNvPr id="11" name="Text 9"/>
          <p:cNvSpPr txBox="1"/>
          <p:nvPr/>
        </p:nvSpPr>
        <p:spPr>
          <a:xfrm>
            <a:off x="1005840" y="3127248"/>
            <a:ext cx="3246120" cy="603504"/>
          </a:xfrm>
          <a:prstGeom prst="rect">
            <a:avLst/>
          </a:prstGeom>
          <a:noFill/>
          <a:ln/>
        </p:spPr>
        <p:txBody>
          <a:bodyPr wrap="square" lIns="0" tIns="0" rIns="0" bIns="0" rtlCol="0" anchor="t"/>
          <a:lstStyle/>
          <a:p>
            <a:pPr indent="0" marL="0">
              <a:buNone/>
            </a:pPr>
            <a:r>
              <a:rPr lang="en-US" sz="1200" dirty="0">
                <a:solidFill>
                  <a:schemeClr val="tx1"/>
                </a:solidFill>
              </a:rPr>
              <a:t>Quantité minimum de commande (MOQ), coût par paille</a:t>
            </a:r>
            <a:endParaRPr lang="en-US" sz="1200" dirty="0"/>
          </a:p>
        </p:txBody>
      </p:sp>
      <p:sp>
        <p:nvSpPr>
          <p:cNvPr id="12" name="Shape 10"/>
          <p:cNvSpPr/>
          <p:nvPr/>
        </p:nvSpPr>
        <p:spPr>
          <a:xfrm>
            <a:off x="731520" y="3785616"/>
            <a:ext cx="137160" cy="137160"/>
          </a:xfrm>
          <a:prstGeom prst="ellipse">
            <a:avLst/>
          </a:prstGeom>
          <a:solidFill>
            <a:schemeClr val="accent4"/>
          </a:solidFill>
          <a:ln/>
        </p:spPr>
      </p:sp>
      <p:sp>
        <p:nvSpPr>
          <p:cNvPr id="13" name="Text 11"/>
          <p:cNvSpPr txBox="1"/>
          <p:nvPr/>
        </p:nvSpPr>
        <p:spPr>
          <a:xfrm>
            <a:off x="1005840" y="3730752"/>
            <a:ext cx="3246120" cy="603504"/>
          </a:xfrm>
          <a:prstGeom prst="rect">
            <a:avLst/>
          </a:prstGeom>
          <a:noFill/>
          <a:ln/>
        </p:spPr>
        <p:txBody>
          <a:bodyPr wrap="square" lIns="0" tIns="0" rIns="0" bIns="0" rtlCol="0" anchor="t"/>
          <a:lstStyle/>
          <a:p>
            <a:pPr indent="0" marL="0">
              <a:buNone/>
            </a:pPr>
            <a:r>
              <a:rPr lang="en-US" sz="1200" dirty="0">
                <a:solidFill>
                  <a:schemeClr val="tx1"/>
                </a:solidFill>
              </a:rPr>
              <a:t>Délais de pré-formulation, de stabilité et de production</a:t>
            </a:r>
            <a:endParaRPr lang="en-US" sz="1200" dirty="0"/>
          </a:p>
        </p:txBody>
      </p:sp>
      <p:sp>
        <p:nvSpPr>
          <p:cNvPr id="14" name="statut"/>
          <p:cNvSpPr/>
          <p:nvPr/>
        </p:nvSpPr>
        <p:spPr>
          <a:xfrm>
            <a:off x="4709160" y="1280160"/>
            <a:ext cx="3977640" cy="1371600"/>
          </a:xfrm>
          <a:prstGeom prst="roundRect">
            <a:avLst>
              <a:gd name="adj" fmla="val 5333"/>
            </a:avLst>
          </a:prstGeom>
          <a:solidFill>
            <a:srgbClr val="FFFFFF"/>
          </a:solidFill>
          <a:ln/>
        </p:spPr>
      </p:sp>
      <p:sp>
        <p:nvSpPr>
          <p:cNvPr id="15" name="Text 13"/>
          <p:cNvSpPr txBox="1"/>
          <p:nvPr/>
        </p:nvSpPr>
        <p:spPr>
          <a:xfrm>
            <a:off x="4983480" y="1444752"/>
            <a:ext cx="3474720" cy="320040"/>
          </a:xfrm>
          <a:prstGeom prst="rect">
            <a:avLst/>
          </a:prstGeom>
          <a:noFill/>
          <a:ln/>
        </p:spPr>
        <p:txBody>
          <a:bodyPr wrap="square" lIns="0" tIns="0" rIns="0" bIns="0" rtlCol="0" anchor="t"/>
          <a:lstStyle/>
          <a:p>
            <a:pPr indent="0" marL="0">
              <a:buNone/>
            </a:pPr>
            <a:r>
              <a:rPr lang="en-US" sz="1600" b="1" dirty="0">
                <a:solidFill>
                  <a:schemeClr val="tx1"/>
                </a:solidFill>
              </a:rPr>
              <a:t>statut</a:t>
            </a:r>
            <a:endParaRPr lang="en-US" sz="1600" dirty="0"/>
          </a:p>
        </p:txBody>
      </p:sp>
      <p:sp>
        <p:nvSpPr>
          <p:cNvPr id="16" name="Shape 14"/>
          <p:cNvSpPr/>
          <p:nvPr/>
        </p:nvSpPr>
        <p:spPr>
          <a:xfrm>
            <a:off x="4983480" y="1856232"/>
            <a:ext cx="2011680" cy="329184"/>
          </a:xfrm>
          <a:prstGeom prst="roundRect">
            <a:avLst>
              <a:gd name="adj" fmla="val 50000"/>
            </a:avLst>
          </a:prstGeom>
          <a:solidFill>
            <a:srgbClr val="FCEFD0"/>
          </a:solidFill>
          <a:ln/>
        </p:spPr>
      </p:sp>
      <p:sp>
        <p:nvSpPr>
          <p:cNvPr id="17" name="Shape 15"/>
          <p:cNvSpPr/>
          <p:nvPr/>
        </p:nvSpPr>
        <p:spPr>
          <a:xfrm>
            <a:off x="5102352" y="1956816"/>
            <a:ext cx="128016" cy="128016"/>
          </a:xfrm>
          <a:prstGeom prst="ellipse">
            <a:avLst/>
          </a:prstGeom>
          <a:solidFill>
            <a:schemeClr val="accent3"/>
          </a:solidFill>
          <a:ln/>
        </p:spPr>
      </p:sp>
      <p:sp>
        <p:nvSpPr>
          <p:cNvPr id="18" name="Text 16"/>
          <p:cNvSpPr txBox="1"/>
          <p:nvPr/>
        </p:nvSpPr>
        <p:spPr>
          <a:xfrm>
            <a:off x="5303520" y="1856232"/>
            <a:ext cx="1691640" cy="329184"/>
          </a:xfrm>
          <a:prstGeom prst="rect">
            <a:avLst/>
          </a:prstGeom>
          <a:noFill/>
          <a:ln/>
        </p:spPr>
        <p:txBody>
          <a:bodyPr wrap="square" lIns="0" tIns="0" rIns="0" bIns="0" rtlCol="0" anchor="ctr"/>
          <a:lstStyle/>
          <a:p>
            <a:pPr indent="0" marL="0">
              <a:buNone/>
            </a:pPr>
            <a:r>
              <a:rPr lang="en-US" sz="1100" b="1" dirty="0">
                <a:solidFill>
                  <a:schemeClr val="tx1"/>
                </a:solidFill>
              </a:rPr>
              <a:t>contacté · en attente</a:t>
            </a:r>
            <a:endParaRPr lang="en-US" sz="1100" dirty="0"/>
          </a:p>
        </p:txBody>
      </p:sp>
      <p:sp>
        <p:nvSpPr>
          <p:cNvPr id="19" name="Text 17"/>
          <p:cNvSpPr txBox="1"/>
          <p:nvPr/>
        </p:nvSpPr>
        <p:spPr>
          <a:xfrm>
            <a:off x="4983480" y="2258568"/>
            <a:ext cx="3474720" cy="274320"/>
          </a:xfrm>
          <a:prstGeom prst="rect">
            <a:avLst/>
          </a:prstGeom>
          <a:noFill/>
          <a:ln/>
        </p:spPr>
        <p:txBody>
          <a:bodyPr wrap="square" lIns="0" tIns="0" rIns="0" bIns="0" rtlCol="0" anchor="t"/>
          <a:lstStyle/>
          <a:p>
            <a:pPr indent="0" marL="0">
              <a:buNone/>
            </a:pPr>
            <a:r>
              <a:rPr lang="en-US" sz="1100" dirty="0">
                <a:solidFill>
                  <a:schemeClr val="tx2"/>
                </a:solidFill>
              </a:rPr>
              <a:t>Relance prévue sans réponse sous 10 jours.</a:t>
            </a:r>
            <a:endParaRPr lang="en-US" sz="1100" dirty="0"/>
          </a:p>
        </p:txBody>
      </p:sp>
      <p:sp>
        <p:nvSpPr>
          <p:cNvPr id="20" name="planb"/>
          <p:cNvSpPr/>
          <p:nvPr/>
        </p:nvSpPr>
        <p:spPr>
          <a:xfrm>
            <a:off x="4709160" y="2788920"/>
            <a:ext cx="3977640" cy="1645920"/>
          </a:xfrm>
          <a:prstGeom prst="roundRect">
            <a:avLst>
              <a:gd name="adj" fmla="val 4444"/>
            </a:avLst>
          </a:prstGeom>
          <a:solidFill>
            <a:srgbClr val="FFFFFF"/>
          </a:solidFill>
          <a:ln/>
        </p:spPr>
      </p:sp>
      <p:sp>
        <p:nvSpPr>
          <p:cNvPr id="21" name="Text 19"/>
          <p:cNvSpPr txBox="1"/>
          <p:nvPr/>
        </p:nvSpPr>
        <p:spPr>
          <a:xfrm>
            <a:off x="4983480" y="2926080"/>
            <a:ext cx="3474720" cy="320040"/>
          </a:xfrm>
          <a:prstGeom prst="rect">
            <a:avLst/>
          </a:prstGeom>
          <a:noFill/>
          <a:ln/>
        </p:spPr>
        <p:txBody>
          <a:bodyPr wrap="square" lIns="0" tIns="0" rIns="0" bIns="0" rtlCol="0" anchor="t"/>
          <a:lstStyle/>
          <a:p>
            <a:pPr indent="0" marL="0">
              <a:buNone/>
            </a:pPr>
            <a:r>
              <a:rPr lang="en-US" sz="1600" b="1" dirty="0">
                <a:solidFill>
                  <a:schemeClr val="tx1"/>
                </a:solidFill>
              </a:rPr>
              <a:t>plan B et décision</a:t>
            </a:r>
            <a:endParaRPr lang="en-US" sz="1600" dirty="0"/>
          </a:p>
        </p:txBody>
      </p:sp>
      <p:sp>
        <p:nvSpPr>
          <p:cNvPr id="22" name="Shape 20"/>
          <p:cNvSpPr/>
          <p:nvPr/>
        </p:nvSpPr>
        <p:spPr>
          <a:xfrm>
            <a:off x="4983480" y="3364992"/>
            <a:ext cx="137160" cy="137160"/>
          </a:xfrm>
          <a:prstGeom prst="ellipse">
            <a:avLst/>
          </a:prstGeom>
          <a:solidFill>
            <a:schemeClr val="accent2"/>
          </a:solidFill>
          <a:ln/>
        </p:spPr>
      </p:sp>
      <p:sp>
        <p:nvSpPr>
          <p:cNvPr id="23" name="Text 21"/>
          <p:cNvSpPr txBox="1"/>
          <p:nvPr/>
        </p:nvSpPr>
        <p:spPr>
          <a:xfrm>
            <a:off x="5257800" y="3310128"/>
            <a:ext cx="3246120" cy="365760"/>
          </a:xfrm>
          <a:prstGeom prst="rect">
            <a:avLst/>
          </a:prstGeom>
          <a:noFill/>
          <a:ln/>
        </p:spPr>
        <p:txBody>
          <a:bodyPr wrap="square" lIns="0" tIns="0" rIns="0" bIns="0" rtlCol="0" anchor="t"/>
          <a:lstStyle/>
          <a:p>
            <a:pPr indent="0" marL="0">
              <a:buNone/>
            </a:pPr>
            <a:r>
              <a:rPr lang="en-US" sz="1100" dirty="0">
                <a:solidFill>
                  <a:schemeClr val="tx1"/>
                </a:solidFill>
              </a:rPr>
              <a:t>Contacter d'autres fournisseurs en parallèle, dont une piste au Brésil</a:t>
            </a:r>
            <a:endParaRPr lang="en-US" sz="1100" dirty="0"/>
          </a:p>
        </p:txBody>
      </p:sp>
      <p:sp>
        <p:nvSpPr>
          <p:cNvPr id="24" name="Shape 22"/>
          <p:cNvSpPr/>
          <p:nvPr/>
        </p:nvSpPr>
        <p:spPr>
          <a:xfrm>
            <a:off x="4983480" y="3730752"/>
            <a:ext cx="137160" cy="137160"/>
          </a:xfrm>
          <a:prstGeom prst="ellipse">
            <a:avLst/>
          </a:prstGeom>
          <a:solidFill>
            <a:schemeClr val="accent2"/>
          </a:solidFill>
          <a:ln/>
        </p:spPr>
      </p:sp>
      <p:sp>
        <p:nvSpPr>
          <p:cNvPr id="25" name="Text 23"/>
          <p:cNvSpPr txBox="1"/>
          <p:nvPr/>
        </p:nvSpPr>
        <p:spPr>
          <a:xfrm>
            <a:off x="5257800" y="3675888"/>
            <a:ext cx="3246120" cy="365760"/>
          </a:xfrm>
          <a:prstGeom prst="rect">
            <a:avLst/>
          </a:prstGeom>
          <a:noFill/>
          <a:ln/>
        </p:spPr>
        <p:txBody>
          <a:bodyPr wrap="square" lIns="0" tIns="0" rIns="0" bIns="0" rtlCol="0" anchor="t"/>
          <a:lstStyle/>
          <a:p>
            <a:pPr indent="0" marL="0">
              <a:buNone/>
            </a:pPr>
            <a:r>
              <a:rPr lang="en-US" sz="1100" dirty="0">
                <a:solidFill>
                  <a:schemeClr val="tx1"/>
                </a:solidFill>
              </a:rPr>
              <a:t>Comparer faisabilité, coût, MOQ et délais</a:t>
            </a:r>
            <a:endParaRPr lang="en-US" sz="1100" dirty="0"/>
          </a:p>
        </p:txBody>
      </p:sp>
      <p:sp>
        <p:nvSpPr>
          <p:cNvPr id="26" name="Shape 24"/>
          <p:cNvSpPr/>
          <p:nvPr/>
        </p:nvSpPr>
        <p:spPr>
          <a:xfrm>
            <a:off x="4983480" y="4096512"/>
            <a:ext cx="137160" cy="137160"/>
          </a:xfrm>
          <a:prstGeom prst="ellipse">
            <a:avLst/>
          </a:prstGeom>
          <a:solidFill>
            <a:schemeClr val="accent2"/>
          </a:solidFill>
          <a:ln/>
        </p:spPr>
      </p:sp>
      <p:sp>
        <p:nvSpPr>
          <p:cNvPr id="27" name="Text 25"/>
          <p:cNvSpPr txBox="1"/>
          <p:nvPr/>
        </p:nvSpPr>
        <p:spPr>
          <a:xfrm>
            <a:off x="5257800" y="4041648"/>
            <a:ext cx="3246120" cy="365760"/>
          </a:xfrm>
          <a:prstGeom prst="rect">
            <a:avLst/>
          </a:prstGeom>
          <a:noFill/>
          <a:ln/>
        </p:spPr>
        <p:txBody>
          <a:bodyPr wrap="square" lIns="0" tIns="0" rIns="0" bIns="0" rtlCol="0" anchor="t"/>
          <a:lstStyle/>
          <a:p>
            <a:pPr indent="0" marL="0">
              <a:buNone/>
            </a:pPr>
            <a:r>
              <a:rPr lang="en-US" sz="1100" dirty="0">
                <a:solidFill>
                  <a:schemeClr val="tx1"/>
                </a:solidFill>
              </a:rPr>
              <a:t>Décision finale visée fin novembre</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DIAGRAMME DE GANTT</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de l'idée </a:t>
            </a:r>
            <a:pPr algn="l" indent="0" marL="0">
              <a:buNone/>
            </a:pPr>
            <a:r>
              <a:rPr lang="en-US" sz="2800" i="1" dirty="0">
                <a:solidFill>
                  <a:schemeClr val="tx1"/>
                </a:solidFill>
                <a:latin typeface="Cambria" pitchFamily="34" charset="0"/>
                <a:ea typeface="Cambria" pitchFamily="34" charset="-122"/>
                <a:cs typeface="Cambria" pitchFamily="34" charset="-120"/>
              </a:rPr>
              <a:t>à la soutenance, puis au lancement</a:t>
            </a:r>
            <a:endParaRPr lang="en-US" sz="2800" dirty="0"/>
          </a:p>
        </p:txBody>
      </p:sp>
      <p:sp>
        <p:nvSpPr>
          <p:cNvPr id="4" name="Shape 2"/>
          <p:cNvSpPr/>
          <p:nvPr/>
        </p:nvSpPr>
        <p:spPr>
          <a:xfrm>
            <a:off x="3017520" y="1280160"/>
            <a:ext cx="704088" cy="3010205"/>
          </a:xfrm>
          <a:prstGeom prst="rect">
            <a:avLst/>
          </a:prstGeom>
          <a:solidFill>
            <a:srgbClr val="ECE8E3"/>
          </a:solidFill>
          <a:ln/>
        </p:spPr>
      </p:sp>
      <p:sp>
        <p:nvSpPr>
          <p:cNvPr id="5" name="Text 3"/>
          <p:cNvSpPr txBox="1"/>
          <p:nvPr/>
        </p:nvSpPr>
        <p:spPr>
          <a:xfrm>
            <a:off x="3017520" y="1316736"/>
            <a:ext cx="704088" cy="219456"/>
          </a:xfrm>
          <a:prstGeom prst="rect">
            <a:avLst/>
          </a:prstGeom>
          <a:noFill/>
          <a:ln/>
        </p:spPr>
        <p:txBody>
          <a:bodyPr wrap="square" lIns="0" tIns="0" rIns="0" bIns="0" rtlCol="0" anchor="t"/>
          <a:lstStyle/>
          <a:p>
            <a:pPr algn="ctr" indent="0" marL="0">
              <a:buNone/>
            </a:pPr>
            <a:r>
              <a:rPr lang="en-US" sz="950" b="1" dirty="0">
                <a:solidFill>
                  <a:schemeClr val="tx2"/>
                </a:solidFill>
              </a:rPr>
              <a:t>sept.</a:t>
            </a:r>
            <a:endParaRPr lang="en-US" sz="950" dirty="0"/>
          </a:p>
        </p:txBody>
      </p:sp>
      <p:sp>
        <p:nvSpPr>
          <p:cNvPr id="6" name="Text 4"/>
          <p:cNvSpPr txBox="1"/>
          <p:nvPr/>
        </p:nvSpPr>
        <p:spPr>
          <a:xfrm>
            <a:off x="3721608" y="1316736"/>
            <a:ext cx="704088" cy="219456"/>
          </a:xfrm>
          <a:prstGeom prst="rect">
            <a:avLst/>
          </a:prstGeom>
          <a:noFill/>
          <a:ln/>
        </p:spPr>
        <p:txBody>
          <a:bodyPr wrap="square" lIns="0" tIns="0" rIns="0" bIns="0" rtlCol="0" anchor="t"/>
          <a:lstStyle/>
          <a:p>
            <a:pPr algn="ctr" indent="0" marL="0">
              <a:buNone/>
            </a:pPr>
            <a:r>
              <a:rPr lang="en-US" sz="950" b="1" dirty="0">
                <a:solidFill>
                  <a:schemeClr val="tx2"/>
                </a:solidFill>
              </a:rPr>
              <a:t>oct.</a:t>
            </a:r>
            <a:endParaRPr lang="en-US" sz="950" dirty="0"/>
          </a:p>
        </p:txBody>
      </p:sp>
      <p:sp>
        <p:nvSpPr>
          <p:cNvPr id="7" name="Shape 5"/>
          <p:cNvSpPr/>
          <p:nvPr/>
        </p:nvSpPr>
        <p:spPr>
          <a:xfrm>
            <a:off x="4425696" y="1280160"/>
            <a:ext cx="704088" cy="3010205"/>
          </a:xfrm>
          <a:prstGeom prst="rect">
            <a:avLst/>
          </a:prstGeom>
          <a:solidFill>
            <a:srgbClr val="ECE8E3"/>
          </a:solidFill>
          <a:ln/>
        </p:spPr>
      </p:sp>
      <p:sp>
        <p:nvSpPr>
          <p:cNvPr id="8" name="Text 6"/>
          <p:cNvSpPr txBox="1"/>
          <p:nvPr/>
        </p:nvSpPr>
        <p:spPr>
          <a:xfrm>
            <a:off x="4425696" y="1316736"/>
            <a:ext cx="704088" cy="219456"/>
          </a:xfrm>
          <a:prstGeom prst="rect">
            <a:avLst/>
          </a:prstGeom>
          <a:noFill/>
          <a:ln/>
        </p:spPr>
        <p:txBody>
          <a:bodyPr wrap="square" lIns="0" tIns="0" rIns="0" bIns="0" rtlCol="0" anchor="t"/>
          <a:lstStyle/>
          <a:p>
            <a:pPr algn="ctr" indent="0" marL="0">
              <a:buNone/>
            </a:pPr>
            <a:r>
              <a:rPr lang="en-US" sz="950" b="1" dirty="0">
                <a:solidFill>
                  <a:schemeClr val="tx2"/>
                </a:solidFill>
              </a:rPr>
              <a:t>nov.</a:t>
            </a:r>
            <a:endParaRPr lang="en-US" sz="950" dirty="0"/>
          </a:p>
        </p:txBody>
      </p:sp>
      <p:sp>
        <p:nvSpPr>
          <p:cNvPr id="9" name="Text 7"/>
          <p:cNvSpPr txBox="1"/>
          <p:nvPr/>
        </p:nvSpPr>
        <p:spPr>
          <a:xfrm>
            <a:off x="5129784" y="1316736"/>
            <a:ext cx="704088" cy="219456"/>
          </a:xfrm>
          <a:prstGeom prst="rect">
            <a:avLst/>
          </a:prstGeom>
          <a:noFill/>
          <a:ln/>
        </p:spPr>
        <p:txBody>
          <a:bodyPr wrap="square" lIns="0" tIns="0" rIns="0" bIns="0" rtlCol="0" anchor="t"/>
          <a:lstStyle/>
          <a:p>
            <a:pPr algn="ctr" indent="0" marL="0">
              <a:buNone/>
            </a:pPr>
            <a:r>
              <a:rPr lang="en-US" sz="950" b="1" dirty="0">
                <a:solidFill>
                  <a:schemeClr val="tx2"/>
                </a:solidFill>
              </a:rPr>
              <a:t>déc.</a:t>
            </a:r>
            <a:endParaRPr lang="en-US" sz="950" dirty="0"/>
          </a:p>
        </p:txBody>
      </p:sp>
      <p:sp>
        <p:nvSpPr>
          <p:cNvPr id="10" name="Shape 8"/>
          <p:cNvSpPr/>
          <p:nvPr/>
        </p:nvSpPr>
        <p:spPr>
          <a:xfrm>
            <a:off x="5833872" y="1280160"/>
            <a:ext cx="704088" cy="3010205"/>
          </a:xfrm>
          <a:prstGeom prst="rect">
            <a:avLst/>
          </a:prstGeom>
          <a:solidFill>
            <a:srgbClr val="ECE8E3"/>
          </a:solidFill>
          <a:ln/>
        </p:spPr>
      </p:sp>
      <p:sp>
        <p:nvSpPr>
          <p:cNvPr id="11" name="Text 9"/>
          <p:cNvSpPr txBox="1"/>
          <p:nvPr/>
        </p:nvSpPr>
        <p:spPr>
          <a:xfrm>
            <a:off x="5833872" y="1316736"/>
            <a:ext cx="704088" cy="219456"/>
          </a:xfrm>
          <a:prstGeom prst="rect">
            <a:avLst/>
          </a:prstGeom>
          <a:noFill/>
          <a:ln/>
        </p:spPr>
        <p:txBody>
          <a:bodyPr wrap="square" lIns="0" tIns="0" rIns="0" bIns="0" rtlCol="0" anchor="t"/>
          <a:lstStyle/>
          <a:p>
            <a:pPr algn="ctr" indent="0" marL="0">
              <a:buNone/>
            </a:pPr>
            <a:r>
              <a:rPr lang="en-US" sz="950" b="1" dirty="0">
                <a:solidFill>
                  <a:schemeClr val="tx2"/>
                </a:solidFill>
              </a:rPr>
              <a:t>janv.</a:t>
            </a:r>
            <a:endParaRPr lang="en-US" sz="950" dirty="0"/>
          </a:p>
        </p:txBody>
      </p:sp>
      <p:sp>
        <p:nvSpPr>
          <p:cNvPr id="12" name="Text 10"/>
          <p:cNvSpPr txBox="1"/>
          <p:nvPr/>
        </p:nvSpPr>
        <p:spPr>
          <a:xfrm>
            <a:off x="6537960" y="1316736"/>
            <a:ext cx="704088" cy="219456"/>
          </a:xfrm>
          <a:prstGeom prst="rect">
            <a:avLst/>
          </a:prstGeom>
          <a:noFill/>
          <a:ln/>
        </p:spPr>
        <p:txBody>
          <a:bodyPr wrap="square" lIns="0" tIns="0" rIns="0" bIns="0" rtlCol="0" anchor="t"/>
          <a:lstStyle/>
          <a:p>
            <a:pPr algn="ctr" indent="0" marL="0">
              <a:buNone/>
            </a:pPr>
            <a:r>
              <a:rPr lang="en-US" sz="950" b="1" dirty="0">
                <a:solidFill>
                  <a:schemeClr val="tx2"/>
                </a:solidFill>
              </a:rPr>
              <a:t>févr.</a:t>
            </a:r>
            <a:endParaRPr lang="en-US" sz="950" dirty="0"/>
          </a:p>
        </p:txBody>
      </p:sp>
      <p:sp>
        <p:nvSpPr>
          <p:cNvPr id="13" name="Shape 11"/>
          <p:cNvSpPr/>
          <p:nvPr/>
        </p:nvSpPr>
        <p:spPr>
          <a:xfrm>
            <a:off x="7242048" y="1280160"/>
            <a:ext cx="704088" cy="3010205"/>
          </a:xfrm>
          <a:prstGeom prst="rect">
            <a:avLst/>
          </a:prstGeom>
          <a:solidFill>
            <a:srgbClr val="ECE8E3"/>
          </a:solidFill>
          <a:ln/>
        </p:spPr>
      </p:sp>
      <p:sp>
        <p:nvSpPr>
          <p:cNvPr id="14" name="Text 12"/>
          <p:cNvSpPr txBox="1"/>
          <p:nvPr/>
        </p:nvSpPr>
        <p:spPr>
          <a:xfrm>
            <a:off x="7242048" y="1316736"/>
            <a:ext cx="704088" cy="219456"/>
          </a:xfrm>
          <a:prstGeom prst="rect">
            <a:avLst/>
          </a:prstGeom>
          <a:noFill/>
          <a:ln/>
        </p:spPr>
        <p:txBody>
          <a:bodyPr wrap="square" lIns="0" tIns="0" rIns="0" bIns="0" rtlCol="0" anchor="t"/>
          <a:lstStyle/>
          <a:p>
            <a:pPr algn="ctr" indent="0" marL="0">
              <a:buNone/>
            </a:pPr>
            <a:r>
              <a:rPr lang="en-US" sz="950" b="1" dirty="0">
                <a:solidFill>
                  <a:schemeClr val="tx2"/>
                </a:solidFill>
              </a:rPr>
              <a:t>mars</a:t>
            </a:r>
            <a:endParaRPr lang="en-US" sz="950" dirty="0"/>
          </a:p>
        </p:txBody>
      </p:sp>
      <p:sp>
        <p:nvSpPr>
          <p:cNvPr id="15" name="Text 13"/>
          <p:cNvSpPr txBox="1"/>
          <p:nvPr/>
        </p:nvSpPr>
        <p:spPr>
          <a:xfrm>
            <a:off x="7946136" y="1316736"/>
            <a:ext cx="704088" cy="219456"/>
          </a:xfrm>
          <a:prstGeom prst="rect">
            <a:avLst/>
          </a:prstGeom>
          <a:noFill/>
          <a:ln/>
        </p:spPr>
        <p:txBody>
          <a:bodyPr wrap="square" lIns="0" tIns="0" rIns="0" bIns="0" rtlCol="0" anchor="t"/>
          <a:lstStyle/>
          <a:p>
            <a:pPr algn="ctr" indent="0" marL="0">
              <a:buNone/>
            </a:pPr>
            <a:r>
              <a:rPr lang="en-US" sz="950" b="1" dirty="0">
                <a:solidFill>
                  <a:schemeClr val="accent2"/>
                </a:solidFill>
              </a:rPr>
              <a:t>avr. →</a:t>
            </a:r>
            <a:endParaRPr lang="en-US" sz="950" dirty="0"/>
          </a:p>
        </p:txBody>
      </p:sp>
      <p:sp>
        <p:nvSpPr>
          <p:cNvPr id="16" name="Text 14"/>
          <p:cNvSpPr txBox="1"/>
          <p:nvPr/>
        </p:nvSpPr>
        <p:spPr>
          <a:xfrm>
            <a:off x="457200" y="1572768"/>
            <a:ext cx="2514600" cy="248717"/>
          </a:xfrm>
          <a:prstGeom prst="rect">
            <a:avLst/>
          </a:prstGeom>
          <a:noFill/>
          <a:ln/>
        </p:spPr>
        <p:txBody>
          <a:bodyPr wrap="square" lIns="0" tIns="0" rIns="0" bIns="0" rtlCol="0" anchor="ctr"/>
          <a:lstStyle/>
          <a:p>
            <a:pPr indent="0" marL="0">
              <a:buNone/>
            </a:pPr>
            <a:r>
              <a:rPr lang="en-US" sz="950" dirty="0">
                <a:solidFill>
                  <a:schemeClr val="tx2"/>
                </a:solidFill>
              </a:rPr>
              <a:t>Recherche galénique, veille, brevets</a:t>
            </a:r>
            <a:endParaRPr lang="en-US" sz="950" dirty="0"/>
          </a:p>
        </p:txBody>
      </p:sp>
      <p:sp>
        <p:nvSpPr>
          <p:cNvPr id="17" name="barre-0"/>
          <p:cNvSpPr/>
          <p:nvPr/>
        </p:nvSpPr>
        <p:spPr>
          <a:xfrm>
            <a:off x="3334360" y="1618488"/>
            <a:ext cx="387248" cy="157277"/>
          </a:xfrm>
          <a:prstGeom prst="roundRect">
            <a:avLst>
              <a:gd name="adj" fmla="val 34884"/>
            </a:avLst>
          </a:prstGeom>
          <a:solidFill>
            <a:srgbClr val="8C8279"/>
          </a:solidFill>
          <a:ln/>
        </p:spPr>
      </p:sp>
      <p:sp>
        <p:nvSpPr>
          <p:cNvPr id="18" name="Text 16"/>
          <p:cNvSpPr txBox="1"/>
          <p:nvPr/>
        </p:nvSpPr>
        <p:spPr>
          <a:xfrm>
            <a:off x="457200" y="1821485"/>
            <a:ext cx="2514600" cy="248717"/>
          </a:xfrm>
          <a:prstGeom prst="rect">
            <a:avLst/>
          </a:prstGeom>
          <a:noFill/>
          <a:ln/>
        </p:spPr>
        <p:txBody>
          <a:bodyPr wrap="square" lIns="0" tIns="0" rIns="0" bIns="0" rtlCol="0" anchor="ctr"/>
          <a:lstStyle/>
          <a:p>
            <a:pPr indent="0" marL="0">
              <a:buNone/>
            </a:pPr>
            <a:r>
              <a:rPr lang="en-US" sz="950" dirty="0">
                <a:solidFill>
                  <a:schemeClr val="tx2"/>
                </a:solidFill>
              </a:rPr>
              <a:t>Étude de marché et stratégie (luna)</a:t>
            </a:r>
            <a:endParaRPr lang="en-US" sz="950" dirty="0"/>
          </a:p>
        </p:txBody>
      </p:sp>
      <p:sp>
        <p:nvSpPr>
          <p:cNvPr id="19" name="barre-1"/>
          <p:cNvSpPr/>
          <p:nvPr/>
        </p:nvSpPr>
        <p:spPr>
          <a:xfrm>
            <a:off x="3615995" y="1867205"/>
            <a:ext cx="352044" cy="157277"/>
          </a:xfrm>
          <a:prstGeom prst="roundRect">
            <a:avLst>
              <a:gd name="adj" fmla="val 34884"/>
            </a:avLst>
          </a:prstGeom>
          <a:solidFill>
            <a:srgbClr val="8C8279"/>
          </a:solidFill>
          <a:ln/>
        </p:spPr>
      </p:sp>
      <p:sp>
        <p:nvSpPr>
          <p:cNvPr id="20" name="Text 18"/>
          <p:cNvSpPr txBox="1"/>
          <p:nvPr/>
        </p:nvSpPr>
        <p:spPr>
          <a:xfrm>
            <a:off x="457200" y="2070202"/>
            <a:ext cx="2514600" cy="248717"/>
          </a:xfrm>
          <a:prstGeom prst="rect">
            <a:avLst/>
          </a:prstGeom>
          <a:noFill/>
          <a:ln/>
        </p:spPr>
        <p:txBody>
          <a:bodyPr wrap="square" lIns="0" tIns="0" rIns="0" bIns="0" rtlCol="0" anchor="ctr"/>
          <a:lstStyle/>
          <a:p>
            <a:pPr indent="0" marL="0">
              <a:buNone/>
            </a:pPr>
            <a:r>
              <a:rPr lang="en-US" sz="950" dirty="0">
                <a:solidFill>
                  <a:schemeClr val="tx2"/>
                </a:solidFill>
              </a:rPr>
              <a:t>Marque, logo, site, pitch</a:t>
            </a:r>
            <a:endParaRPr lang="en-US" sz="950" dirty="0"/>
          </a:p>
        </p:txBody>
      </p:sp>
      <p:sp>
        <p:nvSpPr>
          <p:cNvPr id="21" name="barre-2"/>
          <p:cNvSpPr/>
          <p:nvPr/>
        </p:nvSpPr>
        <p:spPr>
          <a:xfrm>
            <a:off x="3721608" y="2115922"/>
            <a:ext cx="295717" cy="157277"/>
          </a:xfrm>
          <a:prstGeom prst="roundRect">
            <a:avLst>
              <a:gd name="adj" fmla="val 34884"/>
            </a:avLst>
          </a:prstGeom>
          <a:solidFill>
            <a:srgbClr val="8C8279"/>
          </a:solidFill>
          <a:ln/>
        </p:spPr>
      </p:sp>
      <p:sp>
        <p:nvSpPr>
          <p:cNvPr id="22" name="Text 20"/>
          <p:cNvSpPr txBox="1"/>
          <p:nvPr/>
        </p:nvSpPr>
        <p:spPr>
          <a:xfrm>
            <a:off x="457200" y="2318918"/>
            <a:ext cx="2514600" cy="248717"/>
          </a:xfrm>
          <a:prstGeom prst="rect">
            <a:avLst/>
          </a:prstGeom>
          <a:noFill/>
          <a:ln/>
        </p:spPr>
        <p:txBody>
          <a:bodyPr wrap="square" lIns="0" tIns="0" rIns="0" bIns="0" rtlCol="0" anchor="ctr"/>
          <a:lstStyle/>
          <a:p>
            <a:pPr indent="0" marL="0">
              <a:buNone/>
            </a:pPr>
            <a:r>
              <a:rPr lang="en-US" sz="950" dirty="0">
                <a:solidFill>
                  <a:schemeClr val="tx1"/>
                </a:solidFill>
              </a:rPr>
              <a:t>Échanges fournisseurs, choix fin nov.</a:t>
            </a:r>
            <a:endParaRPr lang="en-US" sz="950" dirty="0"/>
          </a:p>
        </p:txBody>
      </p:sp>
      <p:sp>
        <p:nvSpPr>
          <p:cNvPr id="23" name="barre-3"/>
          <p:cNvSpPr/>
          <p:nvPr/>
        </p:nvSpPr>
        <p:spPr>
          <a:xfrm>
            <a:off x="3932834" y="2364638"/>
            <a:ext cx="1196950" cy="157277"/>
          </a:xfrm>
          <a:prstGeom prst="roundRect">
            <a:avLst>
              <a:gd name="adj" fmla="val 34884"/>
            </a:avLst>
          </a:prstGeom>
          <a:solidFill>
            <a:schemeClr val="accent1"/>
          </a:solidFill>
          <a:ln/>
        </p:spPr>
      </p:sp>
      <p:sp>
        <p:nvSpPr>
          <p:cNvPr id="24" name="Text 22"/>
          <p:cNvSpPr txBox="1"/>
          <p:nvPr/>
        </p:nvSpPr>
        <p:spPr>
          <a:xfrm>
            <a:off x="457200" y="2567635"/>
            <a:ext cx="2514600" cy="248717"/>
          </a:xfrm>
          <a:prstGeom prst="rect">
            <a:avLst/>
          </a:prstGeom>
          <a:noFill/>
          <a:ln/>
        </p:spPr>
        <p:txBody>
          <a:bodyPr wrap="square" lIns="0" tIns="0" rIns="0" bIns="0" rtlCol="0" anchor="ctr"/>
          <a:lstStyle/>
          <a:p>
            <a:pPr indent="0" marL="0">
              <a:buNone/>
            </a:pPr>
            <a:r>
              <a:rPr lang="en-US" sz="950" dirty="0">
                <a:solidFill>
                  <a:schemeClr val="tx1"/>
                </a:solidFill>
              </a:rPr>
              <a:t>Entretiens clientes cible luna</a:t>
            </a:r>
            <a:endParaRPr lang="en-US" sz="950" dirty="0"/>
          </a:p>
        </p:txBody>
      </p:sp>
      <p:sp>
        <p:nvSpPr>
          <p:cNvPr id="25" name="barre-4"/>
          <p:cNvSpPr/>
          <p:nvPr/>
        </p:nvSpPr>
        <p:spPr>
          <a:xfrm>
            <a:off x="4108856" y="2613355"/>
            <a:ext cx="880110" cy="157277"/>
          </a:xfrm>
          <a:prstGeom prst="roundRect">
            <a:avLst>
              <a:gd name="adj" fmla="val 34884"/>
            </a:avLst>
          </a:prstGeom>
          <a:solidFill>
            <a:srgbClr val="E6A3AE"/>
          </a:solidFill>
          <a:ln/>
        </p:spPr>
      </p:sp>
      <p:sp>
        <p:nvSpPr>
          <p:cNvPr id="26" name="Text 24"/>
          <p:cNvSpPr txBox="1"/>
          <p:nvPr/>
        </p:nvSpPr>
        <p:spPr>
          <a:xfrm>
            <a:off x="457200" y="2816352"/>
            <a:ext cx="2514600" cy="248717"/>
          </a:xfrm>
          <a:prstGeom prst="rect">
            <a:avLst/>
          </a:prstGeom>
          <a:noFill/>
          <a:ln/>
        </p:spPr>
        <p:txBody>
          <a:bodyPr wrap="square" lIns="0" tIns="0" rIns="0" bIns="0" rtlCol="0" anchor="ctr"/>
          <a:lstStyle/>
          <a:p>
            <a:pPr indent="0" marL="0">
              <a:buNone/>
            </a:pPr>
            <a:r>
              <a:rPr lang="en-US" sz="950" dirty="0">
                <a:solidFill>
                  <a:schemeClr val="tx1"/>
                </a:solidFill>
              </a:rPr>
              <a:t>Formulation et conformité (expert)</a:t>
            </a:r>
            <a:endParaRPr lang="en-US" sz="950" dirty="0"/>
          </a:p>
        </p:txBody>
      </p:sp>
      <p:sp>
        <p:nvSpPr>
          <p:cNvPr id="27" name="barre-5"/>
          <p:cNvSpPr/>
          <p:nvPr/>
        </p:nvSpPr>
        <p:spPr>
          <a:xfrm>
            <a:off x="4848149" y="2862072"/>
            <a:ext cx="2041855" cy="157277"/>
          </a:xfrm>
          <a:prstGeom prst="roundRect">
            <a:avLst>
              <a:gd name="adj" fmla="val 34884"/>
            </a:avLst>
          </a:prstGeom>
          <a:solidFill>
            <a:srgbClr val="E6A3AE"/>
          </a:solidFill>
          <a:ln/>
        </p:spPr>
      </p:sp>
      <p:sp>
        <p:nvSpPr>
          <p:cNvPr id="28" name="Text 26"/>
          <p:cNvSpPr txBox="1"/>
          <p:nvPr/>
        </p:nvSpPr>
        <p:spPr>
          <a:xfrm>
            <a:off x="457200" y="3065069"/>
            <a:ext cx="2514600" cy="248717"/>
          </a:xfrm>
          <a:prstGeom prst="rect">
            <a:avLst/>
          </a:prstGeom>
          <a:noFill/>
          <a:ln/>
        </p:spPr>
        <p:txBody>
          <a:bodyPr wrap="square" lIns="0" tIns="0" rIns="0" bIns="0" rtlCol="0" anchor="ctr"/>
          <a:lstStyle/>
          <a:p>
            <a:pPr indent="0" marL="0">
              <a:buNone/>
            </a:pPr>
            <a:r>
              <a:rPr lang="en-US" sz="950" dirty="0">
                <a:solidFill>
                  <a:schemeClr val="tx1"/>
                </a:solidFill>
              </a:rPr>
              <a:t>Prototype, stabilité, tests de goût</a:t>
            </a:r>
            <a:endParaRPr lang="en-US" sz="950" dirty="0"/>
          </a:p>
        </p:txBody>
      </p:sp>
      <p:sp>
        <p:nvSpPr>
          <p:cNvPr id="29" name="barre-6"/>
          <p:cNvSpPr/>
          <p:nvPr/>
        </p:nvSpPr>
        <p:spPr>
          <a:xfrm>
            <a:off x="5411419" y="3110789"/>
            <a:ext cx="2957170" cy="157277"/>
          </a:xfrm>
          <a:prstGeom prst="roundRect">
            <a:avLst>
              <a:gd name="adj" fmla="val 34884"/>
            </a:avLst>
          </a:prstGeom>
          <a:solidFill>
            <a:srgbClr val="E6A3AE"/>
          </a:solidFill>
          <a:ln/>
        </p:spPr>
      </p:sp>
      <p:sp>
        <p:nvSpPr>
          <p:cNvPr id="30" name="Text 28"/>
          <p:cNvSpPr txBox="1"/>
          <p:nvPr/>
        </p:nvSpPr>
        <p:spPr>
          <a:xfrm>
            <a:off x="457200" y="3313786"/>
            <a:ext cx="2514600" cy="248717"/>
          </a:xfrm>
          <a:prstGeom prst="rect">
            <a:avLst/>
          </a:prstGeom>
          <a:noFill/>
          <a:ln/>
        </p:spPr>
        <p:txBody>
          <a:bodyPr wrap="square" lIns="0" tIns="0" rIns="0" bIns="0" rtlCol="0" anchor="ctr"/>
          <a:lstStyle/>
          <a:p>
            <a:pPr indent="0" marL="0">
              <a:buNone/>
            </a:pPr>
            <a:r>
              <a:rPr lang="en-US" sz="950" dirty="0">
                <a:solidFill>
                  <a:schemeClr val="tx1"/>
                </a:solidFill>
              </a:rPr>
              <a:t>Page de précommande et test MVP</a:t>
            </a:r>
            <a:endParaRPr lang="en-US" sz="950" dirty="0"/>
          </a:p>
        </p:txBody>
      </p:sp>
      <p:sp>
        <p:nvSpPr>
          <p:cNvPr id="31" name="barre-7"/>
          <p:cNvSpPr/>
          <p:nvPr/>
        </p:nvSpPr>
        <p:spPr>
          <a:xfrm>
            <a:off x="6678778" y="3359506"/>
            <a:ext cx="915314" cy="157277"/>
          </a:xfrm>
          <a:prstGeom prst="roundRect">
            <a:avLst>
              <a:gd name="adj" fmla="val 34884"/>
            </a:avLst>
          </a:prstGeom>
          <a:solidFill>
            <a:srgbClr val="E6A3AE"/>
          </a:solidFill>
          <a:ln/>
        </p:spPr>
      </p:sp>
      <p:sp>
        <p:nvSpPr>
          <p:cNvPr id="32" name="Text 30"/>
          <p:cNvSpPr txBox="1"/>
          <p:nvPr/>
        </p:nvSpPr>
        <p:spPr>
          <a:xfrm>
            <a:off x="457200" y="3562502"/>
            <a:ext cx="2514600" cy="248717"/>
          </a:xfrm>
          <a:prstGeom prst="rect">
            <a:avLst/>
          </a:prstGeom>
          <a:noFill/>
          <a:ln/>
        </p:spPr>
        <p:txBody>
          <a:bodyPr wrap="square" lIns="0" tIns="0" rIns="0" bIns="0" rtlCol="0" anchor="ctr"/>
          <a:lstStyle/>
          <a:p>
            <a:pPr indent="0" marL="0">
              <a:buNone/>
            </a:pPr>
            <a:r>
              <a:rPr lang="en-US" sz="950" dirty="0">
                <a:solidFill>
                  <a:schemeClr val="tx1"/>
                </a:solidFill>
              </a:rPr>
              <a:t>Business plan et prévisionnel</a:t>
            </a:r>
            <a:endParaRPr lang="en-US" sz="950" dirty="0"/>
          </a:p>
        </p:txBody>
      </p:sp>
      <p:sp>
        <p:nvSpPr>
          <p:cNvPr id="33" name="barre-8"/>
          <p:cNvSpPr/>
          <p:nvPr/>
        </p:nvSpPr>
        <p:spPr>
          <a:xfrm>
            <a:off x="7171639" y="3608222"/>
            <a:ext cx="457657" cy="157277"/>
          </a:xfrm>
          <a:prstGeom prst="roundRect">
            <a:avLst>
              <a:gd name="adj" fmla="val 34884"/>
            </a:avLst>
          </a:prstGeom>
          <a:solidFill>
            <a:srgbClr val="E6A3AE"/>
          </a:solidFill>
          <a:ln/>
        </p:spPr>
      </p:sp>
      <p:sp>
        <p:nvSpPr>
          <p:cNvPr id="34" name="Text 32"/>
          <p:cNvSpPr txBox="1"/>
          <p:nvPr/>
        </p:nvSpPr>
        <p:spPr>
          <a:xfrm>
            <a:off x="457200" y="3811219"/>
            <a:ext cx="2514600" cy="248717"/>
          </a:xfrm>
          <a:prstGeom prst="rect">
            <a:avLst/>
          </a:prstGeom>
          <a:noFill/>
          <a:ln/>
        </p:spPr>
        <p:txBody>
          <a:bodyPr wrap="square" lIns="0" tIns="0" rIns="0" bIns="0" rtlCol="0" anchor="ctr"/>
          <a:lstStyle/>
          <a:p>
            <a:pPr indent="0" marL="0">
              <a:buNone/>
            </a:pPr>
            <a:r>
              <a:rPr lang="en-US" sz="950" dirty="0">
                <a:solidFill>
                  <a:schemeClr val="tx1"/>
                </a:solidFill>
              </a:rPr>
              <a:t>Préparation de la soutenance</a:t>
            </a:r>
            <a:endParaRPr lang="en-US" sz="950" dirty="0"/>
          </a:p>
        </p:txBody>
      </p:sp>
      <p:sp>
        <p:nvSpPr>
          <p:cNvPr id="35" name="barre-9"/>
          <p:cNvSpPr/>
          <p:nvPr/>
        </p:nvSpPr>
        <p:spPr>
          <a:xfrm>
            <a:off x="7453274" y="3856939"/>
            <a:ext cx="387248" cy="157277"/>
          </a:xfrm>
          <a:prstGeom prst="roundRect">
            <a:avLst>
              <a:gd name="adj" fmla="val 34884"/>
            </a:avLst>
          </a:prstGeom>
          <a:solidFill>
            <a:srgbClr val="E6A3AE"/>
          </a:solidFill>
          <a:ln/>
        </p:spPr>
      </p:sp>
      <p:sp>
        <p:nvSpPr>
          <p:cNvPr id="36" name="Text 34"/>
          <p:cNvSpPr txBox="1"/>
          <p:nvPr/>
        </p:nvSpPr>
        <p:spPr>
          <a:xfrm>
            <a:off x="457200" y="4059936"/>
            <a:ext cx="2514600" cy="248717"/>
          </a:xfrm>
          <a:prstGeom prst="rect">
            <a:avLst/>
          </a:prstGeom>
          <a:noFill/>
          <a:ln/>
        </p:spPr>
        <p:txBody>
          <a:bodyPr wrap="square" lIns="0" tIns="0" rIns="0" bIns="0" rtlCol="0" anchor="ctr"/>
          <a:lstStyle/>
          <a:p>
            <a:pPr indent="0" marL="0">
              <a:buNone/>
            </a:pPr>
            <a:r>
              <a:rPr lang="en-US" sz="950" dirty="0">
                <a:solidFill>
                  <a:schemeClr val="tx1"/>
                </a:solidFill>
              </a:rPr>
              <a:t>Création de la société, lancement luna</a:t>
            </a:r>
            <a:endParaRPr lang="en-US" sz="950" dirty="0"/>
          </a:p>
        </p:txBody>
      </p:sp>
      <p:sp>
        <p:nvSpPr>
          <p:cNvPr id="37" name="barre-10"/>
          <p:cNvSpPr/>
          <p:nvPr/>
        </p:nvSpPr>
        <p:spPr>
          <a:xfrm>
            <a:off x="7946136" y="4105656"/>
            <a:ext cx="704088" cy="157277"/>
          </a:xfrm>
          <a:prstGeom prst="roundRect">
            <a:avLst>
              <a:gd name="adj" fmla="val 34884"/>
            </a:avLst>
          </a:prstGeom>
          <a:solidFill>
            <a:schemeClr val="accent2"/>
          </a:solidFill>
          <a:ln/>
        </p:spPr>
      </p:sp>
      <p:sp>
        <p:nvSpPr>
          <p:cNvPr id="38" name="Shape 36"/>
          <p:cNvSpPr/>
          <p:nvPr/>
        </p:nvSpPr>
        <p:spPr>
          <a:xfrm>
            <a:off x="4017325" y="1554480"/>
            <a:ext cx="0" cy="2754173"/>
          </a:xfrm>
          <a:prstGeom prst="line">
            <a:avLst/>
          </a:prstGeom>
          <a:noFill/>
          <a:ln w="12700">
            <a:solidFill>
              <a:schemeClr val="tx1"/>
            </a:solidFill>
            <a:prstDash val="dash"/>
          </a:ln>
        </p:spPr>
      </p:sp>
      <p:sp>
        <p:nvSpPr>
          <p:cNvPr id="39" name="Text 37"/>
          <p:cNvSpPr txBox="1"/>
          <p:nvPr/>
        </p:nvSpPr>
        <p:spPr>
          <a:xfrm>
            <a:off x="3560125" y="4326941"/>
            <a:ext cx="914400" cy="182880"/>
          </a:xfrm>
          <a:prstGeom prst="rect">
            <a:avLst/>
          </a:prstGeom>
          <a:noFill/>
          <a:ln/>
        </p:spPr>
        <p:txBody>
          <a:bodyPr wrap="square" lIns="0" tIns="0" rIns="0" bIns="0" rtlCol="0" anchor="t"/>
          <a:lstStyle/>
          <a:p>
            <a:pPr algn="ctr" indent="0" marL="0">
              <a:buNone/>
            </a:pPr>
            <a:r>
              <a:rPr lang="en-US" sz="850" b="1" dirty="0">
                <a:solidFill>
                  <a:schemeClr val="tx1"/>
                </a:solidFill>
              </a:rPr>
              <a:t>aujourd'hui</a:t>
            </a:r>
            <a:endParaRPr lang="en-US" sz="850" dirty="0"/>
          </a:p>
        </p:txBody>
      </p:sp>
      <p:sp>
        <p:nvSpPr>
          <p:cNvPr id="40" name="jalon-soutenance"/>
          <p:cNvSpPr/>
          <p:nvPr/>
        </p:nvSpPr>
        <p:spPr>
          <a:xfrm>
            <a:off x="7765999" y="3829507"/>
            <a:ext cx="219456" cy="219456"/>
          </a:xfrm>
          <a:prstGeom prst="diamond">
            <a:avLst/>
          </a:prstGeom>
          <a:solidFill>
            <a:schemeClr val="tx1"/>
          </a:solidFill>
          <a:ln/>
        </p:spPr>
      </p:sp>
      <p:sp>
        <p:nvSpPr>
          <p:cNvPr id="41" name="Text 39"/>
          <p:cNvSpPr txBox="1"/>
          <p:nvPr/>
        </p:nvSpPr>
        <p:spPr>
          <a:xfrm>
            <a:off x="7418527" y="4326941"/>
            <a:ext cx="914400" cy="182880"/>
          </a:xfrm>
          <a:prstGeom prst="rect">
            <a:avLst/>
          </a:prstGeom>
          <a:noFill/>
          <a:ln/>
        </p:spPr>
        <p:txBody>
          <a:bodyPr wrap="square" lIns="0" tIns="0" rIns="0" bIns="0" rtlCol="0" anchor="t"/>
          <a:lstStyle/>
          <a:p>
            <a:pPr algn="ctr" indent="0" marL="0">
              <a:buNone/>
            </a:pPr>
            <a:r>
              <a:rPr lang="en-US" sz="850" b="1" dirty="0">
                <a:solidFill>
                  <a:schemeClr val="tx1"/>
                </a:solidFill>
              </a:rPr>
              <a:t>soutenance</a:t>
            </a:r>
            <a:endParaRPr lang="en-US" sz="850" dirty="0"/>
          </a:p>
        </p:txBody>
      </p:sp>
      <p:sp>
        <p:nvSpPr>
          <p:cNvPr id="42" name="jalon-fournisseur"/>
          <p:cNvSpPr/>
          <p:nvPr/>
        </p:nvSpPr>
        <p:spPr>
          <a:xfrm>
            <a:off x="5020056" y="2337206"/>
            <a:ext cx="219456" cy="219456"/>
          </a:xfrm>
          <a:prstGeom prst="diamond">
            <a:avLst/>
          </a:prstGeom>
          <a:solidFill>
            <a:schemeClr val="tx1"/>
          </a:solidFill>
          <a:ln/>
        </p:spPr>
      </p:sp>
      <p:sp>
        <p:nvSpPr>
          <p:cNvPr id="43" name="Text 41"/>
          <p:cNvSpPr txBox="1"/>
          <p:nvPr/>
        </p:nvSpPr>
        <p:spPr>
          <a:xfrm>
            <a:off x="4581144" y="4326941"/>
            <a:ext cx="1097280" cy="182880"/>
          </a:xfrm>
          <a:prstGeom prst="rect">
            <a:avLst/>
          </a:prstGeom>
          <a:noFill/>
          <a:ln/>
        </p:spPr>
        <p:txBody>
          <a:bodyPr wrap="square" lIns="0" tIns="0" rIns="0" bIns="0" rtlCol="0" anchor="t"/>
          <a:lstStyle/>
          <a:p>
            <a:pPr algn="ctr" indent="0" marL="0">
              <a:buNone/>
            </a:pPr>
            <a:r>
              <a:rPr lang="en-US" sz="850" b="1" dirty="0">
                <a:solidFill>
                  <a:schemeClr val="tx1"/>
                </a:solidFill>
              </a:rPr>
              <a:t>choix fournisseur</a:t>
            </a:r>
            <a:endParaRPr lang="en-US" sz="850" dirty="0"/>
          </a:p>
        </p:txBody>
      </p:sp>
      <p:sp>
        <p:nvSpPr>
          <p:cNvPr id="44" name="Shape 42"/>
          <p:cNvSpPr/>
          <p:nvPr/>
        </p:nvSpPr>
        <p:spPr>
          <a:xfrm>
            <a:off x="457200" y="4498848"/>
            <a:ext cx="274320" cy="128016"/>
          </a:xfrm>
          <a:prstGeom prst="roundRect">
            <a:avLst>
              <a:gd name="adj" fmla="val 28571"/>
            </a:avLst>
          </a:prstGeom>
          <a:solidFill>
            <a:srgbClr val="8C8279"/>
          </a:solidFill>
          <a:ln/>
        </p:spPr>
      </p:sp>
      <p:sp>
        <p:nvSpPr>
          <p:cNvPr id="45" name="Text 43"/>
          <p:cNvSpPr txBox="1"/>
          <p:nvPr/>
        </p:nvSpPr>
        <p:spPr>
          <a:xfrm>
            <a:off x="804672" y="4453128"/>
            <a:ext cx="1463040" cy="219456"/>
          </a:xfrm>
          <a:prstGeom prst="rect">
            <a:avLst/>
          </a:prstGeom>
          <a:noFill/>
          <a:ln/>
        </p:spPr>
        <p:txBody>
          <a:bodyPr wrap="square" lIns="0" tIns="0" rIns="0" bIns="0" rtlCol="0" anchor="ctr"/>
          <a:lstStyle/>
          <a:p>
            <a:pPr indent="0" marL="0">
              <a:buNone/>
            </a:pPr>
            <a:r>
              <a:rPr lang="en-US" sz="900" dirty="0">
                <a:solidFill>
                  <a:schemeClr val="tx2"/>
                </a:solidFill>
              </a:rPr>
              <a:t>fait</a:t>
            </a:r>
            <a:endParaRPr lang="en-US" sz="900" dirty="0"/>
          </a:p>
        </p:txBody>
      </p:sp>
      <p:sp>
        <p:nvSpPr>
          <p:cNvPr id="46" name="Shape 44"/>
          <p:cNvSpPr/>
          <p:nvPr/>
        </p:nvSpPr>
        <p:spPr>
          <a:xfrm>
            <a:off x="1426464" y="4498848"/>
            <a:ext cx="274320" cy="128016"/>
          </a:xfrm>
          <a:prstGeom prst="roundRect">
            <a:avLst>
              <a:gd name="adj" fmla="val 28571"/>
            </a:avLst>
          </a:prstGeom>
          <a:solidFill>
            <a:schemeClr val="accent1"/>
          </a:solidFill>
          <a:ln/>
        </p:spPr>
      </p:sp>
      <p:sp>
        <p:nvSpPr>
          <p:cNvPr id="47" name="Text 45"/>
          <p:cNvSpPr txBox="1"/>
          <p:nvPr/>
        </p:nvSpPr>
        <p:spPr>
          <a:xfrm>
            <a:off x="1773936" y="4453128"/>
            <a:ext cx="1463040" cy="219456"/>
          </a:xfrm>
          <a:prstGeom prst="rect">
            <a:avLst/>
          </a:prstGeom>
          <a:noFill/>
          <a:ln/>
        </p:spPr>
        <p:txBody>
          <a:bodyPr wrap="square" lIns="0" tIns="0" rIns="0" bIns="0" rtlCol="0" anchor="ctr"/>
          <a:lstStyle/>
          <a:p>
            <a:pPr indent="0" marL="0">
              <a:buNone/>
            </a:pPr>
            <a:r>
              <a:rPr lang="en-US" sz="900" dirty="0">
                <a:solidFill>
                  <a:schemeClr val="tx2"/>
                </a:solidFill>
              </a:rPr>
              <a:t>en cours</a:t>
            </a:r>
            <a:endParaRPr lang="en-US" sz="900" dirty="0"/>
          </a:p>
        </p:txBody>
      </p:sp>
      <p:sp>
        <p:nvSpPr>
          <p:cNvPr id="48" name="Shape 46"/>
          <p:cNvSpPr/>
          <p:nvPr/>
        </p:nvSpPr>
        <p:spPr>
          <a:xfrm>
            <a:off x="2633472" y="4498848"/>
            <a:ext cx="274320" cy="128016"/>
          </a:xfrm>
          <a:prstGeom prst="roundRect">
            <a:avLst>
              <a:gd name="adj" fmla="val 28571"/>
            </a:avLst>
          </a:prstGeom>
          <a:solidFill>
            <a:srgbClr val="E6A3AE"/>
          </a:solidFill>
          <a:ln/>
        </p:spPr>
      </p:sp>
      <p:sp>
        <p:nvSpPr>
          <p:cNvPr id="49" name="Text 47"/>
          <p:cNvSpPr txBox="1"/>
          <p:nvPr/>
        </p:nvSpPr>
        <p:spPr>
          <a:xfrm>
            <a:off x="2980944" y="4453128"/>
            <a:ext cx="1463040" cy="219456"/>
          </a:xfrm>
          <a:prstGeom prst="rect">
            <a:avLst/>
          </a:prstGeom>
          <a:noFill/>
          <a:ln/>
        </p:spPr>
        <p:txBody>
          <a:bodyPr wrap="square" lIns="0" tIns="0" rIns="0" bIns="0" rtlCol="0" anchor="ctr"/>
          <a:lstStyle/>
          <a:p>
            <a:pPr indent="0" marL="0">
              <a:buNone/>
            </a:pPr>
            <a:r>
              <a:rPr lang="en-US" sz="900" dirty="0">
                <a:solidFill>
                  <a:schemeClr val="tx2"/>
                </a:solidFill>
              </a:rPr>
              <a:t>à venir</a:t>
            </a:r>
            <a:endParaRPr lang="en-US" sz="900" dirty="0"/>
          </a:p>
        </p:txBody>
      </p:sp>
      <p:sp>
        <p:nvSpPr>
          <p:cNvPr id="50" name="Shape 48"/>
          <p:cNvSpPr/>
          <p:nvPr/>
        </p:nvSpPr>
        <p:spPr>
          <a:xfrm>
            <a:off x="3781044" y="4498848"/>
            <a:ext cx="274320" cy="128016"/>
          </a:xfrm>
          <a:prstGeom prst="roundRect">
            <a:avLst>
              <a:gd name="adj" fmla="val 28571"/>
            </a:avLst>
          </a:prstGeom>
          <a:solidFill>
            <a:schemeClr val="accent2"/>
          </a:solidFill>
          <a:ln/>
        </p:spPr>
      </p:sp>
      <p:sp>
        <p:nvSpPr>
          <p:cNvPr id="51" name="Text 49"/>
          <p:cNvSpPr txBox="1"/>
          <p:nvPr/>
        </p:nvSpPr>
        <p:spPr>
          <a:xfrm>
            <a:off x="4128516" y="4453128"/>
            <a:ext cx="1463040" cy="219456"/>
          </a:xfrm>
          <a:prstGeom prst="rect">
            <a:avLst/>
          </a:prstGeom>
          <a:noFill/>
          <a:ln/>
        </p:spPr>
        <p:txBody>
          <a:bodyPr wrap="square" lIns="0" tIns="0" rIns="0" bIns="0" rtlCol="0" anchor="ctr"/>
          <a:lstStyle/>
          <a:p>
            <a:pPr indent="0" marL="0">
              <a:buNone/>
            </a:pPr>
            <a:r>
              <a:rPr lang="en-US" sz="900" dirty="0">
                <a:solidFill>
                  <a:schemeClr val="tx2"/>
                </a:solidFill>
              </a:rPr>
              <a:t>après la soutenance</a:t>
            </a:r>
            <a:endParaRPr lang="en-US" sz="9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LES PROCHAINES SEMAINES</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d'ici </a:t>
            </a:r>
            <a:pPr algn="l" indent="0" marL="0">
              <a:buNone/>
            </a:pPr>
            <a:r>
              <a:rPr lang="en-US" sz="2800" i="1" dirty="0">
                <a:solidFill>
                  <a:schemeClr val="tx1"/>
                </a:solidFill>
                <a:latin typeface="Cambria" pitchFamily="34" charset="0"/>
                <a:ea typeface="Cambria" pitchFamily="34" charset="-122"/>
                <a:cs typeface="Cambria" pitchFamily="34" charset="-120"/>
              </a:rPr>
              <a:t>fin décembre</a:t>
            </a:r>
            <a:endParaRPr lang="en-US" sz="2800" dirty="0"/>
          </a:p>
        </p:txBody>
      </p:sp>
      <p:sp>
        <p:nvSpPr>
          <p:cNvPr id="4" name="sem-0"/>
          <p:cNvSpPr/>
          <p:nvPr/>
        </p:nvSpPr>
        <p:spPr>
          <a:xfrm>
            <a:off x="457200" y="1280160"/>
            <a:ext cx="2606040" cy="3154680"/>
          </a:xfrm>
          <a:prstGeom prst="roundRect">
            <a:avLst>
              <a:gd name="adj" fmla="val 2807"/>
            </a:avLst>
          </a:prstGeom>
          <a:solidFill>
            <a:srgbClr val="FFFFFF"/>
          </a:solidFill>
          <a:ln/>
        </p:spPr>
      </p:sp>
      <p:sp>
        <p:nvSpPr>
          <p:cNvPr id="5" name="Shape 3"/>
          <p:cNvSpPr/>
          <p:nvPr/>
        </p:nvSpPr>
        <p:spPr>
          <a:xfrm>
            <a:off x="457200" y="1280160"/>
            <a:ext cx="2606040" cy="73152"/>
          </a:xfrm>
          <a:prstGeom prst="rect">
            <a:avLst/>
          </a:prstGeom>
          <a:solidFill>
            <a:schemeClr val="accent1"/>
          </a:solidFill>
          <a:ln/>
        </p:spPr>
      </p:sp>
      <p:sp>
        <p:nvSpPr>
          <p:cNvPr id="6" name="Text 4"/>
          <p:cNvSpPr txBox="1"/>
          <p:nvPr/>
        </p:nvSpPr>
        <p:spPr>
          <a:xfrm>
            <a:off x="685800" y="1508760"/>
            <a:ext cx="2194560" cy="320040"/>
          </a:xfrm>
          <a:prstGeom prst="rect">
            <a:avLst/>
          </a:prstGeom>
          <a:noFill/>
          <a:ln/>
        </p:spPr>
        <p:txBody>
          <a:bodyPr wrap="square" lIns="0" tIns="0" rIns="0" bIns="0" rtlCol="0" anchor="t"/>
          <a:lstStyle/>
          <a:p>
            <a:pPr indent="0" marL="0">
              <a:buNone/>
            </a:pPr>
            <a:r>
              <a:rPr lang="en-US" sz="1500" b="1" dirty="0">
                <a:solidFill>
                  <a:schemeClr val="tx1"/>
                </a:solidFill>
              </a:rPr>
              <a:t>mi-oct. → fin oct.</a:t>
            </a:r>
            <a:endParaRPr lang="en-US" sz="1500" dirty="0"/>
          </a:p>
        </p:txBody>
      </p:sp>
      <p:sp>
        <p:nvSpPr>
          <p:cNvPr id="7" name="Shape 5"/>
          <p:cNvSpPr/>
          <p:nvPr/>
        </p:nvSpPr>
        <p:spPr>
          <a:xfrm>
            <a:off x="685800" y="2020824"/>
            <a:ext cx="137160" cy="137160"/>
          </a:xfrm>
          <a:prstGeom prst="ellipse">
            <a:avLst/>
          </a:prstGeom>
          <a:solidFill>
            <a:schemeClr val="accent1"/>
          </a:solidFill>
          <a:ln/>
        </p:spPr>
      </p:sp>
      <p:sp>
        <p:nvSpPr>
          <p:cNvPr id="8" name="Text 6"/>
          <p:cNvSpPr txBox="1"/>
          <p:nvPr/>
        </p:nvSpPr>
        <p:spPr>
          <a:xfrm>
            <a:off x="960120" y="1965960"/>
            <a:ext cx="1965960" cy="777240"/>
          </a:xfrm>
          <a:prstGeom prst="rect">
            <a:avLst/>
          </a:prstGeom>
          <a:noFill/>
          <a:ln/>
        </p:spPr>
        <p:txBody>
          <a:bodyPr wrap="square" lIns="0" tIns="0" rIns="0" bIns="0" rtlCol="0" anchor="t"/>
          <a:lstStyle/>
          <a:p>
            <a:pPr indent="0" marL="0">
              <a:buNone/>
            </a:pPr>
            <a:r>
              <a:rPr lang="en-US" sz="1150" dirty="0">
                <a:solidFill>
                  <a:schemeClr val="tx1"/>
                </a:solidFill>
              </a:rPr>
              <a:t>Relancer Unistraw et contacter d'autres fournisseurs (piste au Brésil)</a:t>
            </a:r>
            <a:endParaRPr lang="en-US" sz="1150" dirty="0"/>
          </a:p>
        </p:txBody>
      </p:sp>
      <p:sp>
        <p:nvSpPr>
          <p:cNvPr id="9" name="Shape 7"/>
          <p:cNvSpPr/>
          <p:nvPr/>
        </p:nvSpPr>
        <p:spPr>
          <a:xfrm>
            <a:off x="685800" y="2798064"/>
            <a:ext cx="137160" cy="137160"/>
          </a:xfrm>
          <a:prstGeom prst="ellipse">
            <a:avLst/>
          </a:prstGeom>
          <a:solidFill>
            <a:schemeClr val="accent1"/>
          </a:solidFill>
          <a:ln/>
        </p:spPr>
      </p:sp>
      <p:sp>
        <p:nvSpPr>
          <p:cNvPr id="10" name="Text 8"/>
          <p:cNvSpPr txBox="1"/>
          <p:nvPr/>
        </p:nvSpPr>
        <p:spPr>
          <a:xfrm>
            <a:off x="960120" y="2743200"/>
            <a:ext cx="1965960" cy="777240"/>
          </a:xfrm>
          <a:prstGeom prst="rect">
            <a:avLst/>
          </a:prstGeom>
          <a:noFill/>
          <a:ln/>
        </p:spPr>
        <p:txBody>
          <a:bodyPr wrap="square" lIns="0" tIns="0" rIns="0" bIns="0" rtlCol="0" anchor="t"/>
          <a:lstStyle/>
          <a:p>
            <a:pPr indent="0" marL="0">
              <a:buNone/>
            </a:pPr>
            <a:r>
              <a:rPr lang="en-US" sz="1150" dirty="0">
                <a:solidFill>
                  <a:schemeClr val="tx1"/>
                </a:solidFill>
              </a:rPr>
              <a:t>Préparer le guide d'entretien et un questionnaire en ligne</a:t>
            </a:r>
            <a:endParaRPr lang="en-US" sz="1150" dirty="0"/>
          </a:p>
        </p:txBody>
      </p:sp>
      <p:sp>
        <p:nvSpPr>
          <p:cNvPr id="11" name="Shape 9"/>
          <p:cNvSpPr/>
          <p:nvPr/>
        </p:nvSpPr>
        <p:spPr>
          <a:xfrm>
            <a:off x="685800" y="3575304"/>
            <a:ext cx="137160" cy="137160"/>
          </a:xfrm>
          <a:prstGeom prst="ellipse">
            <a:avLst/>
          </a:prstGeom>
          <a:solidFill>
            <a:schemeClr val="accent1"/>
          </a:solidFill>
          <a:ln/>
        </p:spPr>
      </p:sp>
      <p:sp>
        <p:nvSpPr>
          <p:cNvPr id="12" name="Text 10"/>
          <p:cNvSpPr txBox="1"/>
          <p:nvPr/>
        </p:nvSpPr>
        <p:spPr>
          <a:xfrm>
            <a:off x="960120" y="3520440"/>
            <a:ext cx="1965960" cy="777240"/>
          </a:xfrm>
          <a:prstGeom prst="rect">
            <a:avLst/>
          </a:prstGeom>
          <a:noFill/>
          <a:ln/>
        </p:spPr>
        <p:txBody>
          <a:bodyPr wrap="square" lIns="0" tIns="0" rIns="0" bIns="0" rtlCol="0" anchor="t"/>
          <a:lstStyle/>
          <a:p>
            <a:pPr indent="0" marL="0">
              <a:buNone/>
            </a:pPr>
            <a:r>
              <a:rPr lang="en-US" sz="1150" dirty="0">
                <a:solidFill>
                  <a:schemeClr val="tx1"/>
                </a:solidFill>
              </a:rPr>
              <a:t>Contacter une sage-femme ou une pharmacienne partenaire</a:t>
            </a:r>
            <a:endParaRPr lang="en-US" sz="1150" dirty="0"/>
          </a:p>
        </p:txBody>
      </p:sp>
      <p:sp>
        <p:nvSpPr>
          <p:cNvPr id="13" name="sem-1"/>
          <p:cNvSpPr/>
          <p:nvPr/>
        </p:nvSpPr>
        <p:spPr>
          <a:xfrm>
            <a:off x="3246120" y="1280160"/>
            <a:ext cx="2606040" cy="3154680"/>
          </a:xfrm>
          <a:prstGeom prst="roundRect">
            <a:avLst>
              <a:gd name="adj" fmla="val 2807"/>
            </a:avLst>
          </a:prstGeom>
          <a:solidFill>
            <a:srgbClr val="FFFFFF"/>
          </a:solidFill>
          <a:ln/>
        </p:spPr>
      </p:sp>
      <p:sp>
        <p:nvSpPr>
          <p:cNvPr id="14" name="Shape 12"/>
          <p:cNvSpPr/>
          <p:nvPr/>
        </p:nvSpPr>
        <p:spPr>
          <a:xfrm>
            <a:off x="3246120" y="1280160"/>
            <a:ext cx="2606040" cy="73152"/>
          </a:xfrm>
          <a:prstGeom prst="rect">
            <a:avLst/>
          </a:prstGeom>
          <a:solidFill>
            <a:schemeClr val="accent4"/>
          </a:solidFill>
          <a:ln/>
        </p:spPr>
      </p:sp>
      <p:sp>
        <p:nvSpPr>
          <p:cNvPr id="15" name="Text 13"/>
          <p:cNvSpPr txBox="1"/>
          <p:nvPr/>
        </p:nvSpPr>
        <p:spPr>
          <a:xfrm>
            <a:off x="3474720" y="1508760"/>
            <a:ext cx="2194560" cy="320040"/>
          </a:xfrm>
          <a:prstGeom prst="rect">
            <a:avLst/>
          </a:prstGeom>
          <a:noFill/>
          <a:ln/>
        </p:spPr>
        <p:txBody>
          <a:bodyPr wrap="square" lIns="0" tIns="0" rIns="0" bIns="0" rtlCol="0" anchor="t"/>
          <a:lstStyle/>
          <a:p>
            <a:pPr indent="0" marL="0">
              <a:buNone/>
            </a:pPr>
            <a:r>
              <a:rPr lang="en-US" sz="1500" b="1" dirty="0">
                <a:solidFill>
                  <a:schemeClr val="tx1"/>
                </a:solidFill>
              </a:rPr>
              <a:t>novembre</a:t>
            </a:r>
            <a:endParaRPr lang="en-US" sz="1500" dirty="0"/>
          </a:p>
        </p:txBody>
      </p:sp>
      <p:sp>
        <p:nvSpPr>
          <p:cNvPr id="16" name="Shape 14"/>
          <p:cNvSpPr/>
          <p:nvPr/>
        </p:nvSpPr>
        <p:spPr>
          <a:xfrm>
            <a:off x="3474720" y="2020824"/>
            <a:ext cx="137160" cy="137160"/>
          </a:xfrm>
          <a:prstGeom prst="ellipse">
            <a:avLst/>
          </a:prstGeom>
          <a:solidFill>
            <a:schemeClr val="accent4"/>
          </a:solidFill>
          <a:ln/>
        </p:spPr>
      </p:sp>
      <p:sp>
        <p:nvSpPr>
          <p:cNvPr id="17" name="Text 15"/>
          <p:cNvSpPr txBox="1"/>
          <p:nvPr/>
        </p:nvSpPr>
        <p:spPr>
          <a:xfrm>
            <a:off x="3749040" y="1965960"/>
            <a:ext cx="1965960" cy="777240"/>
          </a:xfrm>
          <a:prstGeom prst="rect">
            <a:avLst/>
          </a:prstGeom>
          <a:noFill/>
          <a:ln/>
        </p:spPr>
        <p:txBody>
          <a:bodyPr wrap="square" lIns="0" tIns="0" rIns="0" bIns="0" rtlCol="0" anchor="t"/>
          <a:lstStyle/>
          <a:p>
            <a:pPr indent="0" marL="0">
              <a:buNone/>
            </a:pPr>
            <a:r>
              <a:rPr lang="en-US" sz="1150" dirty="0">
                <a:solidFill>
                  <a:schemeClr val="tx1"/>
                </a:solidFill>
              </a:rPr>
              <a:t>Échanges techniques : faisabilité, MOQ, coûts, délais</a:t>
            </a:r>
            <a:endParaRPr lang="en-US" sz="1150" dirty="0"/>
          </a:p>
        </p:txBody>
      </p:sp>
      <p:sp>
        <p:nvSpPr>
          <p:cNvPr id="18" name="Shape 16"/>
          <p:cNvSpPr/>
          <p:nvPr/>
        </p:nvSpPr>
        <p:spPr>
          <a:xfrm>
            <a:off x="3474720" y="2798064"/>
            <a:ext cx="137160" cy="137160"/>
          </a:xfrm>
          <a:prstGeom prst="ellipse">
            <a:avLst/>
          </a:prstGeom>
          <a:solidFill>
            <a:schemeClr val="accent4"/>
          </a:solidFill>
          <a:ln/>
        </p:spPr>
      </p:sp>
      <p:sp>
        <p:nvSpPr>
          <p:cNvPr id="19" name="Text 17"/>
          <p:cNvSpPr txBox="1"/>
          <p:nvPr/>
        </p:nvSpPr>
        <p:spPr>
          <a:xfrm>
            <a:off x="3749040" y="2743200"/>
            <a:ext cx="1965960" cy="777240"/>
          </a:xfrm>
          <a:prstGeom prst="rect">
            <a:avLst/>
          </a:prstGeom>
          <a:noFill/>
          <a:ln/>
        </p:spPr>
        <p:txBody>
          <a:bodyPr wrap="square" lIns="0" tIns="0" rIns="0" bIns="0" rtlCol="0" anchor="t"/>
          <a:lstStyle/>
          <a:p>
            <a:pPr indent="0" marL="0">
              <a:buNone/>
            </a:pPr>
            <a:r>
              <a:rPr lang="en-US" sz="1150" dirty="0">
                <a:solidFill>
                  <a:schemeClr val="tx1"/>
                </a:solidFill>
              </a:rPr>
              <a:t>Mener 15 à 20 entretiens avec des femmes de 20 à 35 ans</a:t>
            </a:r>
            <a:endParaRPr lang="en-US" sz="1150" dirty="0"/>
          </a:p>
        </p:txBody>
      </p:sp>
      <p:sp>
        <p:nvSpPr>
          <p:cNvPr id="20" name="Shape 18"/>
          <p:cNvSpPr/>
          <p:nvPr/>
        </p:nvSpPr>
        <p:spPr>
          <a:xfrm>
            <a:off x="3474720" y="3575304"/>
            <a:ext cx="137160" cy="137160"/>
          </a:xfrm>
          <a:prstGeom prst="ellipse">
            <a:avLst/>
          </a:prstGeom>
          <a:solidFill>
            <a:schemeClr val="accent4"/>
          </a:solidFill>
          <a:ln/>
        </p:spPr>
      </p:sp>
      <p:sp>
        <p:nvSpPr>
          <p:cNvPr id="21" name="Text 19"/>
          <p:cNvSpPr txBox="1"/>
          <p:nvPr/>
        </p:nvSpPr>
        <p:spPr>
          <a:xfrm>
            <a:off x="3749040" y="3520440"/>
            <a:ext cx="1965960" cy="777240"/>
          </a:xfrm>
          <a:prstGeom prst="rect">
            <a:avLst/>
          </a:prstGeom>
          <a:noFill/>
          <a:ln/>
        </p:spPr>
        <p:txBody>
          <a:bodyPr wrap="square" lIns="0" tIns="0" rIns="0" bIns="0" rtlCol="0" anchor="t"/>
          <a:lstStyle/>
          <a:p>
            <a:pPr indent="0" marL="0">
              <a:buNone/>
            </a:pPr>
            <a:r>
              <a:rPr lang="en-US" sz="1150" dirty="0">
                <a:solidFill>
                  <a:schemeClr val="tx1"/>
                </a:solidFill>
              </a:rPr>
              <a:t>Fin novembre : choisir le fournisseur</a:t>
            </a:r>
            <a:endParaRPr lang="en-US" sz="1150" dirty="0"/>
          </a:p>
        </p:txBody>
      </p:sp>
      <p:sp>
        <p:nvSpPr>
          <p:cNvPr id="22" name="sem-2"/>
          <p:cNvSpPr/>
          <p:nvPr/>
        </p:nvSpPr>
        <p:spPr>
          <a:xfrm>
            <a:off x="6035040" y="1280160"/>
            <a:ext cx="2606040" cy="3154680"/>
          </a:xfrm>
          <a:prstGeom prst="roundRect">
            <a:avLst>
              <a:gd name="adj" fmla="val 2807"/>
            </a:avLst>
          </a:prstGeom>
          <a:solidFill>
            <a:srgbClr val="FFFFFF"/>
          </a:solidFill>
          <a:ln/>
        </p:spPr>
      </p:sp>
      <p:sp>
        <p:nvSpPr>
          <p:cNvPr id="23" name="Shape 21"/>
          <p:cNvSpPr/>
          <p:nvPr/>
        </p:nvSpPr>
        <p:spPr>
          <a:xfrm>
            <a:off x="6035040" y="1280160"/>
            <a:ext cx="2606040" cy="73152"/>
          </a:xfrm>
          <a:prstGeom prst="rect">
            <a:avLst/>
          </a:prstGeom>
          <a:solidFill>
            <a:schemeClr val="accent2"/>
          </a:solidFill>
          <a:ln/>
        </p:spPr>
      </p:sp>
      <p:sp>
        <p:nvSpPr>
          <p:cNvPr id="24" name="Text 22"/>
          <p:cNvSpPr txBox="1"/>
          <p:nvPr/>
        </p:nvSpPr>
        <p:spPr>
          <a:xfrm>
            <a:off x="6263640" y="1508760"/>
            <a:ext cx="2194560" cy="320040"/>
          </a:xfrm>
          <a:prstGeom prst="rect">
            <a:avLst/>
          </a:prstGeom>
          <a:noFill/>
          <a:ln/>
        </p:spPr>
        <p:txBody>
          <a:bodyPr wrap="square" lIns="0" tIns="0" rIns="0" bIns="0" rtlCol="0" anchor="t"/>
          <a:lstStyle/>
          <a:p>
            <a:pPr indent="0" marL="0">
              <a:buNone/>
            </a:pPr>
            <a:r>
              <a:rPr lang="en-US" sz="1500" b="1" dirty="0">
                <a:solidFill>
                  <a:schemeClr val="tx1"/>
                </a:solidFill>
              </a:rPr>
              <a:t>décembre</a:t>
            </a:r>
            <a:endParaRPr lang="en-US" sz="1500" dirty="0"/>
          </a:p>
        </p:txBody>
      </p:sp>
      <p:sp>
        <p:nvSpPr>
          <p:cNvPr id="25" name="Shape 23"/>
          <p:cNvSpPr/>
          <p:nvPr/>
        </p:nvSpPr>
        <p:spPr>
          <a:xfrm>
            <a:off x="6263640" y="2020824"/>
            <a:ext cx="137160" cy="137160"/>
          </a:xfrm>
          <a:prstGeom prst="ellipse">
            <a:avLst/>
          </a:prstGeom>
          <a:solidFill>
            <a:schemeClr val="accent2"/>
          </a:solidFill>
          <a:ln/>
        </p:spPr>
      </p:sp>
      <p:sp>
        <p:nvSpPr>
          <p:cNvPr id="26" name="Text 24"/>
          <p:cNvSpPr txBox="1"/>
          <p:nvPr/>
        </p:nvSpPr>
        <p:spPr>
          <a:xfrm>
            <a:off x="6537960" y="1965960"/>
            <a:ext cx="1965960" cy="777240"/>
          </a:xfrm>
          <a:prstGeom prst="rect">
            <a:avLst/>
          </a:prstGeom>
          <a:noFill/>
          <a:ln/>
        </p:spPr>
        <p:txBody>
          <a:bodyPr wrap="square" lIns="0" tIns="0" rIns="0" bIns="0" rtlCol="0" anchor="t"/>
          <a:lstStyle/>
          <a:p>
            <a:pPr indent="0" marL="0">
              <a:buNone/>
            </a:pPr>
            <a:r>
              <a:rPr lang="en-US" sz="1150" dirty="0">
                <a:solidFill>
                  <a:schemeClr val="tx1"/>
                </a:solidFill>
              </a:rPr>
              <a:t>Lancer la pré-formulation avec le fournisseur</a:t>
            </a:r>
            <a:endParaRPr lang="en-US" sz="1150" dirty="0"/>
          </a:p>
        </p:txBody>
      </p:sp>
      <p:sp>
        <p:nvSpPr>
          <p:cNvPr id="27" name="Shape 25"/>
          <p:cNvSpPr/>
          <p:nvPr/>
        </p:nvSpPr>
        <p:spPr>
          <a:xfrm>
            <a:off x="6263640" y="2798064"/>
            <a:ext cx="137160" cy="137160"/>
          </a:xfrm>
          <a:prstGeom prst="ellipse">
            <a:avLst/>
          </a:prstGeom>
          <a:solidFill>
            <a:schemeClr val="accent2"/>
          </a:solidFill>
          <a:ln/>
        </p:spPr>
      </p:sp>
      <p:sp>
        <p:nvSpPr>
          <p:cNvPr id="28" name="Text 26"/>
          <p:cNvSpPr txBox="1"/>
          <p:nvPr/>
        </p:nvSpPr>
        <p:spPr>
          <a:xfrm>
            <a:off x="6537960" y="2743200"/>
            <a:ext cx="1965960" cy="777240"/>
          </a:xfrm>
          <a:prstGeom prst="rect">
            <a:avLst/>
          </a:prstGeom>
          <a:noFill/>
          <a:ln/>
        </p:spPr>
        <p:txBody>
          <a:bodyPr wrap="square" lIns="0" tIns="0" rIns="0" bIns="0" rtlCol="0" anchor="t"/>
          <a:lstStyle/>
          <a:p>
            <a:pPr indent="0" marL="0">
              <a:buNone/>
            </a:pPr>
            <a:r>
              <a:rPr lang="en-US" sz="1150" dirty="0">
                <a:solidFill>
                  <a:schemeClr val="tx1"/>
                </a:solidFill>
              </a:rPr>
              <a:t>Échanger avec un expert réglementaire (formules, allégations)</a:t>
            </a:r>
            <a:endParaRPr lang="en-US" sz="1150" dirty="0"/>
          </a:p>
        </p:txBody>
      </p:sp>
      <p:sp>
        <p:nvSpPr>
          <p:cNvPr id="29" name="Shape 27"/>
          <p:cNvSpPr/>
          <p:nvPr/>
        </p:nvSpPr>
        <p:spPr>
          <a:xfrm>
            <a:off x="6263640" y="3575304"/>
            <a:ext cx="137160" cy="137160"/>
          </a:xfrm>
          <a:prstGeom prst="ellipse">
            <a:avLst/>
          </a:prstGeom>
          <a:solidFill>
            <a:schemeClr val="accent2"/>
          </a:solidFill>
          <a:ln/>
        </p:spPr>
      </p:sp>
      <p:sp>
        <p:nvSpPr>
          <p:cNvPr id="30" name="Text 28"/>
          <p:cNvSpPr txBox="1"/>
          <p:nvPr/>
        </p:nvSpPr>
        <p:spPr>
          <a:xfrm>
            <a:off x="6537960" y="3520440"/>
            <a:ext cx="1965960" cy="777240"/>
          </a:xfrm>
          <a:prstGeom prst="rect">
            <a:avLst/>
          </a:prstGeom>
          <a:noFill/>
          <a:ln/>
        </p:spPr>
        <p:txBody>
          <a:bodyPr wrap="square" lIns="0" tIns="0" rIns="0" bIns="0" rtlCol="0" anchor="t"/>
          <a:lstStyle/>
          <a:p>
            <a:pPr indent="0" marL="0">
              <a:buNone/>
            </a:pPr>
            <a:r>
              <a:rPr lang="en-US" sz="1150" dirty="0">
                <a:solidFill>
                  <a:schemeClr val="tx1"/>
                </a:solidFill>
              </a:rPr>
              <a:t>Analyser les entretiens, ajuster l'offre et le prix</a:t>
            </a:r>
            <a:endParaRPr lang="en-US" sz="115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D'ICI LA SOUTENANCE</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décembre → </a:t>
            </a:r>
            <a:pPr algn="l" indent="0" marL="0">
              <a:buNone/>
            </a:pPr>
            <a:r>
              <a:rPr lang="en-US" sz="2800" i="1" dirty="0">
                <a:solidFill>
                  <a:schemeClr val="tx1"/>
                </a:solidFill>
                <a:latin typeface="Cambria" pitchFamily="34" charset="0"/>
                <a:ea typeface="Cambria" pitchFamily="34" charset="-122"/>
                <a:cs typeface="Cambria" pitchFamily="34" charset="-120"/>
              </a:rPr>
              <a:t>fin mars</a:t>
            </a:r>
            <a:endParaRPr lang="en-US" sz="2800" dirty="0"/>
          </a:p>
        </p:txBody>
      </p:sp>
      <p:sp>
        <p:nvSpPr>
          <p:cNvPr id="4" name="ms-0"/>
          <p:cNvSpPr/>
          <p:nvPr/>
        </p:nvSpPr>
        <p:spPr>
          <a:xfrm>
            <a:off x="457200" y="1280160"/>
            <a:ext cx="8229600" cy="694944"/>
          </a:xfrm>
          <a:prstGeom prst="roundRect">
            <a:avLst>
              <a:gd name="adj" fmla="val 10526"/>
            </a:avLst>
          </a:prstGeom>
          <a:solidFill>
            <a:srgbClr val="FFFFFF"/>
          </a:solidFill>
          <a:ln/>
        </p:spPr>
      </p:sp>
      <p:sp>
        <p:nvSpPr>
          <p:cNvPr id="5" name="Shape 3"/>
          <p:cNvSpPr/>
          <p:nvPr/>
        </p:nvSpPr>
        <p:spPr>
          <a:xfrm>
            <a:off x="457200" y="1280160"/>
            <a:ext cx="73152" cy="694944"/>
          </a:xfrm>
          <a:prstGeom prst="rect">
            <a:avLst/>
          </a:prstGeom>
          <a:solidFill>
            <a:schemeClr val="accent4"/>
          </a:solidFill>
          <a:ln/>
        </p:spPr>
      </p:sp>
      <p:sp>
        <p:nvSpPr>
          <p:cNvPr id="6" name="Text 4"/>
          <p:cNvSpPr txBox="1"/>
          <p:nvPr/>
        </p:nvSpPr>
        <p:spPr>
          <a:xfrm>
            <a:off x="731520" y="1280160"/>
            <a:ext cx="1371600" cy="694944"/>
          </a:xfrm>
          <a:prstGeom prst="rect">
            <a:avLst/>
          </a:prstGeom>
          <a:noFill/>
          <a:ln/>
        </p:spPr>
        <p:txBody>
          <a:bodyPr wrap="square" lIns="0" tIns="0" rIns="0" bIns="0" rtlCol="0" anchor="ctr"/>
          <a:lstStyle/>
          <a:p>
            <a:pPr indent="0" marL="0">
              <a:buNone/>
            </a:pPr>
            <a:r>
              <a:rPr lang="en-US" sz="1000" b="1" spc="100" kern="0" dirty="0">
                <a:solidFill>
                  <a:schemeClr val="tx2"/>
                </a:solidFill>
              </a:rPr>
              <a:t>DÉC. → FÉV.</a:t>
            </a:r>
            <a:endParaRPr lang="en-US" sz="1000" dirty="0"/>
          </a:p>
        </p:txBody>
      </p:sp>
      <p:sp>
        <p:nvSpPr>
          <p:cNvPr id="7" name="Text 5"/>
          <p:cNvSpPr txBox="1"/>
          <p:nvPr/>
        </p:nvSpPr>
        <p:spPr>
          <a:xfrm>
            <a:off x="2148840" y="1280160"/>
            <a:ext cx="2103120" cy="694944"/>
          </a:xfrm>
          <a:prstGeom prst="rect">
            <a:avLst/>
          </a:prstGeom>
          <a:noFill/>
          <a:ln/>
        </p:spPr>
        <p:txBody>
          <a:bodyPr wrap="square" lIns="0" tIns="0" rIns="0" bIns="0" rtlCol="0" anchor="ctr"/>
          <a:lstStyle/>
          <a:p>
            <a:pPr indent="0" marL="0">
              <a:buNone/>
            </a:pPr>
            <a:r>
              <a:rPr lang="en-US" sz="1400" b="1" dirty="0">
                <a:solidFill>
                  <a:schemeClr val="tx1"/>
                </a:solidFill>
              </a:rPr>
              <a:t>Formulation</a:t>
            </a:r>
            <a:endParaRPr lang="en-US" sz="1400" dirty="0"/>
          </a:p>
        </p:txBody>
      </p:sp>
      <p:sp>
        <p:nvSpPr>
          <p:cNvPr id="8" name="Text 6"/>
          <p:cNvSpPr txBox="1"/>
          <p:nvPr/>
        </p:nvSpPr>
        <p:spPr>
          <a:xfrm>
            <a:off x="4206240" y="1280160"/>
            <a:ext cx="4297680" cy="694944"/>
          </a:xfrm>
          <a:prstGeom prst="rect">
            <a:avLst/>
          </a:prstGeom>
          <a:noFill/>
          <a:ln/>
        </p:spPr>
        <p:txBody>
          <a:bodyPr wrap="square" lIns="0" tIns="0" rIns="0" bIns="0" rtlCol="0" anchor="ctr"/>
          <a:lstStyle/>
          <a:p>
            <a:pPr indent="0" marL="0">
              <a:buNone/>
            </a:pPr>
            <a:r>
              <a:rPr lang="en-US" sz="1150" dirty="0">
                <a:solidFill>
                  <a:schemeClr val="tx2"/>
                </a:solidFill>
              </a:rPr>
              <a:t>Choix des actifs, dosage et goût avec le fournisseur, validation réglementaire.</a:t>
            </a:r>
            <a:endParaRPr lang="en-US" sz="1150" dirty="0"/>
          </a:p>
        </p:txBody>
      </p:sp>
      <p:sp>
        <p:nvSpPr>
          <p:cNvPr id="9" name="ms-1"/>
          <p:cNvSpPr/>
          <p:nvPr/>
        </p:nvSpPr>
        <p:spPr>
          <a:xfrm>
            <a:off x="457200" y="2066544"/>
            <a:ext cx="8229600" cy="694944"/>
          </a:xfrm>
          <a:prstGeom prst="roundRect">
            <a:avLst>
              <a:gd name="adj" fmla="val 10526"/>
            </a:avLst>
          </a:prstGeom>
          <a:solidFill>
            <a:srgbClr val="FFFFFF"/>
          </a:solidFill>
          <a:ln/>
        </p:spPr>
      </p:sp>
      <p:sp>
        <p:nvSpPr>
          <p:cNvPr id="10" name="Shape 8"/>
          <p:cNvSpPr/>
          <p:nvPr/>
        </p:nvSpPr>
        <p:spPr>
          <a:xfrm>
            <a:off x="457200" y="2066544"/>
            <a:ext cx="73152" cy="694944"/>
          </a:xfrm>
          <a:prstGeom prst="rect">
            <a:avLst/>
          </a:prstGeom>
          <a:solidFill>
            <a:schemeClr val="accent1"/>
          </a:solidFill>
          <a:ln/>
        </p:spPr>
      </p:sp>
      <p:sp>
        <p:nvSpPr>
          <p:cNvPr id="11" name="Text 9"/>
          <p:cNvSpPr txBox="1"/>
          <p:nvPr/>
        </p:nvSpPr>
        <p:spPr>
          <a:xfrm>
            <a:off x="731520" y="2066544"/>
            <a:ext cx="1371600" cy="694944"/>
          </a:xfrm>
          <a:prstGeom prst="rect">
            <a:avLst/>
          </a:prstGeom>
          <a:noFill/>
          <a:ln/>
        </p:spPr>
        <p:txBody>
          <a:bodyPr wrap="square" lIns="0" tIns="0" rIns="0" bIns="0" rtlCol="0" anchor="ctr"/>
          <a:lstStyle/>
          <a:p>
            <a:pPr indent="0" marL="0">
              <a:buNone/>
            </a:pPr>
            <a:r>
              <a:rPr lang="en-US" sz="1000" b="1" spc="100" kern="0" dirty="0">
                <a:solidFill>
                  <a:schemeClr val="tx2"/>
                </a:solidFill>
              </a:rPr>
              <a:t>JANV. → MARS</a:t>
            </a:r>
            <a:endParaRPr lang="en-US" sz="1000" dirty="0"/>
          </a:p>
        </p:txBody>
      </p:sp>
      <p:sp>
        <p:nvSpPr>
          <p:cNvPr id="12" name="Text 10"/>
          <p:cNvSpPr txBox="1"/>
          <p:nvPr/>
        </p:nvSpPr>
        <p:spPr>
          <a:xfrm>
            <a:off x="2148840" y="2066544"/>
            <a:ext cx="2103120" cy="694944"/>
          </a:xfrm>
          <a:prstGeom prst="rect">
            <a:avLst/>
          </a:prstGeom>
          <a:noFill/>
          <a:ln/>
        </p:spPr>
        <p:txBody>
          <a:bodyPr wrap="square" lIns="0" tIns="0" rIns="0" bIns="0" rtlCol="0" anchor="ctr"/>
          <a:lstStyle/>
          <a:p>
            <a:pPr indent="0" marL="0">
              <a:buNone/>
            </a:pPr>
            <a:r>
              <a:rPr lang="en-US" sz="1400" b="1" dirty="0">
                <a:solidFill>
                  <a:schemeClr val="tx1"/>
                </a:solidFill>
              </a:rPr>
              <a:t>Prototype et tests</a:t>
            </a:r>
            <a:endParaRPr lang="en-US" sz="1400" dirty="0"/>
          </a:p>
        </p:txBody>
      </p:sp>
      <p:sp>
        <p:nvSpPr>
          <p:cNvPr id="13" name="Text 11"/>
          <p:cNvSpPr txBox="1"/>
          <p:nvPr/>
        </p:nvSpPr>
        <p:spPr>
          <a:xfrm>
            <a:off x="4206240" y="2066544"/>
            <a:ext cx="4297680" cy="694944"/>
          </a:xfrm>
          <a:prstGeom prst="rect">
            <a:avLst/>
          </a:prstGeom>
          <a:noFill/>
          <a:ln/>
        </p:spPr>
        <p:txBody>
          <a:bodyPr wrap="square" lIns="0" tIns="0" rIns="0" bIns="0" rtlCol="0" anchor="ctr"/>
          <a:lstStyle/>
          <a:p>
            <a:pPr indent="0" marL="0">
              <a:buNone/>
            </a:pPr>
            <a:r>
              <a:rPr lang="en-US" sz="1150" dirty="0">
                <a:solidFill>
                  <a:schemeClr val="tx2"/>
                </a:solidFill>
              </a:rPr>
              <a:t>Premiers prototypes, tests de goût et de dissolution, début des études de stabilité.</a:t>
            </a:r>
            <a:endParaRPr lang="en-US" sz="1150" dirty="0"/>
          </a:p>
        </p:txBody>
      </p:sp>
      <p:sp>
        <p:nvSpPr>
          <p:cNvPr id="14" name="ms-2"/>
          <p:cNvSpPr/>
          <p:nvPr/>
        </p:nvSpPr>
        <p:spPr>
          <a:xfrm>
            <a:off x="457200" y="2852928"/>
            <a:ext cx="8229600" cy="694944"/>
          </a:xfrm>
          <a:prstGeom prst="roundRect">
            <a:avLst>
              <a:gd name="adj" fmla="val 10526"/>
            </a:avLst>
          </a:prstGeom>
          <a:solidFill>
            <a:srgbClr val="FFFFFF"/>
          </a:solidFill>
          <a:ln/>
        </p:spPr>
      </p:sp>
      <p:sp>
        <p:nvSpPr>
          <p:cNvPr id="15" name="Shape 13"/>
          <p:cNvSpPr/>
          <p:nvPr/>
        </p:nvSpPr>
        <p:spPr>
          <a:xfrm>
            <a:off x="457200" y="2852928"/>
            <a:ext cx="73152" cy="694944"/>
          </a:xfrm>
          <a:prstGeom prst="rect">
            <a:avLst/>
          </a:prstGeom>
          <a:solidFill>
            <a:schemeClr val="accent3"/>
          </a:solidFill>
          <a:ln/>
        </p:spPr>
      </p:sp>
      <p:sp>
        <p:nvSpPr>
          <p:cNvPr id="16" name="Text 14"/>
          <p:cNvSpPr txBox="1"/>
          <p:nvPr/>
        </p:nvSpPr>
        <p:spPr>
          <a:xfrm>
            <a:off x="731520" y="2852928"/>
            <a:ext cx="1371600" cy="694944"/>
          </a:xfrm>
          <a:prstGeom prst="rect">
            <a:avLst/>
          </a:prstGeom>
          <a:noFill/>
          <a:ln/>
        </p:spPr>
        <p:txBody>
          <a:bodyPr wrap="square" lIns="0" tIns="0" rIns="0" bIns="0" rtlCol="0" anchor="ctr"/>
          <a:lstStyle/>
          <a:p>
            <a:pPr indent="0" marL="0">
              <a:buNone/>
            </a:pPr>
            <a:r>
              <a:rPr lang="en-US" sz="1000" b="1" spc="100" kern="0" dirty="0">
                <a:solidFill>
                  <a:schemeClr val="tx2"/>
                </a:solidFill>
              </a:rPr>
              <a:t>FÉV. → MARS</a:t>
            </a:r>
            <a:endParaRPr lang="en-US" sz="1000" dirty="0"/>
          </a:p>
        </p:txBody>
      </p:sp>
      <p:sp>
        <p:nvSpPr>
          <p:cNvPr id="17" name="Text 15"/>
          <p:cNvSpPr txBox="1"/>
          <p:nvPr/>
        </p:nvSpPr>
        <p:spPr>
          <a:xfrm>
            <a:off x="2148840" y="2852928"/>
            <a:ext cx="2103120" cy="694944"/>
          </a:xfrm>
          <a:prstGeom prst="rect">
            <a:avLst/>
          </a:prstGeom>
          <a:noFill/>
          <a:ln/>
        </p:spPr>
        <p:txBody>
          <a:bodyPr wrap="square" lIns="0" tIns="0" rIns="0" bIns="0" rtlCol="0" anchor="ctr"/>
          <a:lstStyle/>
          <a:p>
            <a:pPr indent="0" marL="0">
              <a:buNone/>
            </a:pPr>
            <a:r>
              <a:rPr lang="en-US" sz="1400" b="1" dirty="0">
                <a:solidFill>
                  <a:schemeClr val="tx1"/>
                </a:solidFill>
              </a:rPr>
              <a:t>MVP et business plan</a:t>
            </a:r>
            <a:endParaRPr lang="en-US" sz="1400" dirty="0"/>
          </a:p>
        </p:txBody>
      </p:sp>
      <p:sp>
        <p:nvSpPr>
          <p:cNvPr id="18" name="Text 16"/>
          <p:cNvSpPr txBox="1"/>
          <p:nvPr/>
        </p:nvSpPr>
        <p:spPr>
          <a:xfrm>
            <a:off x="4206240" y="2852928"/>
            <a:ext cx="4297680" cy="694944"/>
          </a:xfrm>
          <a:prstGeom prst="rect">
            <a:avLst/>
          </a:prstGeom>
          <a:noFill/>
          <a:ln/>
        </p:spPr>
        <p:txBody>
          <a:bodyPr wrap="square" lIns="0" tIns="0" rIns="0" bIns="0" rtlCol="0" anchor="ctr"/>
          <a:lstStyle/>
          <a:p>
            <a:pPr indent="0" marL="0">
              <a:buNone/>
            </a:pPr>
            <a:r>
              <a:rPr lang="en-US" sz="1150" dirty="0">
                <a:solidFill>
                  <a:schemeClr val="tx2"/>
                </a:solidFill>
              </a:rPr>
              <a:t>Page de précommande luna (objectif ≥ 3 %), puis business plan rapide avec les coûts réels.</a:t>
            </a:r>
            <a:endParaRPr lang="en-US" sz="1150" dirty="0"/>
          </a:p>
        </p:txBody>
      </p:sp>
      <p:sp>
        <p:nvSpPr>
          <p:cNvPr id="19" name="ms-3"/>
          <p:cNvSpPr/>
          <p:nvPr/>
        </p:nvSpPr>
        <p:spPr>
          <a:xfrm>
            <a:off x="457200" y="3639312"/>
            <a:ext cx="8229600" cy="694944"/>
          </a:xfrm>
          <a:prstGeom prst="roundRect">
            <a:avLst>
              <a:gd name="adj" fmla="val 10526"/>
            </a:avLst>
          </a:prstGeom>
          <a:solidFill>
            <a:srgbClr val="FFFFFF"/>
          </a:solidFill>
          <a:ln/>
        </p:spPr>
      </p:sp>
      <p:sp>
        <p:nvSpPr>
          <p:cNvPr id="20" name="Shape 18"/>
          <p:cNvSpPr/>
          <p:nvPr/>
        </p:nvSpPr>
        <p:spPr>
          <a:xfrm>
            <a:off x="457200" y="3639312"/>
            <a:ext cx="73152" cy="694944"/>
          </a:xfrm>
          <a:prstGeom prst="rect">
            <a:avLst/>
          </a:prstGeom>
          <a:solidFill>
            <a:schemeClr val="tx1"/>
          </a:solidFill>
          <a:ln/>
        </p:spPr>
      </p:sp>
      <p:sp>
        <p:nvSpPr>
          <p:cNvPr id="21" name="Text 19"/>
          <p:cNvSpPr txBox="1"/>
          <p:nvPr/>
        </p:nvSpPr>
        <p:spPr>
          <a:xfrm>
            <a:off x="731520" y="3639312"/>
            <a:ext cx="1371600" cy="694944"/>
          </a:xfrm>
          <a:prstGeom prst="rect">
            <a:avLst/>
          </a:prstGeom>
          <a:noFill/>
          <a:ln/>
        </p:spPr>
        <p:txBody>
          <a:bodyPr wrap="square" lIns="0" tIns="0" rIns="0" bIns="0" rtlCol="0" anchor="ctr"/>
          <a:lstStyle/>
          <a:p>
            <a:pPr indent="0" marL="0">
              <a:buNone/>
            </a:pPr>
            <a:r>
              <a:rPr lang="en-US" sz="1000" b="1" spc="100" kern="0" dirty="0">
                <a:solidFill>
                  <a:schemeClr val="tx2"/>
                </a:solidFill>
              </a:rPr>
              <a:t>FIN MARS</a:t>
            </a:r>
            <a:endParaRPr lang="en-US" sz="1000" dirty="0"/>
          </a:p>
        </p:txBody>
      </p:sp>
      <p:sp>
        <p:nvSpPr>
          <p:cNvPr id="22" name="Text 20"/>
          <p:cNvSpPr txBox="1"/>
          <p:nvPr/>
        </p:nvSpPr>
        <p:spPr>
          <a:xfrm>
            <a:off x="2148840" y="3639312"/>
            <a:ext cx="2103120" cy="694944"/>
          </a:xfrm>
          <a:prstGeom prst="rect">
            <a:avLst/>
          </a:prstGeom>
          <a:noFill/>
          <a:ln/>
        </p:spPr>
        <p:txBody>
          <a:bodyPr wrap="square" lIns="0" tIns="0" rIns="0" bIns="0" rtlCol="0" anchor="ctr"/>
          <a:lstStyle/>
          <a:p>
            <a:pPr indent="0" marL="0">
              <a:buNone/>
            </a:pPr>
            <a:r>
              <a:rPr lang="en-US" sz="1400" b="1" dirty="0">
                <a:solidFill>
                  <a:schemeClr val="tx1"/>
                </a:solidFill>
              </a:rPr>
              <a:t>Soutenance</a:t>
            </a:r>
            <a:endParaRPr lang="en-US" sz="1400" dirty="0"/>
          </a:p>
        </p:txBody>
      </p:sp>
      <p:sp>
        <p:nvSpPr>
          <p:cNvPr id="23" name="Text 21"/>
          <p:cNvSpPr txBox="1"/>
          <p:nvPr/>
        </p:nvSpPr>
        <p:spPr>
          <a:xfrm>
            <a:off x="4206240" y="3639312"/>
            <a:ext cx="4297680" cy="694944"/>
          </a:xfrm>
          <a:prstGeom prst="rect">
            <a:avLst/>
          </a:prstGeom>
          <a:noFill/>
          <a:ln/>
        </p:spPr>
        <p:txBody>
          <a:bodyPr wrap="square" lIns="0" tIns="0" rIns="0" bIns="0" rtlCol="0" anchor="ctr"/>
          <a:lstStyle/>
          <a:p>
            <a:pPr indent="0" marL="0">
              <a:buNone/>
            </a:pPr>
            <a:r>
              <a:rPr lang="en-US" sz="1150" dirty="0">
                <a:solidFill>
                  <a:schemeClr val="tx2"/>
                </a:solidFill>
              </a:rPr>
              <a:t>Présenter la démarche, les premiers résultats et la décision de lancement.</a:t>
            </a:r>
            <a:endParaRPr lang="en-US" sz="115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APRÈS LA SOUTENANCE</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de la soutenance </a:t>
            </a:r>
            <a:pPr algn="l" indent="0" marL="0">
              <a:buNone/>
            </a:pPr>
            <a:r>
              <a:rPr lang="en-US" sz="2800" i="1" dirty="0">
                <a:solidFill>
                  <a:schemeClr val="tx1"/>
                </a:solidFill>
                <a:latin typeface="Cambria" pitchFamily="34" charset="0"/>
                <a:ea typeface="Cambria" pitchFamily="34" charset="-122"/>
                <a:cs typeface="Cambria" pitchFamily="34" charset="-120"/>
              </a:rPr>
              <a:t>au lancement</a:t>
            </a:r>
            <a:endParaRPr lang="en-US" sz="2800" dirty="0"/>
          </a:p>
        </p:txBody>
      </p:sp>
      <p:sp>
        <p:nvSpPr>
          <p:cNvPr id="4" name="Shape 2"/>
          <p:cNvSpPr/>
          <p:nvPr/>
        </p:nvSpPr>
        <p:spPr>
          <a:xfrm>
            <a:off x="685800" y="1600200"/>
            <a:ext cx="6309360" cy="0"/>
          </a:xfrm>
          <a:prstGeom prst="line">
            <a:avLst/>
          </a:prstGeom>
          <a:noFill/>
          <a:ln w="19050">
            <a:solidFill>
              <a:srgbClr val="D6CFC6"/>
            </a:solidFill>
            <a:prstDash val="solid"/>
          </a:ln>
        </p:spPr>
      </p:sp>
      <p:sp>
        <p:nvSpPr>
          <p:cNvPr id="5" name="apres-0"/>
          <p:cNvSpPr/>
          <p:nvPr/>
        </p:nvSpPr>
        <p:spPr>
          <a:xfrm>
            <a:off x="521208" y="1435608"/>
            <a:ext cx="329184" cy="329184"/>
          </a:xfrm>
          <a:prstGeom prst="ellipse">
            <a:avLst/>
          </a:prstGeom>
          <a:solidFill>
            <a:schemeClr val="accent1"/>
          </a:solidFill>
          <a:ln/>
        </p:spPr>
      </p:sp>
      <p:sp>
        <p:nvSpPr>
          <p:cNvPr id="6" name="Text 4"/>
          <p:cNvSpPr txBox="1"/>
          <p:nvPr/>
        </p:nvSpPr>
        <p:spPr>
          <a:xfrm>
            <a:off x="457200" y="1965960"/>
            <a:ext cx="1920240" cy="228600"/>
          </a:xfrm>
          <a:prstGeom prst="rect">
            <a:avLst/>
          </a:prstGeom>
          <a:noFill/>
          <a:ln/>
        </p:spPr>
        <p:txBody>
          <a:bodyPr wrap="square" lIns="0" tIns="0" rIns="0" bIns="0" rtlCol="0" anchor="t"/>
          <a:lstStyle/>
          <a:p>
            <a:pPr indent="0" marL="0">
              <a:buNone/>
            </a:pPr>
            <a:r>
              <a:rPr lang="en-US" sz="950" b="1" spc="100" kern="0" dirty="0">
                <a:solidFill>
                  <a:schemeClr val="tx2"/>
                </a:solidFill>
              </a:rPr>
              <a:t>AVRIL → MAI</a:t>
            </a:r>
            <a:endParaRPr lang="en-US" sz="950" dirty="0"/>
          </a:p>
        </p:txBody>
      </p:sp>
      <p:sp>
        <p:nvSpPr>
          <p:cNvPr id="7" name="Text 5"/>
          <p:cNvSpPr txBox="1"/>
          <p:nvPr/>
        </p:nvSpPr>
        <p:spPr>
          <a:xfrm>
            <a:off x="457200" y="2240280"/>
            <a:ext cx="1920240" cy="320040"/>
          </a:xfrm>
          <a:prstGeom prst="rect">
            <a:avLst/>
          </a:prstGeom>
          <a:noFill/>
          <a:ln/>
        </p:spPr>
        <p:txBody>
          <a:bodyPr wrap="square" lIns="0" tIns="0" rIns="0" bIns="0" rtlCol="0" anchor="t"/>
          <a:lstStyle/>
          <a:p>
            <a:pPr indent="0" marL="0">
              <a:buNone/>
            </a:pPr>
            <a:r>
              <a:rPr lang="en-US" sz="1600" b="1" dirty="0">
                <a:solidFill>
                  <a:schemeClr val="tx1"/>
                </a:solidFill>
              </a:rPr>
              <a:t>Structurer</a:t>
            </a:r>
            <a:endParaRPr lang="en-US" sz="1600" dirty="0"/>
          </a:p>
        </p:txBody>
      </p:sp>
      <p:sp>
        <p:nvSpPr>
          <p:cNvPr id="8" name="Text 6"/>
          <p:cNvSpPr txBox="1"/>
          <p:nvPr/>
        </p:nvSpPr>
        <p:spPr>
          <a:xfrm>
            <a:off x="457200" y="2606040"/>
            <a:ext cx="1828800" cy="1005840"/>
          </a:xfrm>
          <a:prstGeom prst="rect">
            <a:avLst/>
          </a:prstGeom>
          <a:noFill/>
          <a:ln/>
        </p:spPr>
        <p:txBody>
          <a:bodyPr wrap="square" lIns="0" tIns="0" rIns="0" bIns="0" rtlCol="0" anchor="t"/>
          <a:lstStyle/>
          <a:p>
            <a:pPr indent="0" marL="0">
              <a:buNone/>
            </a:pPr>
            <a:r>
              <a:rPr lang="en-US" sz="1150" dirty="0">
                <a:solidFill>
                  <a:schemeClr val="tx2"/>
                </a:solidFill>
              </a:rPr>
              <a:t>Création de la société, statut juridique, dépôt de la marque sip lab.</a:t>
            </a:r>
            <a:endParaRPr lang="en-US" sz="1150" dirty="0"/>
          </a:p>
        </p:txBody>
      </p:sp>
      <p:sp>
        <p:nvSpPr>
          <p:cNvPr id="9" name="apres-1"/>
          <p:cNvSpPr/>
          <p:nvPr/>
        </p:nvSpPr>
        <p:spPr>
          <a:xfrm>
            <a:off x="2624328" y="1435608"/>
            <a:ext cx="329184" cy="329184"/>
          </a:xfrm>
          <a:prstGeom prst="ellipse">
            <a:avLst/>
          </a:prstGeom>
          <a:solidFill>
            <a:schemeClr val="accent4"/>
          </a:solidFill>
          <a:ln/>
        </p:spPr>
      </p:sp>
      <p:sp>
        <p:nvSpPr>
          <p:cNvPr id="10" name="Text 8"/>
          <p:cNvSpPr txBox="1"/>
          <p:nvPr/>
        </p:nvSpPr>
        <p:spPr>
          <a:xfrm>
            <a:off x="2560320" y="1965960"/>
            <a:ext cx="1920240" cy="228600"/>
          </a:xfrm>
          <a:prstGeom prst="rect">
            <a:avLst/>
          </a:prstGeom>
          <a:noFill/>
          <a:ln/>
        </p:spPr>
        <p:txBody>
          <a:bodyPr wrap="square" lIns="0" tIns="0" rIns="0" bIns="0" rtlCol="0" anchor="t"/>
          <a:lstStyle/>
          <a:p>
            <a:pPr indent="0" marL="0">
              <a:buNone/>
            </a:pPr>
            <a:r>
              <a:rPr lang="en-US" sz="950" b="1" spc="100" kern="0" dirty="0">
                <a:solidFill>
                  <a:schemeClr val="tx2"/>
                </a:solidFill>
              </a:rPr>
              <a:t>MAI → JUIN</a:t>
            </a:r>
            <a:endParaRPr lang="en-US" sz="950" dirty="0"/>
          </a:p>
        </p:txBody>
      </p:sp>
      <p:sp>
        <p:nvSpPr>
          <p:cNvPr id="11" name="Text 9"/>
          <p:cNvSpPr txBox="1"/>
          <p:nvPr/>
        </p:nvSpPr>
        <p:spPr>
          <a:xfrm>
            <a:off x="2560320" y="2240280"/>
            <a:ext cx="1920240" cy="320040"/>
          </a:xfrm>
          <a:prstGeom prst="rect">
            <a:avLst/>
          </a:prstGeom>
          <a:noFill/>
          <a:ln/>
        </p:spPr>
        <p:txBody>
          <a:bodyPr wrap="square" lIns="0" tIns="0" rIns="0" bIns="0" rtlCol="0" anchor="t"/>
          <a:lstStyle/>
          <a:p>
            <a:pPr indent="0" marL="0">
              <a:buNone/>
            </a:pPr>
            <a:r>
              <a:rPr lang="en-US" sz="1600" b="1" dirty="0">
                <a:solidFill>
                  <a:schemeClr val="tx1"/>
                </a:solidFill>
              </a:rPr>
              <a:t>Financer</a:t>
            </a:r>
            <a:endParaRPr lang="en-US" sz="1600" dirty="0"/>
          </a:p>
        </p:txBody>
      </p:sp>
      <p:sp>
        <p:nvSpPr>
          <p:cNvPr id="12" name="Text 10"/>
          <p:cNvSpPr txBox="1"/>
          <p:nvPr/>
        </p:nvSpPr>
        <p:spPr>
          <a:xfrm>
            <a:off x="2560320" y="2606040"/>
            <a:ext cx="1828800" cy="1005840"/>
          </a:xfrm>
          <a:prstGeom prst="rect">
            <a:avLst/>
          </a:prstGeom>
          <a:noFill/>
          <a:ln/>
        </p:spPr>
        <p:txBody>
          <a:bodyPr wrap="square" lIns="0" tIns="0" rIns="0" bIns="0" rtlCol="0" anchor="t"/>
          <a:lstStyle/>
          <a:p>
            <a:pPr indent="0" marL="0">
              <a:buNone/>
            </a:pPr>
            <a:r>
              <a:rPr lang="en-US" sz="1150" dirty="0">
                <a:solidFill>
                  <a:schemeClr val="tx2"/>
                </a:solidFill>
              </a:rPr>
              <a:t>Apport personnel et love money, puis prêt d'honneur et aides à l'innovation à étudier.</a:t>
            </a:r>
            <a:endParaRPr lang="en-US" sz="1150" dirty="0"/>
          </a:p>
        </p:txBody>
      </p:sp>
      <p:sp>
        <p:nvSpPr>
          <p:cNvPr id="13" name="apres-2"/>
          <p:cNvSpPr/>
          <p:nvPr/>
        </p:nvSpPr>
        <p:spPr>
          <a:xfrm>
            <a:off x="4727448" y="1435608"/>
            <a:ext cx="329184" cy="329184"/>
          </a:xfrm>
          <a:prstGeom prst="ellipse">
            <a:avLst/>
          </a:prstGeom>
          <a:solidFill>
            <a:schemeClr val="accent2"/>
          </a:solidFill>
          <a:ln/>
        </p:spPr>
      </p:sp>
      <p:sp>
        <p:nvSpPr>
          <p:cNvPr id="14" name="Text 12"/>
          <p:cNvSpPr txBox="1"/>
          <p:nvPr/>
        </p:nvSpPr>
        <p:spPr>
          <a:xfrm>
            <a:off x="4663440" y="1965960"/>
            <a:ext cx="1920240" cy="228600"/>
          </a:xfrm>
          <a:prstGeom prst="rect">
            <a:avLst/>
          </a:prstGeom>
          <a:noFill/>
          <a:ln/>
        </p:spPr>
        <p:txBody>
          <a:bodyPr wrap="square" lIns="0" tIns="0" rIns="0" bIns="0" rtlCol="0" anchor="t"/>
          <a:lstStyle/>
          <a:p>
            <a:pPr indent="0" marL="0">
              <a:buNone/>
            </a:pPr>
            <a:r>
              <a:rPr lang="en-US" sz="950" b="1" spc="100" kern="0" dirty="0">
                <a:solidFill>
                  <a:schemeClr val="tx2"/>
                </a:solidFill>
              </a:rPr>
              <a:t>ÉTÉ → AUTOMNE 2027</a:t>
            </a:r>
            <a:endParaRPr lang="en-US" sz="950" dirty="0"/>
          </a:p>
        </p:txBody>
      </p:sp>
      <p:sp>
        <p:nvSpPr>
          <p:cNvPr id="15" name="Text 13"/>
          <p:cNvSpPr txBox="1"/>
          <p:nvPr/>
        </p:nvSpPr>
        <p:spPr>
          <a:xfrm>
            <a:off x="4663440" y="2240280"/>
            <a:ext cx="1920240" cy="320040"/>
          </a:xfrm>
          <a:prstGeom prst="rect">
            <a:avLst/>
          </a:prstGeom>
          <a:noFill/>
          <a:ln/>
        </p:spPr>
        <p:txBody>
          <a:bodyPr wrap="square" lIns="0" tIns="0" rIns="0" bIns="0" rtlCol="0" anchor="t"/>
          <a:lstStyle/>
          <a:p>
            <a:pPr indent="0" marL="0">
              <a:buNone/>
            </a:pPr>
            <a:r>
              <a:rPr lang="en-US" sz="1600" b="1" dirty="0">
                <a:solidFill>
                  <a:schemeClr val="tx1"/>
                </a:solidFill>
              </a:rPr>
              <a:t>Lancer luna</a:t>
            </a:r>
            <a:endParaRPr lang="en-US" sz="1600" dirty="0"/>
          </a:p>
        </p:txBody>
      </p:sp>
      <p:sp>
        <p:nvSpPr>
          <p:cNvPr id="16" name="Text 14"/>
          <p:cNvSpPr txBox="1"/>
          <p:nvPr/>
        </p:nvSpPr>
        <p:spPr>
          <a:xfrm>
            <a:off x="4663440" y="2606040"/>
            <a:ext cx="1828800" cy="1005840"/>
          </a:xfrm>
          <a:prstGeom prst="rect">
            <a:avLst/>
          </a:prstGeom>
          <a:noFill/>
          <a:ln/>
        </p:spPr>
        <p:txBody>
          <a:bodyPr wrap="square" lIns="0" tIns="0" rIns="0" bIns="0" rtlCol="0" anchor="t"/>
          <a:lstStyle/>
          <a:p>
            <a:pPr indent="0" marL="0">
              <a:buNone/>
            </a:pPr>
            <a:r>
              <a:rPr lang="en-US" sz="1150" dirty="0">
                <a:solidFill>
                  <a:schemeClr val="tx2"/>
                </a:solidFill>
              </a:rPr>
              <a:t>Fin des tests de stabilité, première production, vente en ligne et abonnement.</a:t>
            </a:r>
            <a:endParaRPr lang="en-US" sz="1150" dirty="0"/>
          </a:p>
        </p:txBody>
      </p:sp>
      <p:sp>
        <p:nvSpPr>
          <p:cNvPr id="17" name="apres-3"/>
          <p:cNvSpPr/>
          <p:nvPr/>
        </p:nvSpPr>
        <p:spPr>
          <a:xfrm>
            <a:off x="6830568" y="1435608"/>
            <a:ext cx="329184" cy="329184"/>
          </a:xfrm>
          <a:prstGeom prst="ellipse">
            <a:avLst/>
          </a:prstGeom>
          <a:solidFill>
            <a:schemeClr val="accent3"/>
          </a:solidFill>
          <a:ln/>
        </p:spPr>
      </p:sp>
      <p:sp>
        <p:nvSpPr>
          <p:cNvPr id="18" name="Text 16"/>
          <p:cNvSpPr txBox="1"/>
          <p:nvPr/>
        </p:nvSpPr>
        <p:spPr>
          <a:xfrm>
            <a:off x="6766560" y="1965960"/>
            <a:ext cx="1920240" cy="228600"/>
          </a:xfrm>
          <a:prstGeom prst="rect">
            <a:avLst/>
          </a:prstGeom>
          <a:noFill/>
          <a:ln/>
        </p:spPr>
        <p:txBody>
          <a:bodyPr wrap="square" lIns="0" tIns="0" rIns="0" bIns="0" rtlCol="0" anchor="t"/>
          <a:lstStyle/>
          <a:p>
            <a:pPr indent="0" marL="0">
              <a:buNone/>
            </a:pPr>
            <a:r>
              <a:rPr lang="en-US" sz="950" b="1" spc="100" kern="0" dirty="0">
                <a:solidFill>
                  <a:schemeClr val="tx2"/>
                </a:solidFill>
              </a:rPr>
              <a:t>ENSUITE</a:t>
            </a:r>
            <a:endParaRPr lang="en-US" sz="950" dirty="0"/>
          </a:p>
        </p:txBody>
      </p:sp>
      <p:sp>
        <p:nvSpPr>
          <p:cNvPr id="19" name="Text 17"/>
          <p:cNvSpPr txBox="1"/>
          <p:nvPr/>
        </p:nvSpPr>
        <p:spPr>
          <a:xfrm>
            <a:off x="6766560" y="2240280"/>
            <a:ext cx="1920240" cy="320040"/>
          </a:xfrm>
          <a:prstGeom prst="rect">
            <a:avLst/>
          </a:prstGeom>
          <a:noFill/>
          <a:ln/>
        </p:spPr>
        <p:txBody>
          <a:bodyPr wrap="square" lIns="0" tIns="0" rIns="0" bIns="0" rtlCol="0" anchor="t"/>
          <a:lstStyle/>
          <a:p>
            <a:pPr indent="0" marL="0">
              <a:buNone/>
            </a:pPr>
            <a:r>
              <a:rPr lang="en-US" sz="1600" b="1" dirty="0">
                <a:solidFill>
                  <a:schemeClr val="tx1"/>
                </a:solidFill>
              </a:rPr>
              <a:t>Élargir</a:t>
            </a:r>
            <a:endParaRPr lang="en-US" sz="1600" dirty="0"/>
          </a:p>
        </p:txBody>
      </p:sp>
      <p:sp>
        <p:nvSpPr>
          <p:cNvPr id="20" name="Text 18"/>
          <p:cNvSpPr txBox="1"/>
          <p:nvPr/>
        </p:nvSpPr>
        <p:spPr>
          <a:xfrm>
            <a:off x="6766560" y="2606040"/>
            <a:ext cx="1828800" cy="1005840"/>
          </a:xfrm>
          <a:prstGeom prst="rect">
            <a:avLst/>
          </a:prstGeom>
          <a:noFill/>
          <a:ln/>
        </p:spPr>
        <p:txBody>
          <a:bodyPr wrap="square" lIns="0" tIns="0" rIns="0" bIns="0" rtlCol="0" anchor="t"/>
          <a:lstStyle/>
          <a:p>
            <a:pPr indent="0" marL="0">
              <a:buNone/>
            </a:pPr>
            <a:r>
              <a:rPr lang="en-US" sz="1150" dirty="0">
                <a:solidFill>
                  <a:schemeClr val="tx2"/>
                </a:solidFill>
              </a:rPr>
              <a:t>Gamme active, puis mini et silver, et ouverture vers les pharmacies.</a:t>
            </a:r>
            <a:endParaRPr lang="en-US" sz="1150" dirty="0"/>
          </a:p>
        </p:txBody>
      </p:sp>
      <p:sp>
        <p:nvSpPr>
          <p:cNvPr id="21" name="condition"/>
          <p:cNvSpPr/>
          <p:nvPr/>
        </p:nvSpPr>
        <p:spPr>
          <a:xfrm>
            <a:off x="457200" y="3794760"/>
            <a:ext cx="8229600" cy="640080"/>
          </a:xfrm>
          <a:prstGeom prst="roundRect">
            <a:avLst>
              <a:gd name="adj" fmla="val 11429"/>
            </a:avLst>
          </a:prstGeom>
          <a:solidFill>
            <a:srgbClr val="ECE8E3"/>
          </a:solidFill>
          <a:ln/>
        </p:spPr>
      </p:sp>
      <p:sp>
        <p:nvSpPr>
          <p:cNvPr id="22" name="Text 20"/>
          <p:cNvSpPr txBox="1"/>
          <p:nvPr/>
        </p:nvSpPr>
        <p:spPr>
          <a:xfrm>
            <a:off x="731520" y="3794760"/>
            <a:ext cx="7772400" cy="640080"/>
          </a:xfrm>
          <a:prstGeom prst="rect">
            <a:avLst/>
          </a:prstGeom>
          <a:noFill/>
          <a:ln/>
        </p:spPr>
        <p:txBody>
          <a:bodyPr wrap="square" lIns="0" tIns="0" rIns="0" bIns="0" rtlCol="0" anchor="ctr"/>
          <a:lstStyle/>
          <a:p>
            <a:pPr indent="0" marL="0">
              <a:buNone/>
            </a:pPr>
            <a:r>
              <a:rPr lang="en-US" sz="1200" b="1" dirty="0">
                <a:solidFill>
                  <a:schemeClr val="tx1"/>
                </a:solidFill>
              </a:rPr>
              <a:t>Condition : </a:t>
            </a:r>
            <a:pPr indent="0" marL="0">
              <a:buNone/>
            </a:pPr>
            <a:r>
              <a:rPr lang="en-US" sz="1200" dirty="0">
                <a:solidFill>
                  <a:schemeClr val="tx1"/>
                </a:solidFill>
              </a:rPr>
              <a:t>le lancement dépend des résultats des tests (intérêt, prix, réachat) et du coût de production.</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92608"/>
            <a:ext cx="8229600" cy="228600"/>
          </a:xfrm>
          <a:prstGeom prst="rect">
            <a:avLst/>
          </a:prstGeom>
          <a:noFill/>
          <a:ln/>
        </p:spPr>
        <p:txBody>
          <a:bodyPr wrap="square" lIns="0" tIns="0" rIns="0" bIns="0" rtlCol="0"/>
          <a:lstStyle/>
          <a:p>
            <a:pPr indent="0" marL="0">
              <a:buNone/>
            </a:pPr>
            <a:r>
              <a:rPr lang="en-US" sz="1000" b="1" spc="200" kern="0" dirty="0">
                <a:solidFill>
                  <a:schemeClr val="tx2"/>
                </a:solidFill>
              </a:rPr>
              <a:t>POINTS DE VIGILANCE</a:t>
            </a:r>
            <a:endParaRPr lang="en-US" sz="1000" dirty="0"/>
          </a:p>
        </p:txBody>
      </p:sp>
      <p:sp>
        <p:nvSpPr>
          <p:cNvPr id="3" name="Text 1"/>
          <p:cNvSpPr/>
          <p:nvPr>
            <p:ph idx="102" type="title" hasCustomPrompt="1"/>
          </p:nvPr>
        </p:nvSpPr>
        <p:spPr>
          <a:xfrm>
            <a:off x="457200" y="502920"/>
            <a:ext cx="8229600" cy="594360"/>
          </a:xfrm>
          <a:prstGeom prst="rect">
            <a:avLst/>
          </a:prstGeom>
          <a:noFill/>
          <a:ln/>
        </p:spPr>
        <p:txBody>
          <a:bodyPr wrap="square" lIns="0" tIns="0" rIns="0" bIns="0" rtlCol="0" anchor="t"/>
          <a:lstStyle/>
          <a:p>
            <a:pPr algn="l" indent="0" marL="0">
              <a:buNone/>
            </a:pPr>
            <a:r>
              <a:rPr lang="en-US" sz="2800" dirty="0">
                <a:solidFill>
                  <a:schemeClr val="tx1"/>
                </a:solidFill>
              </a:rPr>
              <a:t>les risques </a:t>
            </a:r>
            <a:pPr algn="l" indent="0" marL="0">
              <a:buNone/>
            </a:pPr>
            <a:r>
              <a:rPr lang="en-US" sz="2800" i="1" dirty="0">
                <a:solidFill>
                  <a:schemeClr val="tx1"/>
                </a:solidFill>
                <a:latin typeface="Cambria" pitchFamily="34" charset="0"/>
                <a:ea typeface="Cambria" pitchFamily="34" charset="-122"/>
                <a:cs typeface="Cambria" pitchFamily="34" charset="-120"/>
              </a:rPr>
              <a:t>et ce dont j'ai besoin</a:t>
            </a:r>
            <a:endParaRPr lang="en-US" sz="2800" dirty="0"/>
          </a:p>
        </p:txBody>
      </p:sp>
      <p:sp>
        <p:nvSpPr>
          <p:cNvPr id="4" name="risques"/>
          <p:cNvSpPr/>
          <p:nvPr/>
        </p:nvSpPr>
        <p:spPr>
          <a:xfrm>
            <a:off x="457200" y="1280160"/>
            <a:ext cx="3977640" cy="3154680"/>
          </a:xfrm>
          <a:prstGeom prst="roundRect">
            <a:avLst>
              <a:gd name="adj" fmla="val 2319"/>
            </a:avLst>
          </a:prstGeom>
          <a:solidFill>
            <a:srgbClr val="FFFFFF"/>
          </a:solidFill>
          <a:ln/>
        </p:spPr>
      </p:sp>
      <p:sp>
        <p:nvSpPr>
          <p:cNvPr id="5" name="Text 3"/>
          <p:cNvSpPr txBox="1"/>
          <p:nvPr/>
        </p:nvSpPr>
        <p:spPr>
          <a:xfrm>
            <a:off x="731520" y="1463040"/>
            <a:ext cx="3474720" cy="320040"/>
          </a:xfrm>
          <a:prstGeom prst="rect">
            <a:avLst/>
          </a:prstGeom>
          <a:noFill/>
          <a:ln/>
        </p:spPr>
        <p:txBody>
          <a:bodyPr wrap="square" lIns="0" tIns="0" rIns="0" bIns="0" rtlCol="0" anchor="t"/>
          <a:lstStyle/>
          <a:p>
            <a:pPr indent="0" marL="0">
              <a:buNone/>
            </a:pPr>
            <a:r>
              <a:rPr lang="en-US" sz="1600" b="1" dirty="0">
                <a:solidFill>
                  <a:schemeClr val="tx1"/>
                </a:solidFill>
              </a:rPr>
              <a:t>risques identifiés</a:t>
            </a:r>
            <a:endParaRPr lang="en-US" sz="1600" dirty="0"/>
          </a:p>
        </p:txBody>
      </p:sp>
      <p:sp>
        <p:nvSpPr>
          <p:cNvPr id="6" name="Shape 4"/>
          <p:cNvSpPr/>
          <p:nvPr/>
        </p:nvSpPr>
        <p:spPr>
          <a:xfrm>
            <a:off x="731520" y="2020824"/>
            <a:ext cx="137160" cy="137160"/>
          </a:xfrm>
          <a:prstGeom prst="ellipse">
            <a:avLst/>
          </a:prstGeom>
          <a:solidFill>
            <a:schemeClr val="accent1"/>
          </a:solidFill>
          <a:ln/>
        </p:spPr>
      </p:sp>
      <p:sp>
        <p:nvSpPr>
          <p:cNvPr id="7" name="Text 5"/>
          <p:cNvSpPr txBox="1"/>
          <p:nvPr/>
        </p:nvSpPr>
        <p:spPr>
          <a:xfrm>
            <a:off x="1005840" y="1965960"/>
            <a:ext cx="3246120" cy="548640"/>
          </a:xfrm>
          <a:prstGeom prst="rect">
            <a:avLst/>
          </a:prstGeom>
          <a:noFill/>
          <a:ln/>
        </p:spPr>
        <p:txBody>
          <a:bodyPr wrap="square" lIns="0" tIns="0" rIns="0" bIns="0" rtlCol="0" anchor="t"/>
          <a:lstStyle/>
          <a:p>
            <a:pPr indent="0" marL="0">
              <a:buNone/>
            </a:pPr>
            <a:r>
              <a:rPr lang="en-US" sz="1200" dirty="0">
                <a:solidFill>
                  <a:schemeClr val="tx1"/>
                </a:solidFill>
              </a:rPr>
              <a:t>Pas de réponse ou refus du fournisseur</a:t>
            </a:r>
            <a:endParaRPr lang="en-US" sz="1200" dirty="0"/>
          </a:p>
        </p:txBody>
      </p:sp>
      <p:sp>
        <p:nvSpPr>
          <p:cNvPr id="8" name="Shape 6"/>
          <p:cNvSpPr/>
          <p:nvPr/>
        </p:nvSpPr>
        <p:spPr>
          <a:xfrm>
            <a:off x="731520" y="2569464"/>
            <a:ext cx="137160" cy="137160"/>
          </a:xfrm>
          <a:prstGeom prst="ellipse">
            <a:avLst/>
          </a:prstGeom>
          <a:solidFill>
            <a:schemeClr val="accent1"/>
          </a:solidFill>
          <a:ln/>
        </p:spPr>
      </p:sp>
      <p:sp>
        <p:nvSpPr>
          <p:cNvPr id="9" name="Text 7"/>
          <p:cNvSpPr txBox="1"/>
          <p:nvPr/>
        </p:nvSpPr>
        <p:spPr>
          <a:xfrm>
            <a:off x="1005840" y="2514600"/>
            <a:ext cx="3246120" cy="548640"/>
          </a:xfrm>
          <a:prstGeom prst="rect">
            <a:avLst/>
          </a:prstGeom>
          <a:noFill/>
          <a:ln/>
        </p:spPr>
        <p:txBody>
          <a:bodyPr wrap="square" lIns="0" tIns="0" rIns="0" bIns="0" rtlCol="0" anchor="t"/>
          <a:lstStyle/>
          <a:p>
            <a:pPr indent="0" marL="0">
              <a:buNone/>
            </a:pPr>
            <a:r>
              <a:rPr lang="en-US" sz="1200" dirty="0">
                <a:solidFill>
                  <a:schemeClr val="tx1"/>
                </a:solidFill>
              </a:rPr>
              <a:t>Coût par paille trop élevé pour le prix visé</a:t>
            </a:r>
            <a:endParaRPr lang="en-US" sz="1200" dirty="0"/>
          </a:p>
        </p:txBody>
      </p:sp>
      <p:sp>
        <p:nvSpPr>
          <p:cNvPr id="10" name="Shape 8"/>
          <p:cNvSpPr/>
          <p:nvPr/>
        </p:nvSpPr>
        <p:spPr>
          <a:xfrm>
            <a:off x="731520" y="3118104"/>
            <a:ext cx="137160" cy="137160"/>
          </a:xfrm>
          <a:prstGeom prst="ellipse">
            <a:avLst/>
          </a:prstGeom>
          <a:solidFill>
            <a:schemeClr val="accent1"/>
          </a:solidFill>
          <a:ln/>
        </p:spPr>
      </p:sp>
      <p:sp>
        <p:nvSpPr>
          <p:cNvPr id="11" name="Text 9"/>
          <p:cNvSpPr txBox="1"/>
          <p:nvPr/>
        </p:nvSpPr>
        <p:spPr>
          <a:xfrm>
            <a:off x="1005840" y="3063240"/>
            <a:ext cx="3246120" cy="548640"/>
          </a:xfrm>
          <a:prstGeom prst="rect">
            <a:avLst/>
          </a:prstGeom>
          <a:noFill/>
          <a:ln/>
        </p:spPr>
        <p:txBody>
          <a:bodyPr wrap="square" lIns="0" tIns="0" rIns="0" bIns="0" rtlCol="0" anchor="t"/>
          <a:lstStyle/>
          <a:p>
            <a:pPr indent="0" marL="0">
              <a:buNone/>
            </a:pPr>
            <a:r>
              <a:rPr lang="en-US" sz="1200" dirty="0">
                <a:solidFill>
                  <a:schemeClr val="tx1"/>
                </a:solidFill>
              </a:rPr>
              <a:t>Réglementation des allégations santé</a:t>
            </a:r>
            <a:endParaRPr lang="en-US" sz="1200" dirty="0"/>
          </a:p>
        </p:txBody>
      </p:sp>
      <p:sp>
        <p:nvSpPr>
          <p:cNvPr id="12" name="Shape 10"/>
          <p:cNvSpPr/>
          <p:nvPr/>
        </p:nvSpPr>
        <p:spPr>
          <a:xfrm>
            <a:off x="731520" y="3666744"/>
            <a:ext cx="137160" cy="137160"/>
          </a:xfrm>
          <a:prstGeom prst="ellipse">
            <a:avLst/>
          </a:prstGeom>
          <a:solidFill>
            <a:schemeClr val="accent1"/>
          </a:solidFill>
          <a:ln/>
        </p:spPr>
      </p:sp>
      <p:sp>
        <p:nvSpPr>
          <p:cNvPr id="13" name="Text 11"/>
          <p:cNvSpPr txBox="1"/>
          <p:nvPr/>
        </p:nvSpPr>
        <p:spPr>
          <a:xfrm>
            <a:off x="1005840" y="3611880"/>
            <a:ext cx="3246120" cy="548640"/>
          </a:xfrm>
          <a:prstGeom prst="rect">
            <a:avLst/>
          </a:prstGeom>
          <a:noFill/>
          <a:ln/>
        </p:spPr>
        <p:txBody>
          <a:bodyPr wrap="square" lIns="0" tIns="0" rIns="0" bIns="0" rtlCol="0" anchor="t"/>
          <a:lstStyle/>
          <a:p>
            <a:pPr indent="0" marL="0">
              <a:buNone/>
            </a:pPr>
            <a:r>
              <a:rPr lang="en-US" sz="1200" dirty="0">
                <a:solidFill>
                  <a:schemeClr val="tx1"/>
                </a:solidFill>
              </a:rPr>
              <a:t>Délais de formulation et de stabilité</a:t>
            </a:r>
            <a:endParaRPr lang="en-US" sz="1200" dirty="0"/>
          </a:p>
        </p:txBody>
      </p:sp>
      <p:sp>
        <p:nvSpPr>
          <p:cNvPr id="14" name="besoins"/>
          <p:cNvSpPr/>
          <p:nvPr/>
        </p:nvSpPr>
        <p:spPr>
          <a:xfrm>
            <a:off x="4709160" y="1280160"/>
            <a:ext cx="3977640" cy="3154680"/>
          </a:xfrm>
          <a:prstGeom prst="roundRect">
            <a:avLst>
              <a:gd name="adj" fmla="val 2319"/>
            </a:avLst>
          </a:prstGeom>
          <a:solidFill>
            <a:srgbClr val="FFFFFF"/>
          </a:solidFill>
          <a:ln/>
        </p:spPr>
      </p:sp>
      <p:sp>
        <p:nvSpPr>
          <p:cNvPr id="15" name="Text 13"/>
          <p:cNvSpPr txBox="1"/>
          <p:nvPr/>
        </p:nvSpPr>
        <p:spPr>
          <a:xfrm>
            <a:off x="4983480" y="1463040"/>
            <a:ext cx="3474720" cy="320040"/>
          </a:xfrm>
          <a:prstGeom prst="rect">
            <a:avLst/>
          </a:prstGeom>
          <a:noFill/>
          <a:ln/>
        </p:spPr>
        <p:txBody>
          <a:bodyPr wrap="square" lIns="0" tIns="0" rIns="0" bIns="0" rtlCol="0" anchor="t"/>
          <a:lstStyle/>
          <a:p>
            <a:pPr indent="0" marL="0">
              <a:buNone/>
            </a:pPr>
            <a:r>
              <a:rPr lang="en-US" sz="1600" b="1" dirty="0">
                <a:solidFill>
                  <a:schemeClr val="tx1"/>
                </a:solidFill>
              </a:rPr>
              <a:t>ce qui m'aiderait</a:t>
            </a:r>
            <a:endParaRPr lang="en-US" sz="1600" dirty="0"/>
          </a:p>
        </p:txBody>
      </p:sp>
      <p:sp>
        <p:nvSpPr>
          <p:cNvPr id="16" name="Shape 14"/>
          <p:cNvSpPr/>
          <p:nvPr/>
        </p:nvSpPr>
        <p:spPr>
          <a:xfrm>
            <a:off x="4983480" y="2020824"/>
            <a:ext cx="137160" cy="137160"/>
          </a:xfrm>
          <a:prstGeom prst="ellipse">
            <a:avLst/>
          </a:prstGeom>
          <a:solidFill>
            <a:schemeClr val="accent2"/>
          </a:solidFill>
          <a:ln/>
        </p:spPr>
      </p:sp>
      <p:sp>
        <p:nvSpPr>
          <p:cNvPr id="17" name="Text 15"/>
          <p:cNvSpPr txBox="1"/>
          <p:nvPr/>
        </p:nvSpPr>
        <p:spPr>
          <a:xfrm>
            <a:off x="5257800" y="1965960"/>
            <a:ext cx="3246120" cy="548640"/>
          </a:xfrm>
          <a:prstGeom prst="rect">
            <a:avLst/>
          </a:prstGeom>
          <a:noFill/>
          <a:ln/>
        </p:spPr>
        <p:txBody>
          <a:bodyPr wrap="square" lIns="0" tIns="0" rIns="0" bIns="0" rtlCol="0" anchor="t"/>
          <a:lstStyle/>
          <a:p>
            <a:pPr indent="0" marL="0">
              <a:buNone/>
            </a:pPr>
            <a:r>
              <a:rPr lang="en-US" sz="1200" dirty="0">
                <a:solidFill>
                  <a:schemeClr val="tx1"/>
                </a:solidFill>
              </a:rPr>
              <a:t>Votre avis sur le calendrier et le choix de luna</a:t>
            </a:r>
            <a:endParaRPr lang="en-US" sz="1200" dirty="0"/>
          </a:p>
        </p:txBody>
      </p:sp>
      <p:sp>
        <p:nvSpPr>
          <p:cNvPr id="18" name="Shape 16"/>
          <p:cNvSpPr/>
          <p:nvPr/>
        </p:nvSpPr>
        <p:spPr>
          <a:xfrm>
            <a:off x="4983480" y="2569464"/>
            <a:ext cx="137160" cy="137160"/>
          </a:xfrm>
          <a:prstGeom prst="ellipse">
            <a:avLst/>
          </a:prstGeom>
          <a:solidFill>
            <a:schemeClr val="accent2"/>
          </a:solidFill>
          <a:ln/>
        </p:spPr>
      </p:sp>
      <p:sp>
        <p:nvSpPr>
          <p:cNvPr id="19" name="Text 17"/>
          <p:cNvSpPr txBox="1"/>
          <p:nvPr/>
        </p:nvSpPr>
        <p:spPr>
          <a:xfrm>
            <a:off x="5257800" y="2514600"/>
            <a:ext cx="3246120" cy="548640"/>
          </a:xfrm>
          <a:prstGeom prst="rect">
            <a:avLst/>
          </a:prstGeom>
          <a:noFill/>
          <a:ln/>
        </p:spPr>
        <p:txBody>
          <a:bodyPr wrap="square" lIns="0" tIns="0" rIns="0" bIns="0" rtlCol="0" anchor="t"/>
          <a:lstStyle/>
          <a:p>
            <a:pPr indent="0" marL="0">
              <a:buNone/>
            </a:pPr>
            <a:r>
              <a:rPr lang="en-US" sz="1200" dirty="0">
                <a:solidFill>
                  <a:schemeClr val="tx1"/>
                </a:solidFill>
              </a:rPr>
              <a:t>Des contacts : incubateur, réseau d'anciens, experts</a:t>
            </a:r>
            <a:endParaRPr lang="en-US" sz="1200" dirty="0"/>
          </a:p>
        </p:txBody>
      </p:sp>
      <p:sp>
        <p:nvSpPr>
          <p:cNvPr id="20" name="Shape 18"/>
          <p:cNvSpPr/>
          <p:nvPr/>
        </p:nvSpPr>
        <p:spPr>
          <a:xfrm>
            <a:off x="4983480" y="3118104"/>
            <a:ext cx="137160" cy="137160"/>
          </a:xfrm>
          <a:prstGeom prst="ellipse">
            <a:avLst/>
          </a:prstGeom>
          <a:solidFill>
            <a:schemeClr val="accent2"/>
          </a:solidFill>
          <a:ln/>
        </p:spPr>
      </p:sp>
      <p:sp>
        <p:nvSpPr>
          <p:cNvPr id="21" name="Text 19"/>
          <p:cNvSpPr txBox="1"/>
          <p:nvPr/>
        </p:nvSpPr>
        <p:spPr>
          <a:xfrm>
            <a:off x="5257800" y="3063240"/>
            <a:ext cx="3246120" cy="548640"/>
          </a:xfrm>
          <a:prstGeom prst="rect">
            <a:avLst/>
          </a:prstGeom>
          <a:noFill/>
          <a:ln/>
        </p:spPr>
        <p:txBody>
          <a:bodyPr wrap="square" lIns="0" tIns="0" rIns="0" bIns="0" rtlCol="0" anchor="t"/>
          <a:lstStyle/>
          <a:p>
            <a:pPr indent="0" marL="0">
              <a:buNone/>
            </a:pPr>
            <a:r>
              <a:rPr lang="en-US" sz="1200" dirty="0">
                <a:solidFill>
                  <a:schemeClr val="tx1"/>
                </a:solidFill>
              </a:rPr>
              <a:t>L'accompagnement PÉPITE pour les démarches</a:t>
            </a:r>
            <a:endParaRPr lang="en-US" sz="1200" dirty="0"/>
          </a:p>
        </p:txBody>
      </p:sp>
      <p:sp>
        <p:nvSpPr>
          <p:cNvPr id="22" name="Shape 20"/>
          <p:cNvSpPr/>
          <p:nvPr/>
        </p:nvSpPr>
        <p:spPr>
          <a:xfrm>
            <a:off x="4983480" y="3666744"/>
            <a:ext cx="137160" cy="137160"/>
          </a:xfrm>
          <a:prstGeom prst="ellipse">
            <a:avLst/>
          </a:prstGeom>
          <a:solidFill>
            <a:schemeClr val="accent2"/>
          </a:solidFill>
          <a:ln/>
        </p:spPr>
      </p:sp>
      <p:sp>
        <p:nvSpPr>
          <p:cNvPr id="23" name="Text 21"/>
          <p:cNvSpPr txBox="1"/>
          <p:nvPr/>
        </p:nvSpPr>
        <p:spPr>
          <a:xfrm>
            <a:off x="5257800" y="3611880"/>
            <a:ext cx="3246120" cy="548640"/>
          </a:xfrm>
          <a:prstGeom prst="rect">
            <a:avLst/>
          </a:prstGeom>
          <a:noFill/>
          <a:ln/>
        </p:spPr>
        <p:txBody>
          <a:bodyPr wrap="square" lIns="0" tIns="0" rIns="0" bIns="0" rtlCol="0" anchor="t"/>
          <a:lstStyle/>
          <a:p>
            <a:pPr indent="0" marL="0">
              <a:buNone/>
            </a:pPr>
            <a:r>
              <a:rPr lang="en-US" sz="1200" dirty="0">
                <a:solidFill>
                  <a:schemeClr val="tx1"/>
                </a:solidFill>
              </a:rPr>
              <a:t>Des retours réguliers jusqu'à la soutenance</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photo-fin" descr="photo-fin">    </p:cNvPr>
          <p:cNvPicPr>
            <a:picLocks noChangeAspect="1"/>
          </p:cNvPicPr>
          <p:nvPr/>
        </p:nvPicPr>
        <p:blipFill>
          <a:blip r:embed="rId1"/>
          <a:stretch>
            <a:fillRect/>
          </a:stretch>
        </p:blipFill>
        <p:spPr>
          <a:xfrm>
            <a:off x="5120640" y="0"/>
            <a:ext cx="4023360" cy="5143500"/>
          </a:xfrm>
          <a:prstGeom prst="rect">
            <a:avLst/>
          </a:prstGeom>
        </p:spPr>
      </p:pic>
      <p:pic>
        <p:nvPicPr>
          <p:cNvPr id="3" name="logo-fin" descr="logo sip lab">    </p:cNvPr>
          <p:cNvPicPr>
            <a:picLocks noChangeAspect="1"/>
          </p:cNvPicPr>
          <p:nvPr/>
        </p:nvPicPr>
        <p:blipFill>
          <a:blip r:embed="rId2"/>
          <a:stretch>
            <a:fillRect/>
          </a:stretch>
        </p:blipFill>
        <p:spPr>
          <a:xfrm>
            <a:off x="365760" y="411480"/>
            <a:ext cx="1737360" cy="710335"/>
          </a:xfrm>
          <a:prstGeom prst="rect">
            <a:avLst/>
          </a:prstGeom>
        </p:spPr>
      </p:pic>
      <p:sp>
        <p:nvSpPr>
          <p:cNvPr id="4" name="Text 0"/>
          <p:cNvSpPr txBox="1"/>
          <p:nvPr/>
        </p:nvSpPr>
        <p:spPr>
          <a:xfrm>
            <a:off x="457200" y="1463040"/>
            <a:ext cx="4389120" cy="1188720"/>
          </a:xfrm>
          <a:prstGeom prst="rect">
            <a:avLst/>
          </a:prstGeom>
          <a:noFill/>
          <a:ln/>
        </p:spPr>
        <p:txBody>
          <a:bodyPr wrap="square" lIns="0" tIns="0" rIns="0" bIns="0" rtlCol="0" anchor="t"/>
          <a:lstStyle/>
          <a:p>
            <a:pPr indent="0" marL="0">
              <a:buNone/>
            </a:pPr>
            <a:r>
              <a:rPr lang="en-US" sz="3200" dirty="0">
                <a:solidFill>
                  <a:schemeClr val="bg2"/>
                </a:solidFill>
              </a:rPr>
              <a:t>merci, </a:t>
            </a:r>
            <a:pPr indent="0" marL="0">
              <a:buNone/>
            </a:pPr>
            <a:r>
              <a:rPr lang="en-US" sz="3200" i="1" dirty="0">
                <a:solidFill>
                  <a:schemeClr val="bg2"/>
                </a:solidFill>
                <a:latin typeface="Cambria" pitchFamily="34" charset="0"/>
                <a:ea typeface="Cambria" pitchFamily="34" charset="-122"/>
                <a:cs typeface="Cambria" pitchFamily="34" charset="-120"/>
              </a:rPr>
              <a:t>place aux questions</a:t>
            </a:r>
            <a:endParaRPr lang="en-US" sz="3200" dirty="0"/>
          </a:p>
        </p:txBody>
      </p:sp>
      <p:sp>
        <p:nvSpPr>
          <p:cNvPr id="5" name="Text 1"/>
          <p:cNvSpPr txBox="1"/>
          <p:nvPr/>
        </p:nvSpPr>
        <p:spPr>
          <a:xfrm>
            <a:off x="457200" y="2880360"/>
            <a:ext cx="4206240" cy="594360"/>
          </a:xfrm>
          <a:prstGeom prst="rect">
            <a:avLst/>
          </a:prstGeom>
          <a:noFill/>
          <a:ln/>
        </p:spPr>
        <p:txBody>
          <a:bodyPr wrap="square" lIns="0" tIns="0" rIns="0" bIns="0" rtlCol="0" anchor="t"/>
          <a:lstStyle/>
          <a:p>
            <a:pPr indent="0" marL="0">
              <a:buNone/>
            </a:pPr>
            <a:r>
              <a:rPr lang="en-US" sz="1400" dirty="0">
                <a:solidFill>
                  <a:srgbClr val="D6CFC6"/>
                </a:solidFill>
              </a:rPr>
              <a:t>Prochain jalon : le choix du fournisseur, fin novembre.</a:t>
            </a:r>
            <a:endParaRPr lang="en-US" sz="1400" dirty="0"/>
          </a:p>
        </p:txBody>
      </p:sp>
      <p:sp>
        <p:nvSpPr>
          <p:cNvPr id="6" name="Text 2"/>
          <p:cNvSpPr txBox="1"/>
          <p:nvPr/>
        </p:nvSpPr>
        <p:spPr>
          <a:xfrm>
            <a:off x="457200" y="4343400"/>
            <a:ext cx="4206240" cy="274320"/>
          </a:xfrm>
          <a:prstGeom prst="rect">
            <a:avLst/>
          </a:prstGeom>
          <a:noFill/>
          <a:ln/>
        </p:spPr>
        <p:txBody>
          <a:bodyPr wrap="square" lIns="0" tIns="0" rIns="0" bIns="0" rtlCol="0" anchor="t"/>
          <a:lstStyle/>
          <a:p>
            <a:pPr indent="0" marL="0">
              <a:buNone/>
            </a:pPr>
            <a:r>
              <a:rPr lang="en-US" sz="1100" dirty="0">
                <a:solidFill>
                  <a:srgbClr val="A99F96"/>
                </a:solidFill>
              </a:rPr>
              <a:t>Nisrine Margoum · M2 Entrepreneuriat &amp; Innovation</a:t>
            </a:r>
            <a:endParaRPr lang="en-US" sz="1100" dirty="0"/>
          </a:p>
        </p:txBody>
      </p:sp>
    </p:spTree>
  </p:cSld>
  <p:clrMapOvr>
    <a:masterClrMapping/>
  </p:clrMapOvr>
</p:sld>
</file>

<file path=ppt/theme/theme1.xml><?xml version="1.0" encoding="utf-8"?>
<a:theme xmlns:a="http://schemas.openxmlformats.org/drawingml/2006/main" name="straw">
  <a:themeElements>
    <a:clrScheme name="straw">
      <a:dk1>
        <a:srgbClr val="1F1C19"/>
      </a:dk1>
      <a:lt1>
        <a:srgbClr val="FFFFFF"/>
      </a:lt1>
      <a:dk2>
        <a:srgbClr val="5E5650"/>
      </a:dk2>
      <a:lt2>
        <a:srgbClr val="F4F2EF"/>
      </a:lt2>
      <a:accent1>
        <a:srgbClr val="C8475A"/>
      </a:accent1>
      <a:accent2>
        <a:srgbClr val="2E9C9A"/>
      </a:accent2>
      <a:accent3>
        <a:srgbClr val="F5B700"/>
      </a:accent3>
      <a:accent4>
        <a:srgbClr val="D98A6C"/>
      </a:accent4>
      <a:accent5>
        <a:srgbClr val="E9E4DD"/>
      </a:accent5>
      <a:accent6>
        <a:srgbClr val="8C4A6B"/>
      </a:accent6>
      <a:hlink>
        <a:srgbClr val="2E9C9A"/>
      </a:hlink>
      <a:folHlink>
        <a:srgbClr val="8C4A6B"/>
      </a:folHlink>
    </a:clrScheme>
    <a:fontScheme name="straw">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sip lab : point d avancement du projet</dc:title>
  <dc:subject>PptxGenJS Presentation</dc:subject>
  <dc:creator>Nisrine Margoum</dc:creator>
  <cp:lastModifiedBy>Nisrine Margoum</cp:lastModifiedBy>
  <cp:revision>1</cp:revision>
  <dcterms:created xsi:type="dcterms:W3CDTF">2026-10-13T09:50:22Z</dcterms:created>
  <dcterms:modified xsi:type="dcterms:W3CDTF">2026-10-13T09:50:22Z</dcterms:modified>
</cp:coreProperties>
</file>