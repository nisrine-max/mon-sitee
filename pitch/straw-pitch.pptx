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7204aea3-ca7a-ed80-3384-739de0b47224}">
          <p14:sldIdLst>
            <p14:sldId id="256"/>
          </p14:sldIdLst>
        </p14:section>
        <p14:section name="Problème &amp; solution" id="{4632e516-8fbd-2a72-1e52-070e455ff1c2}">
          <p14:sldIdLst>
            <p14:sldId id="257"/>
            <p14:sldId id="258"/>
            <p14:sldId id="259"/>
          </p14:sldIdLst>
        </p14:section>
        <p14:section name="Marché" id="{6d482c56-6024-d019-550d-5fec3f7702f2}">
          <p14:sldIdLst>
            <p14:sldId id="260"/>
            <p14:sldId id="261"/>
            <p14:sldId id="262"/>
          </p14:sldIdLst>
        </p14:section>
        <p14:section name="Modèle &amp; croissance" id="{120cc276-6f5b-7d4a-8d7e-26268a82916c}">
          <p14:sldIdLst>
            <p14:sldId id="263"/>
            <p14:sldId id="264"/>
            <p14:sldId id="265"/>
          </p14:sldIdLst>
        </p14:section>
        <p14:section name="Équipe &amp; financement" id="{5187e759-a25d-f3de-b1b1-d79d06b7458d}">
          <p14:sldIdLst>
            <p14:sldId id="266"/>
            <p14:sldId id="267"/>
          </p14:sldIdLst>
        </p14:section>
        <p14:section name="Conclusion" id="{78b14caa-e71b-c7f3-d99e-009415409f01}">
          <p14:sldIdLst>
            <p14:sldId id="268"/>
          </p14:sldIdLst>
        </p14:section>
        <p14:section name="Annexe" id="{089db976-a57a-2299-cd49-23679e441745}">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Utilisation des fonds</c:v>
                </c:pt>
              </c:strCache>
            </c:strRef>
          </c:tx>
          <c:spPr>
            <a:solidFill>
              <a:schemeClr val="accent1"/>
            </a:solidFill>
            <a:ln w="9525" cap="flat">
              <a:solidFill>
                <a:srgbClr val="F9F9F9"/>
              </a:solidFill>
              <a:prstDash val="solid"/>
              <a:round/>
            </a:ln>
            <a:effectLst/>
          </c:spPr>
          <c:dPt>
            <c:idx val="0"/>
            <c:bubble3D val="0"/>
            <c:spPr>
              <a:solidFill>
                <a:srgbClr val="D98A6C"/>
              </a:solidFill>
              <a:effectLst/>
            </c:spPr>
          </c:dPt>
          <c:dPt>
            <c:idx val="1"/>
            <c:bubble3D val="0"/>
            <c:spPr>
              <a:solidFill>
                <a:srgbClr val="C8475A"/>
              </a:solidFill>
              <a:effectLst/>
            </c:spPr>
          </c:dPt>
          <c:dPt>
            <c:idx val="2"/>
            <c:bubble3D val="0"/>
            <c:spPr>
              <a:solidFill>
                <a:srgbClr val="F5B700"/>
              </a:solidFill>
              <a:effectLst/>
            </c:spPr>
          </c:dPt>
          <c:dPt>
            <c:idx val="3"/>
            <c:bubble3D val="0"/>
            <c:spPr>
              <a:solidFill>
                <a:srgbClr val="2E9C9A"/>
              </a:solidFill>
              <a:effectLst/>
            </c:spPr>
          </c:dPt>
          <c:dLbls>
            <c:dLbl>
              <c:idx val="0"/>
              <c:numFmt formatCode="0%" sourceLinked="0"/>
              <c:spPr/>
              <c:txPr>
                <a:bodyPr/>
                <a:lstStyle/>
                <a:p>
                  <a:pPr>
                    <a:defRPr sz="9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mn-lt"/>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R&amp;D et tests produit</c:v>
                </c:pt>
                <c:pt idx="1">
                  <c:v>Premier stock</c:v>
                </c:pt>
                <c:pt idx="2">
                  <c:v>Marketing de lancement</c:v>
                </c:pt>
                <c:pt idx="3">
                  <c:v>Réglementaire</c:v>
                </c:pt>
              </c:strCache>
            </c:strRef>
          </c:cat>
          <c:val>
            <c:numRef>
              <c:f>Sheet1!$B$2:$B$5</c:f>
              <c:numCache>
                <c:ptCount val="4"/>
                <c:pt idx="0">
                  <c:v>35</c:v>
                </c:pt>
                <c:pt idx="1">
                  <c:v>25</c:v>
                </c:pt>
                <c:pt idx="2">
                  <c:v>25</c:v>
                </c:pt>
                <c:pt idx="3">
                  <c:v>15</c:v>
                </c:pt>
              </c:numCache>
            </c:numRef>
          </c:val>
        </c:ser>
        <c:firstSliceAng val="0"/>
        <c:holeSize val="55"/>
      </c:doughnutChart>
      <c:spPr>
        <a:noFill/>
        <a:ln>
          <a:noFill/>
        </a:ln>
        <a:effectLst/>
      </c:spPr>
    </c:plotArea>
    <c:legend>
      <c:legendPos val="r"/>
      <c:overlay val="0"/>
      <c:txPr>
        <a:bodyPr/>
        <a:lstStyle/>
        <a:p>
          <a:pPr>
            <a:defRPr sz="1000">
              <a:solidFill>
                <a:srgbClr val="1F1C1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0:25] Bonjour. Je m'appelle Nisrine Margoum et je vous présente straw., la paille active. Une question simple pour commencer : qui ici a déjà acheté un complément alimentaire… et l'a oublié au fond d'un placard ? C'est exactement de là que part straw.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 1:05] Les compléments, deux Français sur trois en prennent. Mais le geste ne suit pas. Entre 15 et 20 % des adultes ont du mal à avaler un comprimé, et selon l'OMS, seul un patient sur deux suit vraiment un traitement au long cours. Concrètement : les enfants refusent le sirop, les seniors peinent avec les gélules, et nous, on oublie le pot. Le problème n'est pas l'actif. C'est le geste.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 1:40] Ma solution : straw., une paille qui contient des micro-billes d'actifs aromatisées. On la met dans la boisson qu'on boit déjà, on boit normalement, et quand les billes ont disparu, la dose est prise. Rien à avaler, sans sucre ajouté, et la dose se voit. Chaque étui contient 7 pailles : une semaine de routine. La technologie de la paille existe déjà : je travaille avec un fabricant partenaire.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 2:20] Et parce que le geste de boire est universel, straw. se décline en quatre gammes, avec la même paille et le même étui, mais des actifs dosés pour chaque âge. mini pour les enfants, avec un tableau de stickers. active pour les femmes actives : matin, sport, sommeil. luna pour la santé féminine : règles, grossesse, ménopause. Et silver pour les seniors, avec une paille qui les aide aussi à boire plus. Seize pailles au total, et uniquement des allégations de santé autorisées par l'Europe.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 – 2:55] Le marché est là. Les compléments alimentaires pèsent environ 3 milliards d'euros en France, et continuent de croître. Deux Français sur trois en consomment, la consommation a doublé en dix ans, et la pharmacie reste le premier circuit. Ce qui tire le marché : la vitalité, l'immunité, le stress et le sommeil. Exactement les besoins que couvrent nos pailles.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 – 3:40] Chaque gamme répond à une cible qui pèse. Côté enfants, près d'un sur cinq prend déjà des compléments, et les parents cherchent des formes ludiques. Les femmes représentent la majorité des consommateurs, avec un premier besoin : stress, fatigue, sommeil. La ménopause concerne 14 millions de femmes en France et ses ventes progressent. Et 22 % des Français ont plus de 65 ans, avec souvent des difficultés à avaler. Quatre cibles, un seul objet.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 – 4:10] Face aux gélules, aux gummies et aux poudres, straw. est le seul format où il n'y a rien à avaler, pas de sucre ajouté, et une dose visible. Surtout, c'est le même geste pour un enfant de 6 ans et pour son grand-père. Et chaque prise, c'est aussi un verre bu : un vrai plus pour l'hydratation des seniors.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 – 4:40] Où en suis-je ? L'étude de marché, les personas, le positionnement et l'identité des quatre gammes sont faits, et le site vitrine est prêt avec une liste d'attente. Les prochaines étapes : des entretiens dans chaque cible, des tests de goût et de dissolution, le prototype avec le fabricant et la validation réglementaire des formules.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 – 5:10] Le modèle repose d'abord sur l'abonnement en ligne : des revenus récurrents. S'ajoutent les coffrets, qui se prêtent au cadeau, puis la pharmacie, premier circuit des compléments en France. Les prix que vous voyez sont indicatifs : autour de 9 euros l'étui, environ un euro la paille en abonnement. Je le précise : ils sont fictifs tant que je n'ai pas les devis de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 – 5:45] Je ne lance pas tout en même temps. On commence par straw. active, en ligne, avec une communauté et des micro-créatrices. Puis luna, pour les mêmes clientes. Puis mini : ces femmes sont aussi des mamans. Et enfin silver, avec les pharmacies et les résidences seniors. La famille devient le canal de croissance : une cliente fait entrer toute sa famille.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 – 6:15] Je porte ce projet seule, avec un double profil : la science, grâce à mon master Biologie-Santé, les actifs grâce à mon expérience de cheffe de produit en cosmétique, et l'entrepreneuriat avec mon master à l'IAE. Pour aller plus loin, je m'entoure : un fabricant pour la paille, un expert réglementaire, un comité santé avec pédiatre, sage-femme et gériatre, et un profil e-commerce.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 – 6:45] Pour lancer straw. active, j'estime un besoin d'amorçage d'environ 150 000 euros : d'abord la R&amp;D et les tests produit, puis un premier stock, le marketing de lancement et le réglementaire. Pour démarrer, je m'appuie sur mon apport personnel et sur la love money, ma famille et mes proches. Ensuite, je solliciterai des prêts d'honneur et des aides publiques, comme Initiative France, Réseau Entreprendre ou Bpifrance. Je suis transparente : ces montants sont indicatifs, car je n'ai pas encore le coût de production. La rentabilité viendra de l'abonnement, et je la chiffrerai dès que j'aurai les devis.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[6:45 – 7:00] Le problème n'a jamais été l'actif, c'était le geste. Avec straw., ce geste, c'est boire : un geste que toute la famille fait déjà, de 4 à 104 ans. Alors, et vous, vous en reprendriez une gorgée ? Merci.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d'annexe, à montrer seulement si le jury pose une question sur les chiffres.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900" dirty="0">
                <a:solidFill>
                  <a:schemeClr val="tx2"/>
                </a:solidFill>
              </a:rPr>
              <a:t>straw. la paille active</a:t>
            </a:r>
            <a:endParaRPr lang="en-US" sz="900" dirty="0"/>
          </a:p>
        </p:txBody>
      </p:sp>
      <p:sp>
        <p:nvSpPr>
          <p:cNvPr id="3" name="Text 1"/>
          <p:cNvSpPr/>
          <p:nvPr>
            <p:ph idx="101" type="body" hasCustomPrompt="1"/>
          </p:nvPr>
        </p:nvSpPr>
        <p:spPr>
          <a:xfrm>
            <a:off x="457200" y="292608"/>
            <a:ext cx="8229600" cy="228600"/>
          </a:xfrm>
          <a:prstGeom prst="rect">
            <a:avLst/>
          </a:prstGeom>
          <a:noFill/>
          <a:ln/>
        </p:spPr>
        <p:txBody>
          <a:bodyPr wrap="square" rtlCol="0"/>
          <a:lstStyle>
            <a:lvl1pPr indent="0" marL="0">
              <a:buNone/>
              <a:defRPr lang="en-US" sz="1000" b="1" spc="200" kern="0" dirty="0">
                <a:solidFill>
                  <a:schemeClr val="tx2"/>
                </a:solidFill>
              </a:defRPr>
            </a:lvl1pPr>
          </a:lstStyle>
          <a:p>
            <a:pPr indent="0" marL="0">
              <a:buNone/>
            </a:pPr>
            <a:endParaRPr lang="en-US" sz="1000" dirty="0"/>
          </a:p>
        </p:txBody>
      </p:sp>
      <p:sp>
        <p:nvSpPr>
          <p:cNvPr id="4" name="Text 1"/>
          <p:cNvSpPr/>
          <p:nvPr>
            <p:ph idx="102" type="title" hasCustomPrompt="1"/>
          </p:nvPr>
        </p:nvSpPr>
        <p:spPr>
          <a:xfrm>
            <a:off x="457200" y="502920"/>
            <a:ext cx="8229600" cy="594360"/>
          </a:xfrm>
          <a:prstGeom prst="rect">
            <a:avLst/>
          </a:prstGeom>
          <a:noFill/>
          <a:ln/>
        </p:spPr>
        <p:txBody>
          <a:bodyPr wrap="square" rtlCol="0"/>
          <a:lstStyle>
            <a:lvl1pPr algn="l" indent="0" marL="0">
              <a:buNone/>
              <a:defRPr lang="en-US" sz="2800"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822960"/>
            <a:ext cx="4023360" cy="1005840"/>
          </a:xfrm>
          <a:prstGeom prst="rect">
            <a:avLst/>
          </a:prstGeom>
          <a:noFill/>
          <a:ln/>
        </p:spPr>
        <p:txBody>
          <a:bodyPr wrap="square" lIns="0" tIns="0" rIns="0" bIns="0" rtlCol="0" anchor="ctr"/>
          <a:lstStyle/>
          <a:p>
            <a:pPr indent="0" marL="0">
              <a:buNone/>
            </a:pPr>
            <a:r>
              <a:rPr lang="en-US" sz="6600" b="1" spc="-200" kern="0" dirty="0">
                <a:solidFill>
                  <a:schemeClr val="bg2"/>
                </a:solidFill>
              </a:rPr>
              <a:t>straw.</a:t>
            </a:r>
            <a:endParaRPr lang="en-US" sz="6600" dirty="0"/>
          </a:p>
        </p:txBody>
      </p:sp>
      <p:sp>
        <p:nvSpPr>
          <p:cNvPr id="3" name="bead0"/>
          <p:cNvSpPr/>
          <p:nvPr/>
        </p:nvSpPr>
        <p:spPr>
          <a:xfrm>
            <a:off x="502920" y="1920240"/>
            <a:ext cx="164592" cy="164592"/>
          </a:xfrm>
          <a:prstGeom prst="ellipse">
            <a:avLst/>
          </a:prstGeom>
          <a:solidFill>
            <a:schemeClr val="accent3"/>
          </a:solidFill>
          <a:ln/>
        </p:spPr>
      </p:sp>
      <p:sp>
        <p:nvSpPr>
          <p:cNvPr id="4" name="bead1"/>
          <p:cNvSpPr/>
          <p:nvPr/>
        </p:nvSpPr>
        <p:spPr>
          <a:xfrm>
            <a:off x="758952" y="1920240"/>
            <a:ext cx="164592" cy="164592"/>
          </a:xfrm>
          <a:prstGeom prst="ellipse">
            <a:avLst/>
          </a:prstGeom>
          <a:solidFill>
            <a:schemeClr val="accent4"/>
          </a:solidFill>
          <a:ln/>
        </p:spPr>
      </p:sp>
      <p:sp>
        <p:nvSpPr>
          <p:cNvPr id="5" name="bead2"/>
          <p:cNvSpPr/>
          <p:nvPr/>
        </p:nvSpPr>
        <p:spPr>
          <a:xfrm>
            <a:off x="1014984" y="1920240"/>
            <a:ext cx="164592" cy="164592"/>
          </a:xfrm>
          <a:prstGeom prst="ellipse">
            <a:avLst/>
          </a:prstGeom>
          <a:solidFill>
            <a:schemeClr val="accent1"/>
          </a:solidFill>
          <a:ln/>
        </p:spPr>
      </p:sp>
      <p:sp>
        <p:nvSpPr>
          <p:cNvPr id="6" name="bead3"/>
          <p:cNvSpPr/>
          <p:nvPr/>
        </p:nvSpPr>
        <p:spPr>
          <a:xfrm>
            <a:off x="1271016" y="1920240"/>
            <a:ext cx="164592" cy="164592"/>
          </a:xfrm>
          <a:prstGeom prst="ellipse">
            <a:avLst/>
          </a:prstGeom>
          <a:solidFill>
            <a:schemeClr val="accent2"/>
          </a:solidFill>
          <a:ln/>
        </p:spPr>
      </p:sp>
      <p:sp>
        <p:nvSpPr>
          <p:cNvPr id="7" name="Text 5"/>
          <p:cNvSpPr txBox="1"/>
          <p:nvPr/>
        </p:nvSpPr>
        <p:spPr>
          <a:xfrm>
            <a:off x="457200" y="2240280"/>
            <a:ext cx="4023360" cy="548640"/>
          </a:xfrm>
          <a:prstGeom prst="rect">
            <a:avLst/>
          </a:prstGeom>
          <a:noFill/>
          <a:ln/>
        </p:spPr>
        <p:txBody>
          <a:bodyPr wrap="square" lIns="0" tIns="0" rIns="0" bIns="0" rtlCol="0" anchor="ctr"/>
          <a:lstStyle/>
          <a:p>
            <a:pPr indent="0" marL="0">
              <a:buNone/>
            </a:pPr>
            <a:r>
              <a:rPr lang="en-US" sz="2600" i="1" dirty="0">
                <a:solidFill>
                  <a:schemeClr val="bg2"/>
                </a:solidFill>
                <a:latin typeface="Cambria" pitchFamily="34" charset="0"/>
                <a:ea typeface="Cambria" pitchFamily="34" charset="-122"/>
                <a:cs typeface="Cambria" pitchFamily="34" charset="-120"/>
              </a:rPr>
              <a:t>une gorgée pour chaque âge</a:t>
            </a:r>
            <a:endParaRPr lang="en-US" sz="2600" dirty="0"/>
          </a:p>
        </p:txBody>
      </p:sp>
      <p:sp>
        <p:nvSpPr>
          <p:cNvPr id="8" name="Text 6"/>
          <p:cNvSpPr txBox="1"/>
          <p:nvPr/>
        </p:nvSpPr>
        <p:spPr>
          <a:xfrm>
            <a:off x="457200" y="2834640"/>
            <a:ext cx="3840480" cy="594360"/>
          </a:xfrm>
          <a:prstGeom prst="rect">
            <a:avLst/>
          </a:prstGeom>
          <a:noFill/>
          <a:ln/>
        </p:spPr>
        <p:txBody>
          <a:bodyPr wrap="square" lIns="0" tIns="0" rIns="0" bIns="0" rtlCol="0" anchor="ctr"/>
          <a:lstStyle/>
          <a:p>
            <a:pPr indent="0" marL="0">
              <a:buNone/>
            </a:pPr>
            <a:r>
              <a:rPr lang="en-US" sz="1400" dirty="0">
                <a:solidFill>
                  <a:srgbClr val="D6CFC6"/>
                </a:solidFill>
              </a:rPr>
              <a:t>La paille active : des compléments alimentaires à boire, en 4 gammes, de 4 à 104 ans.</a:t>
            </a:r>
            <a:endParaRPr lang="en-US" sz="1400" dirty="0"/>
          </a:p>
        </p:txBody>
      </p:sp>
      <p:sp>
        <p:nvSpPr>
          <p:cNvPr id="9" name="Text 7"/>
          <p:cNvSpPr txBox="1"/>
          <p:nvPr/>
        </p:nvSpPr>
        <p:spPr>
          <a:xfrm>
            <a:off x="457200" y="4343400"/>
            <a:ext cx="4023360" cy="274320"/>
          </a:xfrm>
          <a:prstGeom prst="rect">
            <a:avLst/>
          </a:prstGeom>
          <a:noFill/>
          <a:ln/>
        </p:spPr>
        <p:txBody>
          <a:bodyPr wrap="square" lIns="0" tIns="0" rIns="0" bIns="0" rtlCol="0" anchor="ctr"/>
          <a:lstStyle/>
          <a:p>
            <a:pPr indent="0" marL="0">
              <a:buNone/>
            </a:pPr>
            <a:r>
              <a:rPr lang="en-US" sz="1100" dirty="0">
                <a:solidFill>
                  <a:srgbClr val="A99F96"/>
                </a:solidFill>
              </a:rPr>
              <a:t>Nisrine Margoum · fondatrice · pitch investisseurs</a:t>
            </a:r>
            <a:endParaRPr lang="en-US" sz="1100" dirty="0"/>
          </a:p>
        </p:txBody>
      </p:sp>
      <p:pic>
        <p:nvPicPr>
          <p:cNvPr id="10" name="cover-mini" descr="cover-mini">    </p:cNvPr>
          <p:cNvPicPr>
            <a:picLocks noChangeAspect="1"/>
          </p:cNvPicPr>
          <p:nvPr/>
        </p:nvPicPr>
        <p:blipFill>
          <a:blip r:embed="rId1"/>
          <a:stretch>
            <a:fillRect/>
          </a:stretch>
        </p:blipFill>
        <p:spPr>
          <a:xfrm>
            <a:off x="4572000" y="457200"/>
            <a:ext cx="2011680" cy="2057400"/>
          </a:xfrm>
          <a:prstGeom prst="rect">
            <a:avLst/>
          </a:prstGeom>
        </p:spPr>
      </p:pic>
      <p:sp>
        <p:nvSpPr>
          <p:cNvPr id="11" name="tag-mini"/>
          <p:cNvSpPr/>
          <p:nvPr/>
        </p:nvSpPr>
        <p:spPr>
          <a:xfrm>
            <a:off x="4681728" y="2103120"/>
            <a:ext cx="832104" cy="292608"/>
          </a:xfrm>
          <a:prstGeom prst="roundRect">
            <a:avLst>
              <a:gd name="adj" fmla="val 50000"/>
            </a:avLst>
          </a:prstGeom>
          <a:solidFill>
            <a:schemeClr val="bg2"/>
          </a:solidFill>
          <a:ln/>
        </p:spPr>
      </p:sp>
      <p:sp>
        <p:nvSpPr>
          <p:cNvPr id="12" name="Shape 9"/>
          <p:cNvSpPr/>
          <p:nvPr/>
        </p:nvSpPr>
        <p:spPr>
          <a:xfrm>
            <a:off x="4773168" y="2185416"/>
            <a:ext cx="128016" cy="128016"/>
          </a:xfrm>
          <a:prstGeom prst="ellipse">
            <a:avLst/>
          </a:prstGeom>
          <a:solidFill>
            <a:schemeClr val="accent3"/>
          </a:solidFill>
          <a:ln/>
        </p:spPr>
      </p:sp>
      <p:sp>
        <p:nvSpPr>
          <p:cNvPr id="13" name="Text 10"/>
          <p:cNvSpPr txBox="1"/>
          <p:nvPr/>
        </p:nvSpPr>
        <p:spPr>
          <a:xfrm>
            <a:off x="4956048" y="2103120"/>
            <a:ext cx="557784" cy="292608"/>
          </a:xfrm>
          <a:prstGeom prst="rect">
            <a:avLst/>
          </a:prstGeom>
          <a:noFill/>
          <a:ln/>
        </p:spPr>
        <p:txBody>
          <a:bodyPr wrap="square" lIns="0" tIns="0" rIns="0" bIns="0" rtlCol="0" anchor="ctr"/>
          <a:lstStyle/>
          <a:p>
            <a:pPr indent="0" marL="0">
              <a:buNone/>
            </a:pPr>
            <a:r>
              <a:rPr lang="en-US" sz="1200" b="1" dirty="0">
                <a:solidFill>
                  <a:schemeClr val="tx1"/>
                </a:solidFill>
              </a:rPr>
              <a:t>mini</a:t>
            </a:r>
            <a:endParaRPr lang="en-US" sz="1200" dirty="0"/>
          </a:p>
        </p:txBody>
      </p:sp>
      <p:pic>
        <p:nvPicPr>
          <p:cNvPr id="14" name="cover-active" descr="cover-active">    </p:cNvPr>
          <p:cNvPicPr>
            <a:picLocks noChangeAspect="1"/>
          </p:cNvPicPr>
          <p:nvPr/>
        </p:nvPicPr>
        <p:blipFill>
          <a:blip r:embed="rId2"/>
          <a:stretch>
            <a:fillRect/>
          </a:stretch>
        </p:blipFill>
        <p:spPr>
          <a:xfrm>
            <a:off x="6675120" y="457200"/>
            <a:ext cx="2011680" cy="2057400"/>
          </a:xfrm>
          <a:prstGeom prst="rect">
            <a:avLst/>
          </a:prstGeom>
        </p:spPr>
      </p:pic>
      <p:sp>
        <p:nvSpPr>
          <p:cNvPr id="15" name="tag-active"/>
          <p:cNvSpPr/>
          <p:nvPr/>
        </p:nvSpPr>
        <p:spPr>
          <a:xfrm>
            <a:off x="6784848" y="2103120"/>
            <a:ext cx="996696" cy="292608"/>
          </a:xfrm>
          <a:prstGeom prst="roundRect">
            <a:avLst>
              <a:gd name="adj" fmla="val 50000"/>
            </a:avLst>
          </a:prstGeom>
          <a:solidFill>
            <a:schemeClr val="bg2"/>
          </a:solidFill>
          <a:ln/>
        </p:spPr>
      </p:sp>
      <p:sp>
        <p:nvSpPr>
          <p:cNvPr id="16" name="Shape 12"/>
          <p:cNvSpPr/>
          <p:nvPr/>
        </p:nvSpPr>
        <p:spPr>
          <a:xfrm>
            <a:off x="6876288" y="2185416"/>
            <a:ext cx="128016" cy="128016"/>
          </a:xfrm>
          <a:prstGeom prst="ellipse">
            <a:avLst/>
          </a:prstGeom>
          <a:solidFill>
            <a:schemeClr val="accent4"/>
          </a:solidFill>
          <a:ln/>
        </p:spPr>
      </p:sp>
      <p:sp>
        <p:nvSpPr>
          <p:cNvPr id="17" name="Text 13"/>
          <p:cNvSpPr txBox="1"/>
          <p:nvPr/>
        </p:nvSpPr>
        <p:spPr>
          <a:xfrm>
            <a:off x="7059168" y="2103120"/>
            <a:ext cx="722376" cy="292608"/>
          </a:xfrm>
          <a:prstGeom prst="rect">
            <a:avLst/>
          </a:prstGeom>
          <a:noFill/>
          <a:ln/>
        </p:spPr>
        <p:txBody>
          <a:bodyPr wrap="square" lIns="0" tIns="0" rIns="0" bIns="0" rtlCol="0" anchor="ctr"/>
          <a:lstStyle/>
          <a:p>
            <a:pPr indent="0" marL="0">
              <a:buNone/>
            </a:pPr>
            <a:r>
              <a:rPr lang="en-US" sz="1200" b="1" dirty="0">
                <a:solidFill>
                  <a:schemeClr val="tx1"/>
                </a:solidFill>
              </a:rPr>
              <a:t>active</a:t>
            </a:r>
            <a:endParaRPr lang="en-US" sz="1200" dirty="0"/>
          </a:p>
        </p:txBody>
      </p:sp>
      <p:pic>
        <p:nvPicPr>
          <p:cNvPr id="18" name="cover-luna" descr="cover-luna">    </p:cNvPr>
          <p:cNvPicPr>
            <a:picLocks noChangeAspect="1"/>
          </p:cNvPicPr>
          <p:nvPr/>
        </p:nvPicPr>
        <p:blipFill>
          <a:blip r:embed="rId3"/>
          <a:stretch>
            <a:fillRect/>
          </a:stretch>
        </p:blipFill>
        <p:spPr>
          <a:xfrm>
            <a:off x="4572000" y="2606040"/>
            <a:ext cx="2011680" cy="2057400"/>
          </a:xfrm>
          <a:prstGeom prst="rect">
            <a:avLst/>
          </a:prstGeom>
        </p:spPr>
      </p:pic>
      <p:sp>
        <p:nvSpPr>
          <p:cNvPr id="19" name="tag-luna"/>
          <p:cNvSpPr/>
          <p:nvPr/>
        </p:nvSpPr>
        <p:spPr>
          <a:xfrm>
            <a:off x="4681728" y="4251960"/>
            <a:ext cx="832104" cy="292608"/>
          </a:xfrm>
          <a:prstGeom prst="roundRect">
            <a:avLst>
              <a:gd name="adj" fmla="val 50000"/>
            </a:avLst>
          </a:prstGeom>
          <a:solidFill>
            <a:schemeClr val="bg2"/>
          </a:solidFill>
          <a:ln/>
        </p:spPr>
      </p:sp>
      <p:sp>
        <p:nvSpPr>
          <p:cNvPr id="20" name="Shape 15"/>
          <p:cNvSpPr/>
          <p:nvPr/>
        </p:nvSpPr>
        <p:spPr>
          <a:xfrm>
            <a:off x="4773168" y="4334256"/>
            <a:ext cx="128016" cy="128016"/>
          </a:xfrm>
          <a:prstGeom prst="ellipse">
            <a:avLst/>
          </a:prstGeom>
          <a:solidFill>
            <a:schemeClr val="accent1"/>
          </a:solidFill>
          <a:ln/>
        </p:spPr>
      </p:sp>
      <p:sp>
        <p:nvSpPr>
          <p:cNvPr id="21" name="Text 16"/>
          <p:cNvSpPr txBox="1"/>
          <p:nvPr/>
        </p:nvSpPr>
        <p:spPr>
          <a:xfrm>
            <a:off x="4956048" y="4251960"/>
            <a:ext cx="557784" cy="292608"/>
          </a:xfrm>
          <a:prstGeom prst="rect">
            <a:avLst/>
          </a:prstGeom>
          <a:noFill/>
          <a:ln/>
        </p:spPr>
        <p:txBody>
          <a:bodyPr wrap="square" lIns="0" tIns="0" rIns="0" bIns="0" rtlCol="0" anchor="ctr"/>
          <a:lstStyle/>
          <a:p>
            <a:pPr indent="0" marL="0">
              <a:buNone/>
            </a:pPr>
            <a:r>
              <a:rPr lang="en-US" sz="1200" b="1" dirty="0">
                <a:solidFill>
                  <a:schemeClr val="tx1"/>
                </a:solidFill>
              </a:rPr>
              <a:t>luna</a:t>
            </a:r>
            <a:endParaRPr lang="en-US" sz="1200" dirty="0"/>
          </a:p>
        </p:txBody>
      </p:sp>
      <p:pic>
        <p:nvPicPr>
          <p:cNvPr id="22" name="cover-silver" descr="cover-silver">    </p:cNvPr>
          <p:cNvPicPr>
            <a:picLocks noChangeAspect="1"/>
          </p:cNvPicPr>
          <p:nvPr/>
        </p:nvPicPr>
        <p:blipFill>
          <a:blip r:embed="rId4"/>
          <a:stretch>
            <a:fillRect/>
          </a:stretch>
        </p:blipFill>
        <p:spPr>
          <a:xfrm>
            <a:off x="6675120" y="2606040"/>
            <a:ext cx="2011680" cy="2057400"/>
          </a:xfrm>
          <a:prstGeom prst="rect">
            <a:avLst/>
          </a:prstGeom>
        </p:spPr>
      </p:pic>
      <p:sp>
        <p:nvSpPr>
          <p:cNvPr id="23" name="tag-silver"/>
          <p:cNvSpPr/>
          <p:nvPr/>
        </p:nvSpPr>
        <p:spPr>
          <a:xfrm>
            <a:off x="6784848" y="4251960"/>
            <a:ext cx="996696" cy="292608"/>
          </a:xfrm>
          <a:prstGeom prst="roundRect">
            <a:avLst>
              <a:gd name="adj" fmla="val 50000"/>
            </a:avLst>
          </a:prstGeom>
          <a:solidFill>
            <a:schemeClr val="bg2"/>
          </a:solidFill>
          <a:ln/>
        </p:spPr>
      </p:sp>
      <p:sp>
        <p:nvSpPr>
          <p:cNvPr id="24" name="Shape 18"/>
          <p:cNvSpPr/>
          <p:nvPr/>
        </p:nvSpPr>
        <p:spPr>
          <a:xfrm>
            <a:off x="6876288" y="4334256"/>
            <a:ext cx="128016" cy="128016"/>
          </a:xfrm>
          <a:prstGeom prst="ellipse">
            <a:avLst/>
          </a:prstGeom>
          <a:solidFill>
            <a:schemeClr val="accent2"/>
          </a:solidFill>
          <a:ln/>
        </p:spPr>
      </p:sp>
      <p:sp>
        <p:nvSpPr>
          <p:cNvPr id="25" name="Text 19"/>
          <p:cNvSpPr txBox="1"/>
          <p:nvPr/>
        </p:nvSpPr>
        <p:spPr>
          <a:xfrm>
            <a:off x="7059168" y="4251960"/>
            <a:ext cx="722376" cy="292608"/>
          </a:xfrm>
          <a:prstGeom prst="rect">
            <a:avLst/>
          </a:prstGeom>
          <a:noFill/>
          <a:ln/>
        </p:spPr>
        <p:txBody>
          <a:bodyPr wrap="square" lIns="0" tIns="0" rIns="0" bIns="0" rtlCol="0" anchor="ctr"/>
          <a:lstStyle/>
          <a:p>
            <a:pPr indent="0" marL="0">
              <a:buNone/>
            </a:pPr>
            <a:r>
              <a:rPr lang="en-US" sz="1200" b="1" dirty="0">
                <a:solidFill>
                  <a:schemeClr val="tx1"/>
                </a:solidFill>
              </a:rPr>
              <a:t>silver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LE PROBLÈME</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le problème n'est pas l'actif, </a:t>
            </a:r>
            <a:pPr algn="l" indent="0" marL="0">
              <a:buNone/>
            </a:pPr>
            <a:r>
              <a:rPr lang="en-US" sz="2800" i="1" dirty="0">
                <a:solidFill>
                  <a:schemeClr val="tx1"/>
                </a:solidFill>
                <a:latin typeface="Cambria" pitchFamily="34" charset="0"/>
                <a:ea typeface="Cambria" pitchFamily="34" charset="-122"/>
                <a:cs typeface="Cambria" pitchFamily="34" charset="-120"/>
              </a:rPr>
              <a:t>c'est le geste</a:t>
            </a:r>
            <a:endParaRPr lang="en-US" sz="2800" dirty="0"/>
          </a:p>
        </p:txBody>
      </p:sp>
      <p:sp>
        <p:nvSpPr>
          <p:cNvPr id="4" name="Text 2"/>
          <p:cNvSpPr txBox="1"/>
          <p:nvPr/>
        </p:nvSpPr>
        <p:spPr>
          <a:xfrm>
            <a:off x="457200" y="1325880"/>
            <a:ext cx="2743200" cy="548640"/>
          </a:xfrm>
          <a:prstGeom prst="rect">
            <a:avLst/>
          </a:prstGeom>
          <a:noFill/>
          <a:ln/>
        </p:spPr>
        <p:txBody>
          <a:bodyPr wrap="square" lIns="0" tIns="0" rIns="0" bIns="0" rtlCol="0" anchor="ctr"/>
          <a:lstStyle/>
          <a:p>
            <a:pPr indent="0" marL="0">
              <a:buNone/>
            </a:pPr>
            <a:r>
              <a:rPr lang="en-US" sz="3200" b="1" dirty="0">
                <a:solidFill>
                  <a:schemeClr val="accent4"/>
                </a:solidFill>
              </a:rPr>
              <a:t>2 Français sur 3</a:t>
            </a:r>
            <a:endParaRPr lang="en-US" sz="3200" dirty="0"/>
          </a:p>
        </p:txBody>
      </p:sp>
      <p:sp>
        <p:nvSpPr>
          <p:cNvPr id="5" name="Text 3"/>
          <p:cNvSpPr txBox="1"/>
          <p:nvPr/>
        </p:nvSpPr>
        <p:spPr>
          <a:xfrm>
            <a:off x="457200" y="1856232"/>
            <a:ext cx="3291840" cy="365760"/>
          </a:xfrm>
          <a:prstGeom prst="rect">
            <a:avLst/>
          </a:prstGeom>
          <a:noFill/>
          <a:ln/>
        </p:spPr>
        <p:txBody>
          <a:bodyPr wrap="square" lIns="0" tIns="0" rIns="0" bIns="0" rtlCol="0" anchor="ctr"/>
          <a:lstStyle/>
          <a:p>
            <a:pPr indent="0" marL="0">
              <a:buNone/>
            </a:pPr>
            <a:r>
              <a:rPr lang="en-US" sz="1300" dirty="0">
                <a:solidFill>
                  <a:schemeClr val="tx2"/>
                </a:solidFill>
              </a:rPr>
              <a:t>consomment des compléments alimentaires</a:t>
            </a:r>
            <a:endParaRPr lang="en-US" sz="1300" dirty="0"/>
          </a:p>
        </p:txBody>
      </p:sp>
      <p:sp>
        <p:nvSpPr>
          <p:cNvPr id="6" name="Text 4"/>
          <p:cNvSpPr txBox="1"/>
          <p:nvPr/>
        </p:nvSpPr>
        <p:spPr>
          <a:xfrm>
            <a:off x="457200" y="2350008"/>
            <a:ext cx="2743200" cy="548640"/>
          </a:xfrm>
          <a:prstGeom prst="rect">
            <a:avLst/>
          </a:prstGeom>
          <a:noFill/>
          <a:ln/>
        </p:spPr>
        <p:txBody>
          <a:bodyPr wrap="square" lIns="0" tIns="0" rIns="0" bIns="0" rtlCol="0" anchor="ctr"/>
          <a:lstStyle/>
          <a:p>
            <a:pPr indent="0" marL="0">
              <a:buNone/>
            </a:pPr>
            <a:r>
              <a:rPr lang="en-US" sz="3200" b="1" dirty="0">
                <a:solidFill>
                  <a:schemeClr val="accent2"/>
                </a:solidFill>
              </a:rPr>
              <a:t>15 à 20 %</a:t>
            </a:r>
            <a:endParaRPr lang="en-US" sz="3200" dirty="0"/>
          </a:p>
        </p:txBody>
      </p:sp>
      <p:sp>
        <p:nvSpPr>
          <p:cNvPr id="7" name="Text 5"/>
          <p:cNvSpPr txBox="1"/>
          <p:nvPr/>
        </p:nvSpPr>
        <p:spPr>
          <a:xfrm>
            <a:off x="457200" y="2880360"/>
            <a:ext cx="3291840" cy="365760"/>
          </a:xfrm>
          <a:prstGeom prst="rect">
            <a:avLst/>
          </a:prstGeom>
          <a:noFill/>
          <a:ln/>
        </p:spPr>
        <p:txBody>
          <a:bodyPr wrap="square" lIns="0" tIns="0" rIns="0" bIns="0" rtlCol="0" anchor="ctr"/>
          <a:lstStyle/>
          <a:p>
            <a:pPr indent="0" marL="0">
              <a:buNone/>
            </a:pPr>
            <a:r>
              <a:rPr lang="en-US" sz="1300" dirty="0">
                <a:solidFill>
                  <a:schemeClr val="tx2"/>
                </a:solidFill>
              </a:rPr>
              <a:t>des adultes ont du mal à avaler un comprimé</a:t>
            </a:r>
            <a:endParaRPr lang="en-US" sz="1300" dirty="0"/>
          </a:p>
        </p:txBody>
      </p:sp>
      <p:sp>
        <p:nvSpPr>
          <p:cNvPr id="8" name="Text 6"/>
          <p:cNvSpPr txBox="1"/>
          <p:nvPr/>
        </p:nvSpPr>
        <p:spPr>
          <a:xfrm>
            <a:off x="457200" y="3374136"/>
            <a:ext cx="2743200" cy="548640"/>
          </a:xfrm>
          <a:prstGeom prst="rect">
            <a:avLst/>
          </a:prstGeom>
          <a:noFill/>
          <a:ln/>
        </p:spPr>
        <p:txBody>
          <a:bodyPr wrap="square" lIns="0" tIns="0" rIns="0" bIns="0" rtlCol="0" anchor="ctr"/>
          <a:lstStyle/>
          <a:p>
            <a:pPr indent="0" marL="0">
              <a:buNone/>
            </a:pPr>
            <a:r>
              <a:rPr lang="en-US" sz="3200" b="1" dirty="0">
                <a:solidFill>
                  <a:schemeClr val="accent1"/>
                </a:solidFill>
              </a:rPr>
              <a:t>1 sur 2</a:t>
            </a:r>
            <a:endParaRPr lang="en-US" sz="3200" dirty="0"/>
          </a:p>
        </p:txBody>
      </p:sp>
      <p:sp>
        <p:nvSpPr>
          <p:cNvPr id="9" name="Text 7"/>
          <p:cNvSpPr txBox="1"/>
          <p:nvPr/>
        </p:nvSpPr>
        <p:spPr>
          <a:xfrm>
            <a:off x="457200" y="3904488"/>
            <a:ext cx="3291840" cy="365760"/>
          </a:xfrm>
          <a:prstGeom prst="rect">
            <a:avLst/>
          </a:prstGeom>
          <a:noFill/>
          <a:ln/>
        </p:spPr>
        <p:txBody>
          <a:bodyPr wrap="square" lIns="0" tIns="0" rIns="0" bIns="0" rtlCol="0" anchor="ctr"/>
          <a:lstStyle/>
          <a:p>
            <a:pPr indent="0" marL="0">
              <a:buNone/>
            </a:pPr>
            <a:r>
              <a:rPr lang="en-US" sz="1300" dirty="0">
                <a:solidFill>
                  <a:schemeClr val="tx2"/>
                </a:solidFill>
              </a:rPr>
              <a:t>c'est l'observance moyenne des traitements au long cours</a:t>
            </a:r>
            <a:endParaRPr lang="en-US" sz="1300" dirty="0"/>
          </a:p>
        </p:txBody>
      </p:sp>
      <p:sp>
        <p:nvSpPr>
          <p:cNvPr id="10" name="who-card"/>
          <p:cNvSpPr/>
          <p:nvPr/>
        </p:nvSpPr>
        <p:spPr>
          <a:xfrm>
            <a:off x="4297680" y="1325880"/>
            <a:ext cx="4389120" cy="3017520"/>
          </a:xfrm>
          <a:prstGeom prst="roundRect">
            <a:avLst>
              <a:gd name="adj" fmla="val 2424"/>
            </a:avLst>
          </a:prstGeom>
          <a:solidFill>
            <a:srgbClr val="FFFFFF"/>
          </a:solidFill>
          <a:ln/>
        </p:spPr>
      </p:sp>
      <p:sp>
        <p:nvSpPr>
          <p:cNvPr id="11" name="Text 9"/>
          <p:cNvSpPr txBox="1"/>
          <p:nvPr/>
        </p:nvSpPr>
        <p:spPr>
          <a:xfrm>
            <a:off x="4572000" y="1508760"/>
            <a:ext cx="3840480" cy="320040"/>
          </a:xfrm>
          <a:prstGeom prst="rect">
            <a:avLst/>
          </a:prstGeom>
          <a:noFill/>
          <a:ln/>
        </p:spPr>
        <p:txBody>
          <a:bodyPr wrap="square" lIns="0" tIns="0" rIns="0" bIns="0" rtlCol="0" anchor="ctr"/>
          <a:lstStyle/>
          <a:p>
            <a:pPr indent="0" marL="0">
              <a:buNone/>
            </a:pPr>
            <a:r>
              <a:rPr lang="en-US" sz="1600" i="1" dirty="0">
                <a:solidFill>
                  <a:schemeClr val="tx1"/>
                </a:solidFill>
                <a:latin typeface="Cambria" pitchFamily="34" charset="0"/>
                <a:ea typeface="Cambria" pitchFamily="34" charset="-122"/>
                <a:cs typeface="Cambria" pitchFamily="34" charset="-120"/>
              </a:rPr>
              <a:t>qui le vit ?</a:t>
            </a:r>
            <a:endParaRPr lang="en-US" sz="1600" dirty="0"/>
          </a:p>
        </p:txBody>
      </p:sp>
      <p:sp>
        <p:nvSpPr>
          <p:cNvPr id="12" name="Shape 10"/>
          <p:cNvSpPr/>
          <p:nvPr/>
        </p:nvSpPr>
        <p:spPr>
          <a:xfrm>
            <a:off x="4572000" y="2075688"/>
            <a:ext cx="182880" cy="182880"/>
          </a:xfrm>
          <a:prstGeom prst="ellipse">
            <a:avLst/>
          </a:prstGeom>
          <a:solidFill>
            <a:schemeClr val="accent3"/>
          </a:solidFill>
          <a:ln/>
        </p:spPr>
      </p:sp>
      <p:sp>
        <p:nvSpPr>
          <p:cNvPr id="13" name="Text 11"/>
          <p:cNvSpPr txBox="1"/>
          <p:nvPr/>
        </p:nvSpPr>
        <p:spPr>
          <a:xfrm>
            <a:off x="4892040" y="2011680"/>
            <a:ext cx="3566160" cy="594360"/>
          </a:xfrm>
          <a:prstGeom prst="rect">
            <a:avLst/>
          </a:prstGeom>
          <a:noFill/>
          <a:ln/>
        </p:spPr>
        <p:txBody>
          <a:bodyPr wrap="square" lIns="0" tIns="0" rIns="0" bIns="0" rtlCol="0" anchor="t"/>
          <a:lstStyle/>
          <a:p>
            <a:pPr indent="0" marL="0">
              <a:buNone/>
            </a:pPr>
            <a:r>
              <a:rPr lang="en-US" sz="1400" b="1" dirty="0">
                <a:solidFill>
                  <a:schemeClr val="tx1"/>
                </a:solidFill>
              </a:rPr>
              <a:t>Les enfants </a:t>
            </a:r>
            <a:pPr indent="0" marL="0">
              <a:buNone/>
            </a:pPr>
            <a:r>
              <a:rPr lang="en-US" sz="1400" dirty="0">
                <a:solidFill>
                  <a:schemeClr val="tx2"/>
                </a:solidFill>
              </a:rPr>
              <a:t>refusent le sirop et les gélules.</a:t>
            </a:r>
            <a:endParaRPr lang="en-US" sz="1400" dirty="0"/>
          </a:p>
        </p:txBody>
      </p:sp>
      <p:sp>
        <p:nvSpPr>
          <p:cNvPr id="14" name="Shape 12"/>
          <p:cNvSpPr/>
          <p:nvPr/>
        </p:nvSpPr>
        <p:spPr>
          <a:xfrm>
            <a:off x="4572000" y="2807208"/>
            <a:ext cx="182880" cy="182880"/>
          </a:xfrm>
          <a:prstGeom prst="ellipse">
            <a:avLst/>
          </a:prstGeom>
          <a:solidFill>
            <a:schemeClr val="accent2"/>
          </a:solidFill>
          <a:ln/>
        </p:spPr>
      </p:sp>
      <p:sp>
        <p:nvSpPr>
          <p:cNvPr id="15" name="Text 13"/>
          <p:cNvSpPr txBox="1"/>
          <p:nvPr/>
        </p:nvSpPr>
        <p:spPr>
          <a:xfrm>
            <a:off x="4892040" y="2743200"/>
            <a:ext cx="3566160" cy="594360"/>
          </a:xfrm>
          <a:prstGeom prst="rect">
            <a:avLst/>
          </a:prstGeom>
          <a:noFill/>
          <a:ln/>
        </p:spPr>
        <p:txBody>
          <a:bodyPr wrap="square" lIns="0" tIns="0" rIns="0" bIns="0" rtlCol="0" anchor="t"/>
          <a:lstStyle/>
          <a:p>
            <a:pPr indent="0" marL="0">
              <a:buNone/>
            </a:pPr>
            <a:r>
              <a:rPr lang="en-US" sz="1400" b="1" dirty="0">
                <a:solidFill>
                  <a:schemeClr val="tx1"/>
                </a:solidFill>
              </a:rPr>
              <a:t>Les seniors </a:t>
            </a:r>
            <a:pPr indent="0" marL="0">
              <a:buNone/>
            </a:pPr>
            <a:r>
              <a:rPr lang="en-US" sz="1400" dirty="0">
                <a:solidFill>
                  <a:schemeClr val="tx2"/>
                </a:solidFill>
              </a:rPr>
              <a:t>peinent à avaler leurs comprimés.</a:t>
            </a:r>
            <a:endParaRPr lang="en-US" sz="1400" dirty="0"/>
          </a:p>
        </p:txBody>
      </p:sp>
      <p:sp>
        <p:nvSpPr>
          <p:cNvPr id="16" name="Shape 14"/>
          <p:cNvSpPr/>
          <p:nvPr/>
        </p:nvSpPr>
        <p:spPr>
          <a:xfrm>
            <a:off x="4572000" y="3538728"/>
            <a:ext cx="182880" cy="182880"/>
          </a:xfrm>
          <a:prstGeom prst="ellipse">
            <a:avLst/>
          </a:prstGeom>
          <a:solidFill>
            <a:schemeClr val="accent1"/>
          </a:solidFill>
          <a:ln/>
        </p:spPr>
      </p:sp>
      <p:sp>
        <p:nvSpPr>
          <p:cNvPr id="17" name="Text 15"/>
          <p:cNvSpPr txBox="1"/>
          <p:nvPr/>
        </p:nvSpPr>
        <p:spPr>
          <a:xfrm>
            <a:off x="4892040" y="3474720"/>
            <a:ext cx="3566160" cy="594360"/>
          </a:xfrm>
          <a:prstGeom prst="rect">
            <a:avLst/>
          </a:prstGeom>
          <a:noFill/>
          <a:ln/>
        </p:spPr>
        <p:txBody>
          <a:bodyPr wrap="square" lIns="0" tIns="0" rIns="0" bIns="0" rtlCol="0" anchor="t"/>
          <a:lstStyle/>
          <a:p>
            <a:pPr indent="0" marL="0">
              <a:buNone/>
            </a:pPr>
            <a:r>
              <a:rPr lang="en-US" sz="1400" b="1" dirty="0">
                <a:solidFill>
                  <a:schemeClr val="tx1"/>
                </a:solidFill>
              </a:rPr>
              <a:t>Les femmes </a:t>
            </a:r>
            <a:pPr indent="0" marL="0">
              <a:buNone/>
            </a:pPr>
            <a:r>
              <a:rPr lang="en-US" sz="1400" dirty="0">
                <a:solidFill>
                  <a:schemeClr val="tx2"/>
                </a:solidFill>
              </a:rPr>
              <a:t>achètent pleines de bonnes intentions, puis oublient le pot.</a:t>
            </a:r>
            <a:endParaRPr lang="en-US" sz="1400" dirty="0"/>
          </a:p>
        </p:txBody>
      </p:sp>
      <p:sp>
        <p:nvSpPr>
          <p:cNvPr id="18" name="sources"/>
          <p:cNvSpPr txBox="1"/>
          <p:nvPr/>
        </p:nvSpPr>
        <p:spPr>
          <a:xfrm>
            <a:off x="457200" y="4526280"/>
            <a:ext cx="8229600" cy="201168"/>
          </a:xfrm>
          <a:prstGeom prst="rect">
            <a:avLst/>
          </a:prstGeom>
          <a:noFill/>
          <a:ln/>
        </p:spPr>
        <p:txBody>
          <a:bodyPr wrap="square" lIns="0" tIns="0" rIns="0" bIns="0" rtlCol="0" anchor="ctr"/>
          <a:lstStyle/>
          <a:p>
            <a:pPr indent="0" marL="0">
              <a:buNone/>
            </a:pPr>
            <a:r>
              <a:rPr lang="en-US" sz="800" dirty="0">
                <a:solidFill>
                  <a:schemeClr val="tx2"/>
                </a:solidFill>
              </a:rPr>
              <a:t>Sources : Synadiet / Toluna Harris Interactive (2026) · revue de littérature sur la dysphagie aux comprimés (PMC) · OMS, Adherence to long-term therapies (2003).</a:t>
            </a:r>
            <a:endParaRPr lang="en-US" sz="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LA SOLUTION</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straw., </a:t>
            </a:r>
            <a:pPr algn="l" indent="0" marL="0">
              <a:buNone/>
            </a:pPr>
            <a:r>
              <a:rPr lang="en-US" sz="2800" i="1" dirty="0">
                <a:solidFill>
                  <a:schemeClr val="tx1"/>
                </a:solidFill>
                <a:latin typeface="Cambria" pitchFamily="34" charset="0"/>
                <a:ea typeface="Cambria" pitchFamily="34" charset="-122"/>
                <a:cs typeface="Cambria" pitchFamily="34" charset="-120"/>
              </a:rPr>
              <a:t>la paille active</a:t>
            </a:r>
            <a:endParaRPr lang="en-US" sz="2800" dirty="0"/>
          </a:p>
        </p:txBody>
      </p:sp>
      <p:pic>
        <p:nvPicPr>
          <p:cNvPr id="4" name="pack-active" descr="Étui, sachet et paille straw. rise">    </p:cNvPr>
          <p:cNvPicPr>
            <a:picLocks noChangeAspect="1"/>
          </p:cNvPicPr>
          <p:nvPr/>
        </p:nvPicPr>
        <p:blipFill>
          <a:blip r:embed="rId1"/>
          <a:stretch>
            <a:fillRect/>
          </a:stretch>
        </p:blipFill>
        <p:spPr>
          <a:xfrm>
            <a:off x="457200" y="1280160"/>
            <a:ext cx="3154680" cy="3154680"/>
          </a:xfrm>
          <a:prstGeom prst="rect">
            <a:avLst/>
          </a:prstGeom>
        </p:spPr>
      </p:pic>
      <p:sp>
        <p:nvSpPr>
          <p:cNvPr id="5" name="Shape 2"/>
          <p:cNvSpPr/>
          <p:nvPr/>
        </p:nvSpPr>
        <p:spPr>
          <a:xfrm>
            <a:off x="4023360" y="1325880"/>
            <a:ext cx="384048" cy="384048"/>
          </a:xfrm>
          <a:prstGeom prst="ellipse">
            <a:avLst/>
          </a:prstGeom>
          <a:solidFill>
            <a:schemeClr val="tx1"/>
          </a:solidFill>
          <a:ln/>
        </p:spPr>
      </p:sp>
      <p:sp>
        <p:nvSpPr>
          <p:cNvPr id="6" name="Text 3"/>
          <p:cNvSpPr txBox="1"/>
          <p:nvPr/>
        </p:nvSpPr>
        <p:spPr>
          <a:xfrm>
            <a:off x="4023360" y="1325880"/>
            <a:ext cx="384048" cy="384048"/>
          </a:xfrm>
          <a:prstGeom prst="rect">
            <a:avLst/>
          </a:prstGeom>
          <a:noFill/>
          <a:ln/>
        </p:spPr>
        <p:txBody>
          <a:bodyPr wrap="square" lIns="0" tIns="0" rIns="0" bIns="0" rtlCol="0" anchor="ctr"/>
          <a:lstStyle/>
          <a:p>
            <a:pPr algn="ctr" indent="0" marL="0">
              <a:buNone/>
            </a:pPr>
            <a:r>
              <a:rPr lang="en-US" sz="1400" b="1" dirty="0">
                <a:solidFill>
                  <a:schemeClr val="bg2"/>
                </a:solidFill>
              </a:rPr>
              <a:t>1</a:t>
            </a:r>
            <a:endParaRPr lang="en-US" sz="1400" dirty="0"/>
          </a:p>
        </p:txBody>
      </p:sp>
      <p:sp>
        <p:nvSpPr>
          <p:cNvPr id="7" name="Text 4"/>
          <p:cNvSpPr txBox="1"/>
          <p:nvPr/>
        </p:nvSpPr>
        <p:spPr>
          <a:xfrm>
            <a:off x="4572000" y="1298448"/>
            <a:ext cx="4114800" cy="274320"/>
          </a:xfrm>
          <a:prstGeom prst="rect">
            <a:avLst/>
          </a:prstGeom>
          <a:noFill/>
          <a:ln/>
        </p:spPr>
        <p:txBody>
          <a:bodyPr wrap="square" lIns="0" tIns="0" rIns="0" bIns="0" rtlCol="0" anchor="ctr"/>
          <a:lstStyle/>
          <a:p>
            <a:pPr indent="0" marL="0">
              <a:buNone/>
            </a:pPr>
            <a:r>
              <a:rPr lang="en-US" sz="1600" b="1" dirty="0">
                <a:solidFill>
                  <a:schemeClr val="tx1"/>
                </a:solidFill>
              </a:rPr>
              <a:t>choisir sa boisson</a:t>
            </a:r>
            <a:endParaRPr lang="en-US" sz="1600" dirty="0"/>
          </a:p>
        </p:txBody>
      </p:sp>
      <p:sp>
        <p:nvSpPr>
          <p:cNvPr id="8" name="Text 5"/>
          <p:cNvSpPr txBox="1"/>
          <p:nvPr/>
        </p:nvSpPr>
        <p:spPr>
          <a:xfrm>
            <a:off x="4572000" y="1600200"/>
            <a:ext cx="4114800" cy="365760"/>
          </a:xfrm>
          <a:prstGeom prst="rect">
            <a:avLst/>
          </a:prstGeom>
          <a:noFill/>
          <a:ln/>
        </p:spPr>
        <p:txBody>
          <a:bodyPr wrap="square" lIns="0" tIns="0" rIns="0" bIns="0" rtlCol="0" anchor="ctr"/>
          <a:lstStyle/>
          <a:p>
            <a:pPr indent="0" marL="0">
              <a:buNone/>
            </a:pPr>
            <a:r>
              <a:rPr lang="en-US" sz="1300" dirty="0">
                <a:solidFill>
                  <a:schemeClr val="tx2"/>
                </a:solidFill>
              </a:rPr>
              <a:t>Eau, lait, jus, thé glacé. Celle qu'on boit déjà.</a:t>
            </a:r>
            <a:endParaRPr lang="en-US" sz="1300" dirty="0"/>
          </a:p>
        </p:txBody>
      </p:sp>
      <p:sp>
        <p:nvSpPr>
          <p:cNvPr id="9" name="Shape 6"/>
          <p:cNvSpPr/>
          <p:nvPr/>
        </p:nvSpPr>
        <p:spPr>
          <a:xfrm>
            <a:off x="4023360" y="2103120"/>
            <a:ext cx="384048" cy="384048"/>
          </a:xfrm>
          <a:prstGeom prst="ellipse">
            <a:avLst/>
          </a:prstGeom>
          <a:solidFill>
            <a:schemeClr val="tx1"/>
          </a:solidFill>
          <a:ln/>
        </p:spPr>
      </p:sp>
      <p:sp>
        <p:nvSpPr>
          <p:cNvPr id="10" name="Text 7"/>
          <p:cNvSpPr txBox="1"/>
          <p:nvPr/>
        </p:nvSpPr>
        <p:spPr>
          <a:xfrm>
            <a:off x="4023360" y="2103120"/>
            <a:ext cx="384048" cy="384048"/>
          </a:xfrm>
          <a:prstGeom prst="rect">
            <a:avLst/>
          </a:prstGeom>
          <a:noFill/>
          <a:ln/>
        </p:spPr>
        <p:txBody>
          <a:bodyPr wrap="square" lIns="0" tIns="0" rIns="0" bIns="0" rtlCol="0" anchor="ctr"/>
          <a:lstStyle/>
          <a:p>
            <a:pPr algn="ctr" indent="0" marL="0">
              <a:buNone/>
            </a:pPr>
            <a:r>
              <a:rPr lang="en-US" sz="1400" b="1" dirty="0">
                <a:solidFill>
                  <a:schemeClr val="bg2"/>
                </a:solidFill>
              </a:rPr>
              <a:t>2</a:t>
            </a:r>
            <a:endParaRPr lang="en-US" sz="1400" dirty="0"/>
          </a:p>
        </p:txBody>
      </p:sp>
      <p:sp>
        <p:nvSpPr>
          <p:cNvPr id="11" name="Text 8"/>
          <p:cNvSpPr txBox="1"/>
          <p:nvPr/>
        </p:nvSpPr>
        <p:spPr>
          <a:xfrm>
            <a:off x="4572000" y="2075688"/>
            <a:ext cx="4114800" cy="274320"/>
          </a:xfrm>
          <a:prstGeom prst="rect">
            <a:avLst/>
          </a:prstGeom>
          <a:noFill/>
          <a:ln/>
        </p:spPr>
        <p:txBody>
          <a:bodyPr wrap="square" lIns="0" tIns="0" rIns="0" bIns="0" rtlCol="0" anchor="ctr"/>
          <a:lstStyle/>
          <a:p>
            <a:pPr indent="0" marL="0">
              <a:buNone/>
            </a:pPr>
            <a:r>
              <a:rPr lang="en-US" sz="1600" b="1" dirty="0">
                <a:solidFill>
                  <a:schemeClr val="tx1"/>
                </a:solidFill>
              </a:rPr>
              <a:t>boire normalement</a:t>
            </a:r>
            <a:endParaRPr lang="en-US" sz="1600" dirty="0"/>
          </a:p>
        </p:txBody>
      </p:sp>
      <p:sp>
        <p:nvSpPr>
          <p:cNvPr id="12" name="Text 9"/>
          <p:cNvSpPr txBox="1"/>
          <p:nvPr/>
        </p:nvSpPr>
        <p:spPr>
          <a:xfrm>
            <a:off x="4572000" y="2377440"/>
            <a:ext cx="4114800" cy="365760"/>
          </a:xfrm>
          <a:prstGeom prst="rect">
            <a:avLst/>
          </a:prstGeom>
          <a:noFill/>
          <a:ln/>
        </p:spPr>
        <p:txBody>
          <a:bodyPr wrap="square" lIns="0" tIns="0" rIns="0" bIns="0" rtlCol="0" anchor="ctr"/>
          <a:lstStyle/>
          <a:p>
            <a:pPr indent="0" marL="0">
              <a:buNone/>
            </a:pPr>
            <a:r>
              <a:rPr lang="en-US" sz="1300" dirty="0">
                <a:solidFill>
                  <a:schemeClr val="tx2"/>
                </a:solidFill>
              </a:rPr>
              <a:t>Le liquide dissout les micro-billes d'actifs aromatisées dans la paille.</a:t>
            </a:r>
            <a:endParaRPr lang="en-US" sz="1300" dirty="0"/>
          </a:p>
        </p:txBody>
      </p:sp>
      <p:sp>
        <p:nvSpPr>
          <p:cNvPr id="13" name="Shape 10"/>
          <p:cNvSpPr/>
          <p:nvPr/>
        </p:nvSpPr>
        <p:spPr>
          <a:xfrm>
            <a:off x="4023360" y="2880360"/>
            <a:ext cx="384048" cy="384048"/>
          </a:xfrm>
          <a:prstGeom prst="ellipse">
            <a:avLst/>
          </a:prstGeom>
          <a:solidFill>
            <a:schemeClr val="tx1"/>
          </a:solidFill>
          <a:ln/>
        </p:spPr>
      </p:sp>
      <p:sp>
        <p:nvSpPr>
          <p:cNvPr id="14" name="Text 11"/>
          <p:cNvSpPr txBox="1"/>
          <p:nvPr/>
        </p:nvSpPr>
        <p:spPr>
          <a:xfrm>
            <a:off x="4023360" y="2880360"/>
            <a:ext cx="384048" cy="384048"/>
          </a:xfrm>
          <a:prstGeom prst="rect">
            <a:avLst/>
          </a:prstGeom>
          <a:noFill/>
          <a:ln/>
        </p:spPr>
        <p:txBody>
          <a:bodyPr wrap="square" lIns="0" tIns="0" rIns="0" bIns="0" rtlCol="0" anchor="ctr"/>
          <a:lstStyle/>
          <a:p>
            <a:pPr algn="ctr" indent="0" marL="0">
              <a:buNone/>
            </a:pPr>
            <a:r>
              <a:rPr lang="en-US" sz="1400" b="1" dirty="0">
                <a:solidFill>
                  <a:schemeClr val="bg2"/>
                </a:solidFill>
              </a:rPr>
              <a:t>3</a:t>
            </a:r>
            <a:endParaRPr lang="en-US" sz="1400" dirty="0"/>
          </a:p>
        </p:txBody>
      </p:sp>
      <p:sp>
        <p:nvSpPr>
          <p:cNvPr id="15" name="Text 12"/>
          <p:cNvSpPr txBox="1"/>
          <p:nvPr/>
        </p:nvSpPr>
        <p:spPr>
          <a:xfrm>
            <a:off x="4572000" y="2852928"/>
            <a:ext cx="4114800" cy="274320"/>
          </a:xfrm>
          <a:prstGeom prst="rect">
            <a:avLst/>
          </a:prstGeom>
          <a:noFill/>
          <a:ln/>
        </p:spPr>
        <p:txBody>
          <a:bodyPr wrap="square" lIns="0" tIns="0" rIns="0" bIns="0" rtlCol="0" anchor="ctr"/>
          <a:lstStyle/>
          <a:p>
            <a:pPr indent="0" marL="0">
              <a:buNone/>
            </a:pPr>
            <a:r>
              <a:rPr lang="en-US" sz="1600" b="1" dirty="0">
                <a:solidFill>
                  <a:schemeClr val="tx1"/>
                </a:solidFill>
              </a:rPr>
              <a:t>la dose est prise</a:t>
            </a:r>
            <a:endParaRPr lang="en-US" sz="1600" dirty="0"/>
          </a:p>
        </p:txBody>
      </p:sp>
      <p:sp>
        <p:nvSpPr>
          <p:cNvPr id="16" name="Text 13"/>
          <p:cNvSpPr txBox="1"/>
          <p:nvPr/>
        </p:nvSpPr>
        <p:spPr>
          <a:xfrm>
            <a:off x="4572000" y="3154680"/>
            <a:ext cx="4114800" cy="365760"/>
          </a:xfrm>
          <a:prstGeom prst="rect">
            <a:avLst/>
          </a:prstGeom>
          <a:noFill/>
          <a:ln/>
        </p:spPr>
        <p:txBody>
          <a:bodyPr wrap="square" lIns="0" tIns="0" rIns="0" bIns="0" rtlCol="0" anchor="ctr"/>
          <a:lstStyle/>
          <a:p>
            <a:pPr indent="0" marL="0">
              <a:buNone/>
            </a:pPr>
            <a:r>
              <a:rPr lang="en-US" sz="1300" dirty="0">
                <a:solidFill>
                  <a:schemeClr val="tx2"/>
                </a:solidFill>
              </a:rPr>
              <a:t>Billes disparues = dose complète. On le voit, même un enfant.</a:t>
            </a:r>
            <a:endParaRPr lang="en-US" sz="1300" dirty="0"/>
          </a:p>
        </p:txBody>
      </p:sp>
      <p:sp>
        <p:nvSpPr>
          <p:cNvPr id="17" name="chip0"/>
          <p:cNvSpPr/>
          <p:nvPr/>
        </p:nvSpPr>
        <p:spPr>
          <a:xfrm>
            <a:off x="4023360" y="3840480"/>
            <a:ext cx="956462" cy="347472"/>
          </a:xfrm>
          <a:prstGeom prst="roundRect">
            <a:avLst>
              <a:gd name="adj" fmla="val 50000"/>
            </a:avLst>
          </a:prstGeom>
          <a:solidFill>
            <a:schemeClr val="bg1"/>
          </a:solidFill>
          <a:ln w="12700">
            <a:solidFill>
              <a:schemeClr val="accent5"/>
            </a:solidFill>
            <a:prstDash val="solid"/>
          </a:ln>
        </p:spPr>
      </p:sp>
      <p:sp>
        <p:nvSpPr>
          <p:cNvPr id="18" name="Text 15"/>
          <p:cNvSpPr txBox="1"/>
          <p:nvPr/>
        </p:nvSpPr>
        <p:spPr>
          <a:xfrm>
            <a:off x="4023360" y="3840480"/>
            <a:ext cx="956462" cy="347472"/>
          </a:xfrm>
          <a:prstGeom prst="rect">
            <a:avLst/>
          </a:prstGeom>
          <a:noFill/>
          <a:ln/>
        </p:spPr>
        <p:txBody>
          <a:bodyPr wrap="square" lIns="0" tIns="0" rIns="0" bIns="0" rtlCol="0" anchor="ctr"/>
          <a:lstStyle/>
          <a:p>
            <a:pPr algn="ctr" indent="0" marL="0">
              <a:buNone/>
            </a:pPr>
            <a:r>
              <a:rPr lang="en-US" sz="1100" dirty="0">
                <a:solidFill>
                  <a:schemeClr val="tx1"/>
                </a:solidFill>
              </a:rPr>
              <a:t>rien à avaler</a:t>
            </a:r>
            <a:endParaRPr lang="en-US" sz="1100" dirty="0"/>
          </a:p>
        </p:txBody>
      </p:sp>
      <p:sp>
        <p:nvSpPr>
          <p:cNvPr id="19" name="chip1"/>
          <p:cNvSpPr/>
          <p:nvPr/>
        </p:nvSpPr>
        <p:spPr>
          <a:xfrm>
            <a:off x="5052974" y="3840480"/>
            <a:ext cx="1183234" cy="347472"/>
          </a:xfrm>
          <a:prstGeom prst="roundRect">
            <a:avLst>
              <a:gd name="adj" fmla="val 50000"/>
            </a:avLst>
          </a:prstGeom>
          <a:solidFill>
            <a:schemeClr val="bg1"/>
          </a:solidFill>
          <a:ln w="12700">
            <a:solidFill>
              <a:schemeClr val="accent5"/>
            </a:solidFill>
            <a:prstDash val="solid"/>
          </a:ln>
        </p:spPr>
      </p:sp>
      <p:sp>
        <p:nvSpPr>
          <p:cNvPr id="20" name="Text 17"/>
          <p:cNvSpPr txBox="1"/>
          <p:nvPr/>
        </p:nvSpPr>
        <p:spPr>
          <a:xfrm>
            <a:off x="5052974" y="3840480"/>
            <a:ext cx="1183234" cy="347472"/>
          </a:xfrm>
          <a:prstGeom prst="rect">
            <a:avLst/>
          </a:prstGeom>
          <a:noFill/>
          <a:ln/>
        </p:spPr>
        <p:txBody>
          <a:bodyPr wrap="square" lIns="0" tIns="0" rIns="0" bIns="0" rtlCol="0" anchor="ctr"/>
          <a:lstStyle/>
          <a:p>
            <a:pPr algn="ctr" indent="0" marL="0">
              <a:buNone/>
            </a:pPr>
            <a:r>
              <a:rPr lang="en-US" sz="1100" dirty="0">
                <a:solidFill>
                  <a:schemeClr val="tx1"/>
                </a:solidFill>
              </a:rPr>
              <a:t>sans sucre ajouté</a:t>
            </a:r>
            <a:endParaRPr lang="en-US" sz="1100" dirty="0"/>
          </a:p>
        </p:txBody>
      </p:sp>
      <p:sp>
        <p:nvSpPr>
          <p:cNvPr id="21" name="chip2"/>
          <p:cNvSpPr/>
          <p:nvPr/>
        </p:nvSpPr>
        <p:spPr>
          <a:xfrm>
            <a:off x="6309360" y="3840480"/>
            <a:ext cx="899770" cy="347472"/>
          </a:xfrm>
          <a:prstGeom prst="roundRect">
            <a:avLst>
              <a:gd name="adj" fmla="val 50000"/>
            </a:avLst>
          </a:prstGeom>
          <a:solidFill>
            <a:schemeClr val="bg1"/>
          </a:solidFill>
          <a:ln w="12700">
            <a:solidFill>
              <a:schemeClr val="accent5"/>
            </a:solidFill>
            <a:prstDash val="solid"/>
          </a:ln>
        </p:spPr>
      </p:sp>
      <p:sp>
        <p:nvSpPr>
          <p:cNvPr id="22" name="Text 19"/>
          <p:cNvSpPr txBox="1"/>
          <p:nvPr/>
        </p:nvSpPr>
        <p:spPr>
          <a:xfrm>
            <a:off x="6309360" y="3840480"/>
            <a:ext cx="899770" cy="347472"/>
          </a:xfrm>
          <a:prstGeom prst="rect">
            <a:avLst/>
          </a:prstGeom>
          <a:noFill/>
          <a:ln/>
        </p:spPr>
        <p:txBody>
          <a:bodyPr wrap="square" lIns="0" tIns="0" rIns="0" bIns="0" rtlCol="0" anchor="ctr"/>
          <a:lstStyle/>
          <a:p>
            <a:pPr algn="ctr" indent="0" marL="0">
              <a:buNone/>
            </a:pPr>
            <a:r>
              <a:rPr lang="en-US" sz="1100" dirty="0">
                <a:solidFill>
                  <a:schemeClr val="tx1"/>
                </a:solidFill>
              </a:rPr>
              <a:t>dose visible</a:t>
            </a:r>
            <a:endParaRPr lang="en-US" sz="1100" dirty="0"/>
          </a:p>
        </p:txBody>
      </p:sp>
      <p:sp>
        <p:nvSpPr>
          <p:cNvPr id="23" name="chip3"/>
          <p:cNvSpPr/>
          <p:nvPr/>
        </p:nvSpPr>
        <p:spPr>
          <a:xfrm>
            <a:off x="7282282" y="3840480"/>
            <a:ext cx="1239926" cy="347472"/>
          </a:xfrm>
          <a:prstGeom prst="roundRect">
            <a:avLst>
              <a:gd name="adj" fmla="val 50000"/>
            </a:avLst>
          </a:prstGeom>
          <a:solidFill>
            <a:schemeClr val="bg1"/>
          </a:solidFill>
          <a:ln w="12700">
            <a:solidFill>
              <a:schemeClr val="accent5"/>
            </a:solidFill>
            <a:prstDash val="solid"/>
          </a:ln>
        </p:spPr>
      </p:sp>
      <p:sp>
        <p:nvSpPr>
          <p:cNvPr id="24" name="Text 21"/>
          <p:cNvSpPr txBox="1"/>
          <p:nvPr/>
        </p:nvSpPr>
        <p:spPr>
          <a:xfrm>
            <a:off x="7282282" y="3840480"/>
            <a:ext cx="1239926" cy="347472"/>
          </a:xfrm>
          <a:prstGeom prst="rect">
            <a:avLst/>
          </a:prstGeom>
          <a:noFill/>
          <a:ln/>
        </p:spPr>
        <p:txBody>
          <a:bodyPr wrap="square" lIns="0" tIns="0" rIns="0" bIns="0" rtlCol="0" anchor="ctr"/>
          <a:lstStyle/>
          <a:p>
            <a:pPr algn="ctr" indent="0" marL="0">
              <a:buNone/>
            </a:pPr>
            <a:r>
              <a:rPr lang="en-US" sz="1100" dirty="0">
                <a:solidFill>
                  <a:schemeClr val="tx1"/>
                </a:solidFill>
              </a:rPr>
              <a:t>1 étui = 1 semaine</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L'INNOVATION</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une marque, </a:t>
            </a:r>
            <a:pPr algn="l" indent="0" marL="0">
              <a:buNone/>
            </a:pPr>
            <a:r>
              <a:rPr lang="en-US" sz="2800" i="1" dirty="0">
                <a:solidFill>
                  <a:schemeClr val="tx1"/>
                </a:solidFill>
                <a:latin typeface="Cambria" pitchFamily="34" charset="0"/>
                <a:ea typeface="Cambria" pitchFamily="34" charset="-122"/>
                <a:cs typeface="Cambria" pitchFamily="34" charset="-120"/>
              </a:rPr>
              <a:t>quatre gammes</a:t>
            </a:r>
            <a:endParaRPr lang="en-US" sz="2800" dirty="0"/>
          </a:p>
        </p:txBody>
      </p:sp>
      <p:pic>
        <p:nvPicPr>
          <p:cNvPr id="4" name="lineup-mini" descr="Étuis straw. mini">    </p:cNvPr>
          <p:cNvPicPr>
            <a:picLocks noChangeAspect="1"/>
          </p:cNvPicPr>
          <p:nvPr/>
        </p:nvPicPr>
        <p:blipFill>
          <a:blip r:embed="rId1"/>
          <a:stretch>
            <a:fillRect/>
          </a:stretch>
        </p:blipFill>
        <p:spPr>
          <a:xfrm>
            <a:off x="457200" y="1280160"/>
            <a:ext cx="1920240" cy="2011680"/>
          </a:xfrm>
          <a:prstGeom prst="rect">
            <a:avLst/>
          </a:prstGeom>
        </p:spPr>
      </p:pic>
      <p:sp>
        <p:nvSpPr>
          <p:cNvPr id="5" name="Shape 2"/>
          <p:cNvSpPr/>
          <p:nvPr/>
        </p:nvSpPr>
        <p:spPr>
          <a:xfrm>
            <a:off x="457200" y="3474720"/>
            <a:ext cx="146304" cy="146304"/>
          </a:xfrm>
          <a:prstGeom prst="ellipse">
            <a:avLst/>
          </a:prstGeom>
          <a:solidFill>
            <a:schemeClr val="accent3"/>
          </a:solidFill>
          <a:ln/>
        </p:spPr>
      </p:sp>
      <p:sp>
        <p:nvSpPr>
          <p:cNvPr id="6" name="Text 3"/>
          <p:cNvSpPr txBox="1"/>
          <p:nvPr/>
        </p:nvSpPr>
        <p:spPr>
          <a:xfrm>
            <a:off x="676656" y="3383280"/>
            <a:ext cx="1737360" cy="320040"/>
          </a:xfrm>
          <a:prstGeom prst="rect">
            <a:avLst/>
          </a:prstGeom>
          <a:noFill/>
          <a:ln/>
        </p:spPr>
        <p:txBody>
          <a:bodyPr wrap="square" lIns="0" tIns="0" rIns="0" bIns="0" rtlCol="0" anchor="ctr"/>
          <a:lstStyle/>
          <a:p>
            <a:pPr indent="0" marL="0">
              <a:buNone/>
            </a:pPr>
            <a:r>
              <a:rPr lang="en-US" sz="1700" b="1" dirty="0">
                <a:solidFill>
                  <a:schemeClr val="tx1"/>
                </a:solidFill>
              </a:rPr>
              <a:t>straw. </a:t>
            </a:r>
            <a:pPr indent="0" marL="0">
              <a:buNone/>
            </a:pPr>
            <a:r>
              <a:rPr lang="en-US" sz="1700" i="1" dirty="0">
                <a:solidFill>
                  <a:schemeClr val="tx1"/>
                </a:solidFill>
                <a:latin typeface="Cambria" pitchFamily="34" charset="0"/>
                <a:ea typeface="Cambria" pitchFamily="34" charset="-122"/>
                <a:cs typeface="Cambria" pitchFamily="34" charset="-120"/>
              </a:rPr>
              <a:t>mini</a:t>
            </a:r>
            <a:endParaRPr lang="en-US" sz="1700" dirty="0"/>
          </a:p>
        </p:txBody>
      </p:sp>
      <p:sp>
        <p:nvSpPr>
          <p:cNvPr id="7" name="Text 4"/>
          <p:cNvSpPr txBox="1"/>
          <p:nvPr/>
        </p:nvSpPr>
        <p:spPr>
          <a:xfrm>
            <a:off x="457200" y="3730752"/>
            <a:ext cx="1920240" cy="274320"/>
          </a:xfrm>
          <a:prstGeom prst="rect">
            <a:avLst/>
          </a:prstGeom>
          <a:noFill/>
          <a:ln/>
        </p:spPr>
        <p:txBody>
          <a:bodyPr wrap="square" lIns="0" tIns="0" rIns="0" bIns="0" rtlCol="0" anchor="ctr"/>
          <a:lstStyle/>
          <a:p>
            <a:pPr indent="0" marL="0">
              <a:buNone/>
            </a:pPr>
            <a:r>
              <a:rPr lang="en-US" sz="1100" dirty="0">
                <a:solidFill>
                  <a:schemeClr val="tx2"/>
                </a:solidFill>
              </a:rPr>
              <a:t>kids · 4 à 11 ans</a:t>
            </a:r>
            <a:endParaRPr lang="en-US" sz="1100" dirty="0"/>
          </a:p>
        </p:txBody>
      </p:sp>
      <p:sp>
        <p:nvSpPr>
          <p:cNvPr id="8" name="Text 5"/>
          <p:cNvSpPr txBox="1"/>
          <p:nvPr/>
        </p:nvSpPr>
        <p:spPr>
          <a:xfrm>
            <a:off x="457200" y="4005072"/>
            <a:ext cx="1920240" cy="274320"/>
          </a:xfrm>
          <a:prstGeom prst="rect">
            <a:avLst/>
          </a:prstGeom>
          <a:noFill/>
          <a:ln/>
        </p:spPr>
        <p:txBody>
          <a:bodyPr wrap="square" lIns="0" tIns="0" rIns="0" bIns="0" rtlCol="0" anchor="ctr"/>
          <a:lstStyle/>
          <a:p>
            <a:pPr indent="0" marL="0">
              <a:buNone/>
            </a:pPr>
            <a:r>
              <a:rPr lang="en-US" sz="1100" b="1" dirty="0">
                <a:solidFill>
                  <a:schemeClr val="tx1"/>
                </a:solidFill>
              </a:rPr>
              <a:t>boost · grow · focus · dodo</a:t>
            </a:r>
            <a:endParaRPr lang="en-US" sz="1100" dirty="0"/>
          </a:p>
        </p:txBody>
      </p:sp>
      <p:pic>
        <p:nvPicPr>
          <p:cNvPr id="9" name="lineup-active" descr="Étuis straw. active">    </p:cNvPr>
          <p:cNvPicPr>
            <a:picLocks noChangeAspect="1"/>
          </p:cNvPicPr>
          <p:nvPr/>
        </p:nvPicPr>
        <p:blipFill>
          <a:blip r:embed="rId2"/>
          <a:stretch>
            <a:fillRect/>
          </a:stretch>
        </p:blipFill>
        <p:spPr>
          <a:xfrm>
            <a:off x="2560320" y="1280160"/>
            <a:ext cx="1920240" cy="2011680"/>
          </a:xfrm>
          <a:prstGeom prst="rect">
            <a:avLst/>
          </a:prstGeom>
        </p:spPr>
      </p:pic>
      <p:sp>
        <p:nvSpPr>
          <p:cNvPr id="10" name="Shape 6"/>
          <p:cNvSpPr/>
          <p:nvPr/>
        </p:nvSpPr>
        <p:spPr>
          <a:xfrm>
            <a:off x="2560320" y="3474720"/>
            <a:ext cx="146304" cy="146304"/>
          </a:xfrm>
          <a:prstGeom prst="ellipse">
            <a:avLst/>
          </a:prstGeom>
          <a:solidFill>
            <a:schemeClr val="accent4"/>
          </a:solidFill>
          <a:ln/>
        </p:spPr>
      </p:sp>
      <p:sp>
        <p:nvSpPr>
          <p:cNvPr id="11" name="Text 7"/>
          <p:cNvSpPr txBox="1"/>
          <p:nvPr/>
        </p:nvSpPr>
        <p:spPr>
          <a:xfrm>
            <a:off x="2779776" y="3383280"/>
            <a:ext cx="1737360" cy="320040"/>
          </a:xfrm>
          <a:prstGeom prst="rect">
            <a:avLst/>
          </a:prstGeom>
          <a:noFill/>
          <a:ln/>
        </p:spPr>
        <p:txBody>
          <a:bodyPr wrap="square" lIns="0" tIns="0" rIns="0" bIns="0" rtlCol="0" anchor="ctr"/>
          <a:lstStyle/>
          <a:p>
            <a:pPr indent="0" marL="0">
              <a:buNone/>
            </a:pPr>
            <a:r>
              <a:rPr lang="en-US" sz="1700" b="1" dirty="0">
                <a:solidFill>
                  <a:schemeClr val="tx1"/>
                </a:solidFill>
              </a:rPr>
              <a:t>straw. </a:t>
            </a:r>
            <a:pPr indent="0" marL="0">
              <a:buNone/>
            </a:pPr>
            <a:r>
              <a:rPr lang="en-US" sz="1700" i="1" dirty="0">
                <a:solidFill>
                  <a:schemeClr val="tx1"/>
                </a:solidFill>
                <a:latin typeface="Cambria" pitchFamily="34" charset="0"/>
                <a:ea typeface="Cambria" pitchFamily="34" charset="-122"/>
                <a:cs typeface="Cambria" pitchFamily="34" charset="-120"/>
              </a:rPr>
              <a:t>active</a:t>
            </a:r>
            <a:endParaRPr lang="en-US" sz="1700" dirty="0"/>
          </a:p>
        </p:txBody>
      </p:sp>
      <p:sp>
        <p:nvSpPr>
          <p:cNvPr id="12" name="Text 8"/>
          <p:cNvSpPr txBox="1"/>
          <p:nvPr/>
        </p:nvSpPr>
        <p:spPr>
          <a:xfrm>
            <a:off x="2560320" y="3730752"/>
            <a:ext cx="1920240" cy="274320"/>
          </a:xfrm>
          <a:prstGeom prst="rect">
            <a:avLst/>
          </a:prstGeom>
          <a:noFill/>
          <a:ln/>
        </p:spPr>
        <p:txBody>
          <a:bodyPr wrap="square" lIns="0" tIns="0" rIns="0" bIns="0" rtlCol="0" anchor="ctr"/>
          <a:lstStyle/>
          <a:p>
            <a:pPr indent="0" marL="0">
              <a:buNone/>
            </a:pPr>
            <a:r>
              <a:rPr lang="en-US" sz="1100" dirty="0">
                <a:solidFill>
                  <a:schemeClr val="tx2"/>
                </a:solidFill>
              </a:rPr>
              <a:t>femme active · 20 à 45 ans</a:t>
            </a:r>
            <a:endParaRPr lang="en-US" sz="1100" dirty="0"/>
          </a:p>
        </p:txBody>
      </p:sp>
      <p:sp>
        <p:nvSpPr>
          <p:cNvPr id="13" name="Text 9"/>
          <p:cNvSpPr txBox="1"/>
          <p:nvPr/>
        </p:nvSpPr>
        <p:spPr>
          <a:xfrm>
            <a:off x="2560320" y="4005072"/>
            <a:ext cx="1920240" cy="274320"/>
          </a:xfrm>
          <a:prstGeom prst="rect">
            <a:avLst/>
          </a:prstGeom>
          <a:noFill/>
          <a:ln/>
        </p:spPr>
        <p:txBody>
          <a:bodyPr wrap="square" lIns="0" tIns="0" rIns="0" bIns="0" rtlCol="0" anchor="ctr"/>
          <a:lstStyle/>
          <a:p>
            <a:pPr indent="0" marL="0">
              <a:buNone/>
            </a:pPr>
            <a:r>
              <a:rPr lang="en-US" sz="1100" b="1" dirty="0">
                <a:solidFill>
                  <a:schemeClr val="tx1"/>
                </a:solidFill>
              </a:rPr>
              <a:t>rise · pulse · move · sleep</a:t>
            </a:r>
            <a:endParaRPr lang="en-US" sz="1100" dirty="0"/>
          </a:p>
        </p:txBody>
      </p:sp>
      <p:pic>
        <p:nvPicPr>
          <p:cNvPr id="14" name="lineup-luna" descr="Étuis straw. luna">    </p:cNvPr>
          <p:cNvPicPr>
            <a:picLocks noChangeAspect="1"/>
          </p:cNvPicPr>
          <p:nvPr/>
        </p:nvPicPr>
        <p:blipFill>
          <a:blip r:embed="rId3"/>
          <a:stretch>
            <a:fillRect/>
          </a:stretch>
        </p:blipFill>
        <p:spPr>
          <a:xfrm>
            <a:off x="4663440" y="1280160"/>
            <a:ext cx="1920240" cy="2011680"/>
          </a:xfrm>
          <a:prstGeom prst="rect">
            <a:avLst/>
          </a:prstGeom>
        </p:spPr>
      </p:pic>
      <p:sp>
        <p:nvSpPr>
          <p:cNvPr id="15" name="Shape 10"/>
          <p:cNvSpPr/>
          <p:nvPr/>
        </p:nvSpPr>
        <p:spPr>
          <a:xfrm>
            <a:off x="4663440" y="3474720"/>
            <a:ext cx="146304" cy="146304"/>
          </a:xfrm>
          <a:prstGeom prst="ellipse">
            <a:avLst/>
          </a:prstGeom>
          <a:solidFill>
            <a:schemeClr val="accent1"/>
          </a:solidFill>
          <a:ln/>
        </p:spPr>
      </p:sp>
      <p:sp>
        <p:nvSpPr>
          <p:cNvPr id="16" name="Text 11"/>
          <p:cNvSpPr txBox="1"/>
          <p:nvPr/>
        </p:nvSpPr>
        <p:spPr>
          <a:xfrm>
            <a:off x="4882896" y="3383280"/>
            <a:ext cx="1737360" cy="320040"/>
          </a:xfrm>
          <a:prstGeom prst="rect">
            <a:avLst/>
          </a:prstGeom>
          <a:noFill/>
          <a:ln/>
        </p:spPr>
        <p:txBody>
          <a:bodyPr wrap="square" lIns="0" tIns="0" rIns="0" bIns="0" rtlCol="0" anchor="ctr"/>
          <a:lstStyle/>
          <a:p>
            <a:pPr indent="0" marL="0">
              <a:buNone/>
            </a:pPr>
            <a:r>
              <a:rPr lang="en-US" sz="1700" b="1" dirty="0">
                <a:solidFill>
                  <a:schemeClr val="tx1"/>
                </a:solidFill>
              </a:rPr>
              <a:t>straw. </a:t>
            </a:r>
            <a:pPr indent="0" marL="0">
              <a:buNone/>
            </a:pPr>
            <a:r>
              <a:rPr lang="en-US" sz="1700" i="1" dirty="0">
                <a:solidFill>
                  <a:schemeClr val="tx1"/>
                </a:solidFill>
                <a:latin typeface="Cambria" pitchFamily="34" charset="0"/>
                <a:ea typeface="Cambria" pitchFamily="34" charset="-122"/>
                <a:cs typeface="Cambria" pitchFamily="34" charset="-120"/>
              </a:rPr>
              <a:t>luna</a:t>
            </a:r>
            <a:endParaRPr lang="en-US" sz="1700" dirty="0"/>
          </a:p>
        </p:txBody>
      </p:sp>
      <p:sp>
        <p:nvSpPr>
          <p:cNvPr id="17" name="Text 12"/>
          <p:cNvSpPr txBox="1"/>
          <p:nvPr/>
        </p:nvSpPr>
        <p:spPr>
          <a:xfrm>
            <a:off x="4663440" y="3730752"/>
            <a:ext cx="1920240" cy="274320"/>
          </a:xfrm>
          <a:prstGeom prst="rect">
            <a:avLst/>
          </a:prstGeom>
          <a:noFill/>
          <a:ln/>
        </p:spPr>
        <p:txBody>
          <a:bodyPr wrap="square" lIns="0" tIns="0" rIns="0" bIns="0" rtlCol="0" anchor="ctr"/>
          <a:lstStyle/>
          <a:p>
            <a:pPr indent="0" marL="0">
              <a:buNone/>
            </a:pPr>
            <a:r>
              <a:rPr lang="en-US" sz="1100" dirty="0">
                <a:solidFill>
                  <a:schemeClr val="tx2"/>
                </a:solidFill>
              </a:rPr>
              <a:t>santé féminine · cycle → ménopause</a:t>
            </a:r>
            <a:endParaRPr lang="en-US" sz="1100" dirty="0"/>
          </a:p>
        </p:txBody>
      </p:sp>
      <p:sp>
        <p:nvSpPr>
          <p:cNvPr id="18" name="Text 13"/>
          <p:cNvSpPr txBox="1"/>
          <p:nvPr/>
        </p:nvSpPr>
        <p:spPr>
          <a:xfrm>
            <a:off x="4663440" y="4005072"/>
            <a:ext cx="1920240" cy="274320"/>
          </a:xfrm>
          <a:prstGeom prst="rect">
            <a:avLst/>
          </a:prstGeom>
          <a:noFill/>
          <a:ln/>
        </p:spPr>
        <p:txBody>
          <a:bodyPr wrap="square" lIns="0" tIns="0" rIns="0" bIns="0" rtlCol="0" anchor="ctr"/>
          <a:lstStyle/>
          <a:p>
            <a:pPr indent="0" marL="0">
              <a:buNone/>
            </a:pPr>
            <a:r>
              <a:rPr lang="en-US" sz="1100" b="1" dirty="0">
                <a:solidFill>
                  <a:schemeClr val="tx1"/>
                </a:solidFill>
              </a:rPr>
              <a:t>flow · balance · bloom · meno</a:t>
            </a:r>
            <a:endParaRPr lang="en-US" sz="1100" dirty="0"/>
          </a:p>
        </p:txBody>
      </p:sp>
      <p:pic>
        <p:nvPicPr>
          <p:cNvPr id="19" name="lineup-silver" descr="Étuis straw. silver">    </p:cNvPr>
          <p:cNvPicPr>
            <a:picLocks noChangeAspect="1"/>
          </p:cNvPicPr>
          <p:nvPr/>
        </p:nvPicPr>
        <p:blipFill>
          <a:blip r:embed="rId4"/>
          <a:stretch>
            <a:fillRect/>
          </a:stretch>
        </p:blipFill>
        <p:spPr>
          <a:xfrm>
            <a:off x="6766560" y="1280160"/>
            <a:ext cx="1920240" cy="2011680"/>
          </a:xfrm>
          <a:prstGeom prst="rect">
            <a:avLst/>
          </a:prstGeom>
        </p:spPr>
      </p:pic>
      <p:sp>
        <p:nvSpPr>
          <p:cNvPr id="20" name="Shape 14"/>
          <p:cNvSpPr/>
          <p:nvPr/>
        </p:nvSpPr>
        <p:spPr>
          <a:xfrm>
            <a:off x="6766560" y="3474720"/>
            <a:ext cx="146304" cy="146304"/>
          </a:xfrm>
          <a:prstGeom prst="ellipse">
            <a:avLst/>
          </a:prstGeom>
          <a:solidFill>
            <a:schemeClr val="accent2"/>
          </a:solidFill>
          <a:ln/>
        </p:spPr>
      </p:sp>
      <p:sp>
        <p:nvSpPr>
          <p:cNvPr id="21" name="Text 15"/>
          <p:cNvSpPr txBox="1"/>
          <p:nvPr/>
        </p:nvSpPr>
        <p:spPr>
          <a:xfrm>
            <a:off x="6986016" y="3383280"/>
            <a:ext cx="1737360" cy="320040"/>
          </a:xfrm>
          <a:prstGeom prst="rect">
            <a:avLst/>
          </a:prstGeom>
          <a:noFill/>
          <a:ln/>
        </p:spPr>
        <p:txBody>
          <a:bodyPr wrap="square" lIns="0" tIns="0" rIns="0" bIns="0" rtlCol="0" anchor="ctr"/>
          <a:lstStyle/>
          <a:p>
            <a:pPr indent="0" marL="0">
              <a:buNone/>
            </a:pPr>
            <a:r>
              <a:rPr lang="en-US" sz="1700" b="1" dirty="0">
                <a:solidFill>
                  <a:schemeClr val="tx1"/>
                </a:solidFill>
              </a:rPr>
              <a:t>straw. </a:t>
            </a:r>
            <a:pPr indent="0" marL="0">
              <a:buNone/>
            </a:pPr>
            <a:r>
              <a:rPr lang="en-US" sz="1700" i="1" dirty="0">
                <a:solidFill>
                  <a:schemeClr val="tx1"/>
                </a:solidFill>
                <a:latin typeface="Cambria" pitchFamily="34" charset="0"/>
                <a:ea typeface="Cambria" pitchFamily="34" charset="-122"/>
                <a:cs typeface="Cambria" pitchFamily="34" charset="-120"/>
              </a:rPr>
              <a:t>silver</a:t>
            </a:r>
            <a:endParaRPr lang="en-US" sz="1700" dirty="0"/>
          </a:p>
        </p:txBody>
      </p:sp>
      <p:sp>
        <p:nvSpPr>
          <p:cNvPr id="22" name="Text 16"/>
          <p:cNvSpPr txBox="1"/>
          <p:nvPr/>
        </p:nvSpPr>
        <p:spPr>
          <a:xfrm>
            <a:off x="6766560" y="3730752"/>
            <a:ext cx="1920240" cy="274320"/>
          </a:xfrm>
          <a:prstGeom prst="rect">
            <a:avLst/>
          </a:prstGeom>
          <a:noFill/>
          <a:ln/>
        </p:spPr>
        <p:txBody>
          <a:bodyPr wrap="square" lIns="0" tIns="0" rIns="0" bIns="0" rtlCol="0" anchor="ctr"/>
          <a:lstStyle/>
          <a:p>
            <a:pPr indent="0" marL="0">
              <a:buNone/>
            </a:pPr>
            <a:r>
              <a:rPr lang="en-US" sz="1100" dirty="0">
                <a:solidFill>
                  <a:schemeClr val="tx2"/>
                </a:solidFill>
              </a:rPr>
              <a:t>senior · 65 ans et plus</a:t>
            </a:r>
            <a:endParaRPr lang="en-US" sz="1100" dirty="0"/>
          </a:p>
        </p:txBody>
      </p:sp>
      <p:sp>
        <p:nvSpPr>
          <p:cNvPr id="23" name="Text 17"/>
          <p:cNvSpPr txBox="1"/>
          <p:nvPr/>
        </p:nvSpPr>
        <p:spPr>
          <a:xfrm>
            <a:off x="6766560" y="4005072"/>
            <a:ext cx="1920240" cy="274320"/>
          </a:xfrm>
          <a:prstGeom prst="rect">
            <a:avLst/>
          </a:prstGeom>
          <a:noFill/>
          <a:ln/>
        </p:spPr>
        <p:txBody>
          <a:bodyPr wrap="square" lIns="0" tIns="0" rIns="0" bIns="0" rtlCol="0" anchor="ctr"/>
          <a:lstStyle/>
          <a:p>
            <a:pPr indent="0" marL="0">
              <a:buNone/>
            </a:pPr>
            <a:r>
              <a:rPr lang="en-US" sz="1100" b="1" dirty="0">
                <a:solidFill>
                  <a:schemeClr val="tx1"/>
                </a:solidFill>
              </a:rPr>
              <a:t>hydra · tonus · mobil · vision</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LE MARCHÉ</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un marché solide, </a:t>
            </a:r>
            <a:pPr algn="l" indent="0" marL="0">
              <a:buNone/>
            </a:pPr>
            <a:r>
              <a:rPr lang="en-US" sz="2800" i="1" dirty="0">
                <a:solidFill>
                  <a:schemeClr val="tx1"/>
                </a:solidFill>
                <a:latin typeface="Cambria" pitchFamily="34" charset="0"/>
                <a:ea typeface="Cambria" pitchFamily="34" charset="-122"/>
                <a:cs typeface="Cambria" pitchFamily="34" charset="-120"/>
              </a:rPr>
              <a:t>qui grandit encore</a:t>
            </a:r>
            <a:endParaRPr lang="en-US" sz="2800" dirty="0"/>
          </a:p>
        </p:txBody>
      </p:sp>
      <p:pic>
        <p:nvPicPr>
          <p:cNvPr id="4" name="photo-famille" descr="photo-famille">    </p:cNvPr>
          <p:cNvPicPr>
            <a:picLocks noChangeAspect="1"/>
          </p:cNvPicPr>
          <p:nvPr/>
        </p:nvPicPr>
        <p:blipFill>
          <a:blip r:embed="rId1"/>
          <a:stretch>
            <a:fillRect/>
          </a:stretch>
        </p:blipFill>
        <p:spPr>
          <a:xfrm>
            <a:off x="5943600" y="1234440"/>
            <a:ext cx="2743200" cy="3200400"/>
          </a:xfrm>
          <a:prstGeom prst="rect">
            <a:avLst/>
          </a:prstGeom>
        </p:spPr>
      </p:pic>
      <p:sp>
        <p:nvSpPr>
          <p:cNvPr id="5" name="Text 2"/>
          <p:cNvSpPr txBox="1"/>
          <p:nvPr/>
        </p:nvSpPr>
        <p:spPr>
          <a:xfrm>
            <a:off x="457200" y="1280160"/>
            <a:ext cx="2560320" cy="548640"/>
          </a:xfrm>
          <a:prstGeom prst="rect">
            <a:avLst/>
          </a:prstGeom>
          <a:noFill/>
          <a:ln/>
        </p:spPr>
        <p:txBody>
          <a:bodyPr wrap="square" lIns="0" tIns="0" rIns="0" bIns="0" rtlCol="0" anchor="ctr"/>
          <a:lstStyle/>
          <a:p>
            <a:pPr indent="0" marL="0">
              <a:buNone/>
            </a:pPr>
            <a:r>
              <a:rPr lang="en-US" sz="3200" b="1" dirty="0">
                <a:solidFill>
                  <a:schemeClr val="accent1"/>
                </a:solidFill>
              </a:rPr>
              <a:t>≈ 3 Md€</a:t>
            </a:r>
            <a:endParaRPr lang="en-US" sz="3200" dirty="0"/>
          </a:p>
        </p:txBody>
      </p:sp>
      <p:sp>
        <p:nvSpPr>
          <p:cNvPr id="6" name="Text 3"/>
          <p:cNvSpPr txBox="1"/>
          <p:nvPr/>
        </p:nvSpPr>
        <p:spPr>
          <a:xfrm>
            <a:off x="457200" y="1847088"/>
            <a:ext cx="2468880" cy="548640"/>
          </a:xfrm>
          <a:prstGeom prst="rect">
            <a:avLst/>
          </a:prstGeom>
          <a:noFill/>
          <a:ln/>
        </p:spPr>
        <p:txBody>
          <a:bodyPr wrap="square" lIns="0" tIns="0" rIns="0" bIns="0" rtlCol="0" anchor="t"/>
          <a:lstStyle/>
          <a:p>
            <a:pPr indent="0" marL="0">
              <a:buNone/>
            </a:pPr>
            <a:r>
              <a:rPr lang="en-US" sz="1200" dirty="0">
                <a:solidFill>
                  <a:schemeClr val="tx2"/>
                </a:solidFill>
              </a:rPr>
              <a:t>de ventes de compléments alimentaires en France en 2025 (+2,6 %)</a:t>
            </a:r>
            <a:endParaRPr lang="en-US" sz="1200" dirty="0"/>
          </a:p>
        </p:txBody>
      </p:sp>
      <p:sp>
        <p:nvSpPr>
          <p:cNvPr id="7" name="Text 4"/>
          <p:cNvSpPr txBox="1"/>
          <p:nvPr/>
        </p:nvSpPr>
        <p:spPr>
          <a:xfrm>
            <a:off x="3200400" y="1280160"/>
            <a:ext cx="2560320" cy="548640"/>
          </a:xfrm>
          <a:prstGeom prst="rect">
            <a:avLst/>
          </a:prstGeom>
          <a:noFill/>
          <a:ln/>
        </p:spPr>
        <p:txBody>
          <a:bodyPr wrap="square" lIns="0" tIns="0" rIns="0" bIns="0" rtlCol="0" anchor="ctr"/>
          <a:lstStyle/>
          <a:p>
            <a:pPr indent="0" marL="0">
              <a:buNone/>
            </a:pPr>
            <a:r>
              <a:rPr lang="en-US" sz="3200" b="1" dirty="0">
                <a:solidFill>
                  <a:schemeClr val="accent4"/>
                </a:solidFill>
              </a:rPr>
              <a:t>2 / 3</a:t>
            </a:r>
            <a:endParaRPr lang="en-US" sz="3200" dirty="0"/>
          </a:p>
        </p:txBody>
      </p:sp>
      <p:sp>
        <p:nvSpPr>
          <p:cNvPr id="8" name="Text 5"/>
          <p:cNvSpPr txBox="1"/>
          <p:nvPr/>
        </p:nvSpPr>
        <p:spPr>
          <a:xfrm>
            <a:off x="3200400" y="1847088"/>
            <a:ext cx="2468880" cy="548640"/>
          </a:xfrm>
          <a:prstGeom prst="rect">
            <a:avLst/>
          </a:prstGeom>
          <a:noFill/>
          <a:ln/>
        </p:spPr>
        <p:txBody>
          <a:bodyPr wrap="square" lIns="0" tIns="0" rIns="0" bIns="0" rtlCol="0" anchor="t"/>
          <a:lstStyle/>
          <a:p>
            <a:pPr indent="0" marL="0">
              <a:buNone/>
            </a:pPr>
            <a:r>
              <a:rPr lang="en-US" sz="1200" dirty="0">
                <a:solidFill>
                  <a:schemeClr val="tx2"/>
                </a:solidFill>
              </a:rPr>
              <a:t>des Français en consomment</a:t>
            </a:r>
            <a:endParaRPr lang="en-US" sz="1200" dirty="0"/>
          </a:p>
        </p:txBody>
      </p:sp>
      <p:sp>
        <p:nvSpPr>
          <p:cNvPr id="9" name="Text 6"/>
          <p:cNvSpPr txBox="1"/>
          <p:nvPr/>
        </p:nvSpPr>
        <p:spPr>
          <a:xfrm>
            <a:off x="457200" y="2697480"/>
            <a:ext cx="2560320" cy="548640"/>
          </a:xfrm>
          <a:prstGeom prst="rect">
            <a:avLst/>
          </a:prstGeom>
          <a:noFill/>
          <a:ln/>
        </p:spPr>
        <p:txBody>
          <a:bodyPr wrap="square" lIns="0" tIns="0" rIns="0" bIns="0" rtlCol="0" anchor="ctr"/>
          <a:lstStyle/>
          <a:p>
            <a:pPr indent="0" marL="0">
              <a:buNone/>
            </a:pPr>
            <a:r>
              <a:rPr lang="en-US" sz="3200" b="1" dirty="0">
                <a:solidFill>
                  <a:schemeClr val="accent2"/>
                </a:solidFill>
              </a:rPr>
              <a:t>55 %</a:t>
            </a:r>
            <a:endParaRPr lang="en-US" sz="3200" dirty="0"/>
          </a:p>
        </p:txBody>
      </p:sp>
      <p:sp>
        <p:nvSpPr>
          <p:cNvPr id="10" name="Text 7"/>
          <p:cNvSpPr txBox="1"/>
          <p:nvPr/>
        </p:nvSpPr>
        <p:spPr>
          <a:xfrm>
            <a:off x="457200" y="3264408"/>
            <a:ext cx="2468880" cy="548640"/>
          </a:xfrm>
          <a:prstGeom prst="rect">
            <a:avLst/>
          </a:prstGeom>
          <a:noFill/>
          <a:ln/>
        </p:spPr>
        <p:txBody>
          <a:bodyPr wrap="square" lIns="0" tIns="0" rIns="0" bIns="0" rtlCol="0" anchor="t"/>
          <a:lstStyle/>
          <a:p>
            <a:pPr indent="0" marL="0">
              <a:buNone/>
            </a:pPr>
            <a:r>
              <a:rPr lang="en-US" sz="1200" dirty="0">
                <a:solidFill>
                  <a:schemeClr val="tx2"/>
                </a:solidFill>
              </a:rPr>
              <a:t>des ventes se font en pharmacie, 1er circuit</a:t>
            </a:r>
            <a:endParaRPr lang="en-US" sz="1200" dirty="0"/>
          </a:p>
        </p:txBody>
      </p:sp>
      <p:sp>
        <p:nvSpPr>
          <p:cNvPr id="11" name="Text 8"/>
          <p:cNvSpPr txBox="1"/>
          <p:nvPr/>
        </p:nvSpPr>
        <p:spPr>
          <a:xfrm>
            <a:off x="3200400" y="2697480"/>
            <a:ext cx="2560320" cy="548640"/>
          </a:xfrm>
          <a:prstGeom prst="rect">
            <a:avLst/>
          </a:prstGeom>
          <a:noFill/>
          <a:ln/>
        </p:spPr>
        <p:txBody>
          <a:bodyPr wrap="square" lIns="0" tIns="0" rIns="0" bIns="0" rtlCol="0" anchor="ctr"/>
          <a:lstStyle/>
          <a:p>
            <a:pPr indent="0" marL="0">
              <a:buNone/>
            </a:pPr>
            <a:r>
              <a:rPr lang="en-US" sz="3200" b="1" dirty="0">
                <a:solidFill>
                  <a:schemeClr val="accent3"/>
                </a:solidFill>
              </a:rPr>
              <a:t>× 2</a:t>
            </a:r>
            <a:endParaRPr lang="en-US" sz="3200" dirty="0"/>
          </a:p>
        </p:txBody>
      </p:sp>
      <p:sp>
        <p:nvSpPr>
          <p:cNvPr id="12" name="Text 9"/>
          <p:cNvSpPr txBox="1"/>
          <p:nvPr/>
        </p:nvSpPr>
        <p:spPr>
          <a:xfrm>
            <a:off x="3200400" y="3264408"/>
            <a:ext cx="2468880" cy="548640"/>
          </a:xfrm>
          <a:prstGeom prst="rect">
            <a:avLst/>
          </a:prstGeom>
          <a:noFill/>
          <a:ln/>
        </p:spPr>
        <p:txBody>
          <a:bodyPr wrap="square" lIns="0" tIns="0" rIns="0" bIns="0" rtlCol="0" anchor="t"/>
          <a:lstStyle/>
          <a:p>
            <a:pPr indent="0" marL="0">
              <a:buNone/>
            </a:pPr>
            <a:r>
              <a:rPr lang="en-US" sz="1200" dirty="0">
                <a:solidFill>
                  <a:schemeClr val="tx2"/>
                </a:solidFill>
              </a:rPr>
              <a:t>la consommation a doublé en 10 ans (enfants et adultes)</a:t>
            </a:r>
            <a:endParaRPr lang="en-US" sz="1200" dirty="0"/>
          </a:p>
        </p:txBody>
      </p:sp>
      <p:sp>
        <p:nvSpPr>
          <p:cNvPr id="13" name="Text 10"/>
          <p:cNvSpPr txBox="1"/>
          <p:nvPr/>
        </p:nvSpPr>
        <p:spPr>
          <a:xfrm>
            <a:off x="457200" y="4114800"/>
            <a:ext cx="5303520" cy="274320"/>
          </a:xfrm>
          <a:prstGeom prst="rect">
            <a:avLst/>
          </a:prstGeom>
          <a:noFill/>
          <a:ln/>
        </p:spPr>
        <p:txBody>
          <a:bodyPr wrap="square" lIns="0" tIns="0" rIns="0" bIns="0" rtlCol="0" anchor="ctr"/>
          <a:lstStyle/>
          <a:p>
            <a:pPr indent="0" marL="0">
              <a:buNone/>
            </a:pPr>
            <a:r>
              <a:rPr lang="en-US" sz="1300" i="1" dirty="0">
                <a:solidFill>
                  <a:schemeClr val="tx1"/>
                </a:solidFill>
                <a:latin typeface="Cambria" pitchFamily="34" charset="0"/>
                <a:ea typeface="Cambria" pitchFamily="34" charset="-122"/>
                <a:cs typeface="Cambria" pitchFamily="34" charset="-120"/>
              </a:rPr>
              <a:t>Ce qui tire le marché : vitalité, immunité, stress et sommeil.</a:t>
            </a:r>
            <a:endParaRPr lang="en-US" sz="1300" dirty="0"/>
          </a:p>
        </p:txBody>
      </p:sp>
      <p:sp>
        <p:nvSpPr>
          <p:cNvPr id="14" name="sources"/>
          <p:cNvSpPr txBox="1"/>
          <p:nvPr/>
        </p:nvSpPr>
        <p:spPr>
          <a:xfrm>
            <a:off x="457200" y="4526280"/>
            <a:ext cx="8229600" cy="201168"/>
          </a:xfrm>
          <a:prstGeom prst="rect">
            <a:avLst/>
          </a:prstGeom>
          <a:noFill/>
          <a:ln/>
        </p:spPr>
        <p:txBody>
          <a:bodyPr wrap="square" lIns="0" tIns="0" rIns="0" bIns="0" rtlCol="0" anchor="ctr"/>
          <a:lstStyle/>
          <a:p>
            <a:pPr indent="0" marL="0">
              <a:buNone/>
            </a:pPr>
            <a:r>
              <a:rPr lang="en-US" sz="800" dirty="0">
                <a:solidFill>
                  <a:schemeClr val="tx2"/>
                </a:solidFill>
              </a:rPr>
              <a:t>Sources : Synadiet / Toluna Harris Interactive (2026) · Le Quotidien du Pharmacien / IQVIA · Anses, études INCA 2 et INCA 3 · Kantar (2025).</a:t>
            </a:r>
            <a:endParaRPr lang="en-US" sz="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LES CIBLES</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quatre cibles, </a:t>
            </a:r>
            <a:pPr algn="l" indent="0" marL="0">
              <a:buNone/>
            </a:pPr>
            <a:r>
              <a:rPr lang="en-US" sz="2800" i="1" dirty="0">
                <a:solidFill>
                  <a:schemeClr val="tx1"/>
                </a:solidFill>
                <a:latin typeface="Cambria" pitchFamily="34" charset="0"/>
                <a:ea typeface="Cambria" pitchFamily="34" charset="-122"/>
                <a:cs typeface="Cambria" pitchFamily="34" charset="-120"/>
              </a:rPr>
              <a:t>quatre opportunités</a:t>
            </a:r>
            <a:endParaRPr lang="en-US" sz="2800" dirty="0"/>
          </a:p>
        </p:txBody>
      </p:sp>
      <p:sp>
        <p:nvSpPr>
          <p:cNvPr id="4" name="card-mini"/>
          <p:cNvSpPr/>
          <p:nvPr/>
        </p:nvSpPr>
        <p:spPr>
          <a:xfrm>
            <a:off x="457200" y="1280160"/>
            <a:ext cx="1920240" cy="3108960"/>
          </a:xfrm>
          <a:prstGeom prst="roundRect">
            <a:avLst>
              <a:gd name="adj" fmla="val 3810"/>
            </a:avLst>
          </a:prstGeom>
          <a:solidFill>
            <a:srgbClr val="FFFFFF"/>
          </a:solidFill>
          <a:ln/>
        </p:spPr>
      </p:sp>
      <p:sp>
        <p:nvSpPr>
          <p:cNvPr id="5" name="Shape 3"/>
          <p:cNvSpPr/>
          <p:nvPr/>
        </p:nvSpPr>
        <p:spPr>
          <a:xfrm>
            <a:off x="640080" y="1481328"/>
            <a:ext cx="164592" cy="164592"/>
          </a:xfrm>
          <a:prstGeom prst="ellipse">
            <a:avLst/>
          </a:prstGeom>
          <a:solidFill>
            <a:schemeClr val="accent3"/>
          </a:solidFill>
          <a:ln/>
        </p:spPr>
      </p:sp>
      <p:sp>
        <p:nvSpPr>
          <p:cNvPr id="6" name="Text 4"/>
          <p:cNvSpPr txBox="1"/>
          <p:nvPr/>
        </p:nvSpPr>
        <p:spPr>
          <a:xfrm>
            <a:off x="868680" y="1399032"/>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straw. </a:t>
            </a:r>
            <a:pPr indent="0" marL="0">
              <a:buNone/>
            </a:pPr>
            <a:r>
              <a:rPr lang="en-US" sz="1500" i="1" dirty="0">
                <a:solidFill>
                  <a:schemeClr val="tx1"/>
                </a:solidFill>
                <a:latin typeface="Cambria" pitchFamily="34" charset="0"/>
                <a:ea typeface="Cambria" pitchFamily="34" charset="-122"/>
                <a:cs typeface="Cambria" pitchFamily="34" charset="-120"/>
              </a:rPr>
              <a:t>mini</a:t>
            </a:r>
            <a:endParaRPr lang="en-US" sz="1500" dirty="0"/>
          </a:p>
        </p:txBody>
      </p:sp>
      <p:sp>
        <p:nvSpPr>
          <p:cNvPr id="7" name="Text 5"/>
          <p:cNvSpPr txBox="1"/>
          <p:nvPr/>
        </p:nvSpPr>
        <p:spPr>
          <a:xfrm>
            <a:off x="640080" y="1874520"/>
            <a:ext cx="1645920" cy="457200"/>
          </a:xfrm>
          <a:prstGeom prst="rect">
            <a:avLst/>
          </a:prstGeom>
          <a:noFill/>
          <a:ln/>
        </p:spPr>
        <p:txBody>
          <a:bodyPr wrap="square" lIns="0" tIns="0" rIns="0" bIns="0" rtlCol="0" anchor="ctr"/>
          <a:lstStyle/>
          <a:p>
            <a:pPr indent="0" marL="0">
              <a:buNone/>
            </a:pPr>
            <a:r>
              <a:rPr lang="en-US" sz="2600" b="1" dirty="0">
                <a:solidFill>
                  <a:schemeClr val="accent3"/>
                </a:solidFill>
              </a:rPr>
              <a:t>19 %</a:t>
            </a:r>
            <a:endParaRPr lang="en-US" sz="2600" dirty="0"/>
          </a:p>
        </p:txBody>
      </p:sp>
      <p:sp>
        <p:nvSpPr>
          <p:cNvPr id="8" name="Text 6"/>
          <p:cNvSpPr txBox="1"/>
          <p:nvPr/>
        </p:nvSpPr>
        <p:spPr>
          <a:xfrm>
            <a:off x="640080" y="2331720"/>
            <a:ext cx="1600200" cy="685800"/>
          </a:xfrm>
          <a:prstGeom prst="rect">
            <a:avLst/>
          </a:prstGeom>
          <a:noFill/>
          <a:ln/>
        </p:spPr>
        <p:txBody>
          <a:bodyPr wrap="square" lIns="0" tIns="0" rIns="0" bIns="0" rtlCol="0" anchor="t"/>
          <a:lstStyle/>
          <a:p>
            <a:pPr indent="0" marL="0">
              <a:buNone/>
            </a:pPr>
            <a:r>
              <a:rPr lang="en-US" sz="1100" dirty="0">
                <a:solidFill>
                  <a:schemeClr val="tx2"/>
                </a:solidFill>
              </a:rPr>
              <a:t>des 3-17 ans prennent des compléments (12 % dix ans plus tôt)</a:t>
            </a:r>
            <a:endParaRPr lang="en-US" sz="1100" dirty="0"/>
          </a:p>
        </p:txBody>
      </p:sp>
      <p:sp>
        <p:nvSpPr>
          <p:cNvPr id="9" name="Text 7"/>
          <p:cNvSpPr txBox="1"/>
          <p:nvPr/>
        </p:nvSpPr>
        <p:spPr>
          <a:xfrm>
            <a:off x="640080" y="3063240"/>
            <a:ext cx="1645920" cy="457200"/>
          </a:xfrm>
          <a:prstGeom prst="rect">
            <a:avLst/>
          </a:prstGeom>
          <a:noFill/>
          <a:ln/>
        </p:spPr>
        <p:txBody>
          <a:bodyPr wrap="square" lIns="0" tIns="0" rIns="0" bIns="0" rtlCol="0" anchor="ctr"/>
          <a:lstStyle/>
          <a:p>
            <a:pPr indent="0" marL="0">
              <a:buNone/>
            </a:pPr>
            <a:r>
              <a:rPr lang="en-US" sz="2600" b="1" dirty="0">
                <a:solidFill>
                  <a:schemeClr val="accent3"/>
                </a:solidFill>
              </a:rPr>
              <a:t>+40 %</a:t>
            </a:r>
            <a:endParaRPr lang="en-US" sz="2600" dirty="0"/>
          </a:p>
        </p:txBody>
      </p:sp>
      <p:sp>
        <p:nvSpPr>
          <p:cNvPr id="10" name="Text 8"/>
          <p:cNvSpPr txBox="1"/>
          <p:nvPr/>
        </p:nvSpPr>
        <p:spPr>
          <a:xfrm>
            <a:off x="640080" y="3520440"/>
            <a:ext cx="1600200" cy="685800"/>
          </a:xfrm>
          <a:prstGeom prst="rect">
            <a:avLst/>
          </a:prstGeom>
          <a:noFill/>
          <a:ln/>
        </p:spPr>
        <p:txBody>
          <a:bodyPr wrap="square" lIns="0" tIns="0" rIns="0" bIns="0" rtlCol="0" anchor="t"/>
          <a:lstStyle/>
          <a:p>
            <a:pPr indent="0" marL="0">
              <a:buNone/>
            </a:pPr>
            <a:r>
              <a:rPr lang="en-US" sz="1100" dirty="0">
                <a:solidFill>
                  <a:schemeClr val="tx2"/>
                </a:solidFill>
              </a:rPr>
              <a:t>pour les gummies en pharmacie : les formes ludiques plaisent</a:t>
            </a:r>
            <a:endParaRPr lang="en-US" sz="1100" dirty="0"/>
          </a:p>
        </p:txBody>
      </p:sp>
      <p:sp>
        <p:nvSpPr>
          <p:cNvPr id="11" name="card-active"/>
          <p:cNvSpPr/>
          <p:nvPr/>
        </p:nvSpPr>
        <p:spPr>
          <a:xfrm>
            <a:off x="2560320" y="1280160"/>
            <a:ext cx="1920240" cy="3108960"/>
          </a:xfrm>
          <a:prstGeom prst="roundRect">
            <a:avLst>
              <a:gd name="adj" fmla="val 3810"/>
            </a:avLst>
          </a:prstGeom>
          <a:solidFill>
            <a:srgbClr val="FFFFFF"/>
          </a:solidFill>
          <a:ln/>
        </p:spPr>
      </p:sp>
      <p:sp>
        <p:nvSpPr>
          <p:cNvPr id="12" name="Shape 10"/>
          <p:cNvSpPr/>
          <p:nvPr/>
        </p:nvSpPr>
        <p:spPr>
          <a:xfrm>
            <a:off x="2743200" y="1481328"/>
            <a:ext cx="164592" cy="164592"/>
          </a:xfrm>
          <a:prstGeom prst="ellipse">
            <a:avLst/>
          </a:prstGeom>
          <a:solidFill>
            <a:schemeClr val="accent4"/>
          </a:solidFill>
          <a:ln/>
        </p:spPr>
      </p:sp>
      <p:sp>
        <p:nvSpPr>
          <p:cNvPr id="13" name="Text 11"/>
          <p:cNvSpPr txBox="1"/>
          <p:nvPr/>
        </p:nvSpPr>
        <p:spPr>
          <a:xfrm>
            <a:off x="2971800" y="1399032"/>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straw. </a:t>
            </a:r>
            <a:pPr indent="0" marL="0">
              <a:buNone/>
            </a:pPr>
            <a:r>
              <a:rPr lang="en-US" sz="1500" i="1" dirty="0">
                <a:solidFill>
                  <a:schemeClr val="tx1"/>
                </a:solidFill>
                <a:latin typeface="Cambria" pitchFamily="34" charset="0"/>
                <a:ea typeface="Cambria" pitchFamily="34" charset="-122"/>
                <a:cs typeface="Cambria" pitchFamily="34" charset="-120"/>
              </a:rPr>
              <a:t>active</a:t>
            </a:r>
            <a:endParaRPr lang="en-US" sz="1500" dirty="0"/>
          </a:p>
        </p:txBody>
      </p:sp>
      <p:sp>
        <p:nvSpPr>
          <p:cNvPr id="14" name="Text 12"/>
          <p:cNvSpPr txBox="1"/>
          <p:nvPr/>
        </p:nvSpPr>
        <p:spPr>
          <a:xfrm>
            <a:off x="2743200" y="1874520"/>
            <a:ext cx="1645920" cy="457200"/>
          </a:xfrm>
          <a:prstGeom prst="rect">
            <a:avLst/>
          </a:prstGeom>
          <a:noFill/>
          <a:ln/>
        </p:spPr>
        <p:txBody>
          <a:bodyPr wrap="square" lIns="0" tIns="0" rIns="0" bIns="0" rtlCol="0" anchor="ctr"/>
          <a:lstStyle/>
          <a:p>
            <a:pPr indent="0" marL="0">
              <a:buNone/>
            </a:pPr>
            <a:r>
              <a:rPr lang="en-US" sz="2600" b="1" dirty="0">
                <a:solidFill>
                  <a:schemeClr val="accent4"/>
                </a:solidFill>
              </a:rPr>
              <a:t>57 %</a:t>
            </a:r>
            <a:endParaRPr lang="en-US" sz="2600" dirty="0"/>
          </a:p>
        </p:txBody>
      </p:sp>
      <p:sp>
        <p:nvSpPr>
          <p:cNvPr id="15" name="Text 13"/>
          <p:cNvSpPr txBox="1"/>
          <p:nvPr/>
        </p:nvSpPr>
        <p:spPr>
          <a:xfrm>
            <a:off x="2743200" y="2331720"/>
            <a:ext cx="1600200" cy="685800"/>
          </a:xfrm>
          <a:prstGeom prst="rect">
            <a:avLst/>
          </a:prstGeom>
          <a:noFill/>
          <a:ln/>
        </p:spPr>
        <p:txBody>
          <a:bodyPr wrap="square" lIns="0" tIns="0" rIns="0" bIns="0" rtlCol="0" anchor="t"/>
          <a:lstStyle/>
          <a:p>
            <a:pPr indent="0" marL="0">
              <a:buNone/>
            </a:pPr>
            <a:r>
              <a:rPr lang="en-US" sz="1100" dirty="0">
                <a:solidFill>
                  <a:schemeClr val="tx2"/>
                </a:solidFill>
              </a:rPr>
              <a:t>des consommateurs de compléments sont des femmes</a:t>
            </a:r>
            <a:endParaRPr lang="en-US" sz="1100" dirty="0"/>
          </a:p>
        </p:txBody>
      </p:sp>
      <p:sp>
        <p:nvSpPr>
          <p:cNvPr id="16" name="Text 14"/>
          <p:cNvSpPr txBox="1"/>
          <p:nvPr/>
        </p:nvSpPr>
        <p:spPr>
          <a:xfrm>
            <a:off x="2743200" y="3063240"/>
            <a:ext cx="1645920" cy="457200"/>
          </a:xfrm>
          <a:prstGeom prst="rect">
            <a:avLst/>
          </a:prstGeom>
          <a:noFill/>
          <a:ln/>
        </p:spPr>
        <p:txBody>
          <a:bodyPr wrap="square" lIns="0" tIns="0" rIns="0" bIns="0" rtlCol="0" anchor="ctr"/>
          <a:lstStyle/>
          <a:p>
            <a:pPr indent="0" marL="0">
              <a:buNone/>
            </a:pPr>
            <a:r>
              <a:rPr lang="en-US" sz="2600" b="1" dirty="0">
                <a:solidFill>
                  <a:schemeClr val="accent4"/>
                </a:solidFill>
              </a:rPr>
              <a:t>1er besoin</a:t>
            </a:r>
            <a:endParaRPr lang="en-US" sz="2600" dirty="0"/>
          </a:p>
        </p:txBody>
      </p:sp>
      <p:sp>
        <p:nvSpPr>
          <p:cNvPr id="17" name="Text 15"/>
          <p:cNvSpPr txBox="1"/>
          <p:nvPr/>
        </p:nvSpPr>
        <p:spPr>
          <a:xfrm>
            <a:off x="2743200" y="3520440"/>
            <a:ext cx="1600200" cy="685800"/>
          </a:xfrm>
          <a:prstGeom prst="rect">
            <a:avLst/>
          </a:prstGeom>
          <a:noFill/>
          <a:ln/>
        </p:spPr>
        <p:txBody>
          <a:bodyPr wrap="square" lIns="0" tIns="0" rIns="0" bIns="0" rtlCol="0" anchor="t"/>
          <a:lstStyle/>
          <a:p>
            <a:pPr indent="0" marL="0">
              <a:buNone/>
            </a:pPr>
            <a:r>
              <a:rPr lang="en-US" sz="1100" dirty="0">
                <a:solidFill>
                  <a:schemeClr val="tx2"/>
                </a:solidFill>
              </a:rPr>
              <a:t>santé mentale : stress, fatigue, sommeil</a:t>
            </a:r>
            <a:endParaRPr lang="en-US" sz="1100" dirty="0"/>
          </a:p>
        </p:txBody>
      </p:sp>
      <p:sp>
        <p:nvSpPr>
          <p:cNvPr id="18" name="card-luna"/>
          <p:cNvSpPr/>
          <p:nvPr/>
        </p:nvSpPr>
        <p:spPr>
          <a:xfrm>
            <a:off x="4663440" y="1280160"/>
            <a:ext cx="1920240" cy="3108960"/>
          </a:xfrm>
          <a:prstGeom prst="roundRect">
            <a:avLst>
              <a:gd name="adj" fmla="val 3810"/>
            </a:avLst>
          </a:prstGeom>
          <a:solidFill>
            <a:srgbClr val="FFFFFF"/>
          </a:solidFill>
          <a:ln/>
        </p:spPr>
      </p:sp>
      <p:sp>
        <p:nvSpPr>
          <p:cNvPr id="19" name="Shape 17"/>
          <p:cNvSpPr/>
          <p:nvPr/>
        </p:nvSpPr>
        <p:spPr>
          <a:xfrm>
            <a:off x="4846320" y="1481328"/>
            <a:ext cx="164592" cy="164592"/>
          </a:xfrm>
          <a:prstGeom prst="ellipse">
            <a:avLst/>
          </a:prstGeom>
          <a:solidFill>
            <a:schemeClr val="accent1"/>
          </a:solidFill>
          <a:ln/>
        </p:spPr>
      </p:sp>
      <p:sp>
        <p:nvSpPr>
          <p:cNvPr id="20" name="Text 18"/>
          <p:cNvSpPr txBox="1"/>
          <p:nvPr/>
        </p:nvSpPr>
        <p:spPr>
          <a:xfrm>
            <a:off x="5074920" y="1399032"/>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straw. </a:t>
            </a:r>
            <a:pPr indent="0" marL="0">
              <a:buNone/>
            </a:pPr>
            <a:r>
              <a:rPr lang="en-US" sz="1500" i="1" dirty="0">
                <a:solidFill>
                  <a:schemeClr val="tx1"/>
                </a:solidFill>
                <a:latin typeface="Cambria" pitchFamily="34" charset="0"/>
                <a:ea typeface="Cambria" pitchFamily="34" charset="-122"/>
                <a:cs typeface="Cambria" pitchFamily="34" charset="-120"/>
              </a:rPr>
              <a:t>luna</a:t>
            </a:r>
            <a:endParaRPr lang="en-US" sz="1500" dirty="0"/>
          </a:p>
        </p:txBody>
      </p:sp>
      <p:sp>
        <p:nvSpPr>
          <p:cNvPr id="21" name="Text 19"/>
          <p:cNvSpPr txBox="1"/>
          <p:nvPr/>
        </p:nvSpPr>
        <p:spPr>
          <a:xfrm>
            <a:off x="4846320" y="1874520"/>
            <a:ext cx="1645920" cy="457200"/>
          </a:xfrm>
          <a:prstGeom prst="rect">
            <a:avLst/>
          </a:prstGeom>
          <a:noFill/>
          <a:ln/>
        </p:spPr>
        <p:txBody>
          <a:bodyPr wrap="square" lIns="0" tIns="0" rIns="0" bIns="0" rtlCol="0" anchor="ctr"/>
          <a:lstStyle/>
          <a:p>
            <a:pPr indent="0" marL="0">
              <a:buNone/>
            </a:pPr>
            <a:r>
              <a:rPr lang="en-US" sz="2600" b="1" dirty="0">
                <a:solidFill>
                  <a:schemeClr val="accent1"/>
                </a:solidFill>
              </a:rPr>
              <a:t>14 M</a:t>
            </a:r>
            <a:endParaRPr lang="en-US" sz="2600" dirty="0"/>
          </a:p>
        </p:txBody>
      </p:sp>
      <p:sp>
        <p:nvSpPr>
          <p:cNvPr id="22" name="Text 20"/>
          <p:cNvSpPr txBox="1"/>
          <p:nvPr/>
        </p:nvSpPr>
        <p:spPr>
          <a:xfrm>
            <a:off x="4846320" y="2331720"/>
            <a:ext cx="1600200" cy="685800"/>
          </a:xfrm>
          <a:prstGeom prst="rect">
            <a:avLst/>
          </a:prstGeom>
          <a:noFill/>
          <a:ln/>
        </p:spPr>
        <p:txBody>
          <a:bodyPr wrap="square" lIns="0" tIns="0" rIns="0" bIns="0" rtlCol="0" anchor="t"/>
          <a:lstStyle/>
          <a:p>
            <a:pPr indent="0" marL="0">
              <a:buNone/>
            </a:pPr>
            <a:r>
              <a:rPr lang="en-US" sz="1100" dirty="0">
                <a:solidFill>
                  <a:schemeClr val="tx2"/>
                </a:solidFill>
              </a:rPr>
              <a:t>de femmes concernées par la ménopause en France</a:t>
            </a:r>
            <a:endParaRPr lang="en-US" sz="1100" dirty="0"/>
          </a:p>
        </p:txBody>
      </p:sp>
      <p:sp>
        <p:nvSpPr>
          <p:cNvPr id="23" name="Text 21"/>
          <p:cNvSpPr txBox="1"/>
          <p:nvPr/>
        </p:nvSpPr>
        <p:spPr>
          <a:xfrm>
            <a:off x="4846320" y="3063240"/>
            <a:ext cx="1645920" cy="457200"/>
          </a:xfrm>
          <a:prstGeom prst="rect">
            <a:avLst/>
          </a:prstGeom>
          <a:noFill/>
          <a:ln/>
        </p:spPr>
        <p:txBody>
          <a:bodyPr wrap="square" lIns="0" tIns="0" rIns="0" bIns="0" rtlCol="0" anchor="ctr"/>
          <a:lstStyle/>
          <a:p>
            <a:pPr indent="0" marL="0">
              <a:buNone/>
            </a:pPr>
            <a:r>
              <a:rPr lang="en-US" sz="2600" b="1" dirty="0">
                <a:solidFill>
                  <a:schemeClr val="accent1"/>
                </a:solidFill>
              </a:rPr>
              <a:t>+9 %</a:t>
            </a:r>
            <a:endParaRPr lang="en-US" sz="2600" dirty="0"/>
          </a:p>
        </p:txBody>
      </p:sp>
      <p:sp>
        <p:nvSpPr>
          <p:cNvPr id="24" name="Text 22"/>
          <p:cNvSpPr txBox="1"/>
          <p:nvPr/>
        </p:nvSpPr>
        <p:spPr>
          <a:xfrm>
            <a:off x="4846320" y="3520440"/>
            <a:ext cx="1600200" cy="685800"/>
          </a:xfrm>
          <a:prstGeom prst="rect">
            <a:avLst/>
          </a:prstGeom>
          <a:noFill/>
          <a:ln/>
        </p:spPr>
        <p:txBody>
          <a:bodyPr wrap="square" lIns="0" tIns="0" rIns="0" bIns="0" rtlCol="0" anchor="t"/>
          <a:lstStyle/>
          <a:p>
            <a:pPr indent="0" marL="0">
              <a:buNone/>
            </a:pPr>
            <a:r>
              <a:rPr lang="en-US" sz="1100" dirty="0">
                <a:solidFill>
                  <a:schemeClr val="tx2"/>
                </a:solidFill>
              </a:rPr>
              <a:t>de ventes ménopause en pharmacie en 2024</a:t>
            </a:r>
            <a:endParaRPr lang="en-US" sz="1100" dirty="0"/>
          </a:p>
        </p:txBody>
      </p:sp>
      <p:sp>
        <p:nvSpPr>
          <p:cNvPr id="25" name="card-silver"/>
          <p:cNvSpPr/>
          <p:nvPr/>
        </p:nvSpPr>
        <p:spPr>
          <a:xfrm>
            <a:off x="6766560" y="1280160"/>
            <a:ext cx="1920240" cy="3108960"/>
          </a:xfrm>
          <a:prstGeom prst="roundRect">
            <a:avLst>
              <a:gd name="adj" fmla="val 3810"/>
            </a:avLst>
          </a:prstGeom>
          <a:solidFill>
            <a:srgbClr val="FFFFFF"/>
          </a:solidFill>
          <a:ln/>
        </p:spPr>
      </p:sp>
      <p:sp>
        <p:nvSpPr>
          <p:cNvPr id="26" name="Shape 24"/>
          <p:cNvSpPr/>
          <p:nvPr/>
        </p:nvSpPr>
        <p:spPr>
          <a:xfrm>
            <a:off x="6949440" y="1481328"/>
            <a:ext cx="164592" cy="164592"/>
          </a:xfrm>
          <a:prstGeom prst="ellipse">
            <a:avLst/>
          </a:prstGeom>
          <a:solidFill>
            <a:schemeClr val="accent2"/>
          </a:solidFill>
          <a:ln/>
        </p:spPr>
      </p:sp>
      <p:sp>
        <p:nvSpPr>
          <p:cNvPr id="27" name="Text 25"/>
          <p:cNvSpPr txBox="1"/>
          <p:nvPr/>
        </p:nvSpPr>
        <p:spPr>
          <a:xfrm>
            <a:off x="7178040" y="1399032"/>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straw. </a:t>
            </a:r>
            <a:pPr indent="0" marL="0">
              <a:buNone/>
            </a:pPr>
            <a:r>
              <a:rPr lang="en-US" sz="1500" i="1" dirty="0">
                <a:solidFill>
                  <a:schemeClr val="tx1"/>
                </a:solidFill>
                <a:latin typeface="Cambria" pitchFamily="34" charset="0"/>
                <a:ea typeface="Cambria" pitchFamily="34" charset="-122"/>
                <a:cs typeface="Cambria" pitchFamily="34" charset="-120"/>
              </a:rPr>
              <a:t>silver</a:t>
            </a:r>
            <a:endParaRPr lang="en-US" sz="1500" dirty="0"/>
          </a:p>
        </p:txBody>
      </p:sp>
      <p:sp>
        <p:nvSpPr>
          <p:cNvPr id="28" name="Text 26"/>
          <p:cNvSpPr txBox="1"/>
          <p:nvPr/>
        </p:nvSpPr>
        <p:spPr>
          <a:xfrm>
            <a:off x="6949440" y="1874520"/>
            <a:ext cx="1645920" cy="457200"/>
          </a:xfrm>
          <a:prstGeom prst="rect">
            <a:avLst/>
          </a:prstGeom>
          <a:noFill/>
          <a:ln/>
        </p:spPr>
        <p:txBody>
          <a:bodyPr wrap="square" lIns="0" tIns="0" rIns="0" bIns="0" rtlCol="0" anchor="ctr"/>
          <a:lstStyle/>
          <a:p>
            <a:pPr indent="0" marL="0">
              <a:buNone/>
            </a:pPr>
            <a:r>
              <a:rPr lang="en-US" sz="2600" b="1" dirty="0">
                <a:solidFill>
                  <a:schemeClr val="accent2"/>
                </a:solidFill>
              </a:rPr>
              <a:t>22 %</a:t>
            </a:r>
            <a:endParaRPr lang="en-US" sz="2600" dirty="0"/>
          </a:p>
        </p:txBody>
      </p:sp>
      <p:sp>
        <p:nvSpPr>
          <p:cNvPr id="29" name="Text 27"/>
          <p:cNvSpPr txBox="1"/>
          <p:nvPr/>
        </p:nvSpPr>
        <p:spPr>
          <a:xfrm>
            <a:off x="6949440" y="2331720"/>
            <a:ext cx="1600200" cy="685800"/>
          </a:xfrm>
          <a:prstGeom prst="rect">
            <a:avLst/>
          </a:prstGeom>
          <a:noFill/>
          <a:ln/>
        </p:spPr>
        <p:txBody>
          <a:bodyPr wrap="square" lIns="0" tIns="0" rIns="0" bIns="0" rtlCol="0" anchor="t"/>
          <a:lstStyle/>
          <a:p>
            <a:pPr indent="0" marL="0">
              <a:buNone/>
            </a:pPr>
            <a:r>
              <a:rPr lang="en-US" sz="1100" dirty="0">
                <a:solidFill>
                  <a:schemeClr val="tx2"/>
                </a:solidFill>
              </a:rPr>
              <a:t>des Français ont 65 ans ou plus</a:t>
            </a:r>
            <a:endParaRPr lang="en-US" sz="1100" dirty="0"/>
          </a:p>
        </p:txBody>
      </p:sp>
      <p:sp>
        <p:nvSpPr>
          <p:cNvPr id="30" name="Text 28"/>
          <p:cNvSpPr txBox="1"/>
          <p:nvPr/>
        </p:nvSpPr>
        <p:spPr>
          <a:xfrm>
            <a:off x="6949440" y="3063240"/>
            <a:ext cx="1645920" cy="457200"/>
          </a:xfrm>
          <a:prstGeom prst="rect">
            <a:avLst/>
          </a:prstGeom>
          <a:noFill/>
          <a:ln/>
        </p:spPr>
        <p:txBody>
          <a:bodyPr wrap="square" lIns="0" tIns="0" rIns="0" bIns="0" rtlCol="0" anchor="ctr"/>
          <a:lstStyle/>
          <a:p>
            <a:pPr indent="0" marL="0">
              <a:buNone/>
            </a:pPr>
            <a:r>
              <a:rPr lang="en-US" sz="2600" b="1" dirty="0">
                <a:solidFill>
                  <a:schemeClr val="accent2"/>
                </a:solidFill>
              </a:rPr>
              <a:t>14 %</a:t>
            </a:r>
            <a:endParaRPr lang="en-US" sz="2600" dirty="0"/>
          </a:p>
        </p:txBody>
      </p:sp>
      <p:sp>
        <p:nvSpPr>
          <p:cNvPr id="31" name="Text 29"/>
          <p:cNvSpPr txBox="1"/>
          <p:nvPr/>
        </p:nvSpPr>
        <p:spPr>
          <a:xfrm>
            <a:off x="6949440" y="3520440"/>
            <a:ext cx="1600200" cy="685800"/>
          </a:xfrm>
          <a:prstGeom prst="rect">
            <a:avLst/>
          </a:prstGeom>
          <a:noFill/>
          <a:ln/>
        </p:spPr>
        <p:txBody>
          <a:bodyPr wrap="square" lIns="0" tIns="0" rIns="0" bIns="0" rtlCol="0" anchor="t"/>
          <a:lstStyle/>
          <a:p>
            <a:pPr indent="0" marL="0">
              <a:buNone/>
            </a:pPr>
            <a:r>
              <a:rPr lang="en-US" sz="1100" dirty="0">
                <a:solidFill>
                  <a:schemeClr val="tx2"/>
                </a:solidFill>
              </a:rPr>
              <a:t>des seniors à domicile ont du mal à avaler un comprimé</a:t>
            </a:r>
            <a:endParaRPr lang="en-US" sz="1100" dirty="0"/>
          </a:p>
        </p:txBody>
      </p:sp>
      <p:sp>
        <p:nvSpPr>
          <p:cNvPr id="32" name="sources"/>
          <p:cNvSpPr txBox="1"/>
          <p:nvPr/>
        </p:nvSpPr>
        <p:spPr>
          <a:xfrm>
            <a:off x="457200" y="4526280"/>
            <a:ext cx="8229600" cy="201168"/>
          </a:xfrm>
          <a:prstGeom prst="rect">
            <a:avLst/>
          </a:prstGeom>
          <a:noFill/>
          <a:ln/>
        </p:spPr>
        <p:txBody>
          <a:bodyPr wrap="square" lIns="0" tIns="0" rIns="0" bIns="0" rtlCol="0" anchor="ctr"/>
          <a:lstStyle/>
          <a:p>
            <a:pPr indent="0" marL="0">
              <a:buNone/>
            </a:pPr>
            <a:r>
              <a:rPr lang="en-US" sz="800" dirty="0">
                <a:solidFill>
                  <a:schemeClr val="tx2"/>
                </a:solidFill>
              </a:rPr>
              <a:t>Sources : Anses INCA 3 · Le Quotidien du Pharmacien · Synadiet · Les Échos Études / GERS · INSEE 2025 · études dysphagie (détail en annexe).</a:t>
            </a:r>
            <a:endParaRPr lang="en-US" sz="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LA CONCURRENCE</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pourquoi une paille </a:t>
            </a:r>
            <a:pPr algn="l" indent="0" marL="0">
              <a:buNone/>
            </a:pPr>
            <a:r>
              <a:rPr lang="en-US" sz="2800" i="1" dirty="0">
                <a:solidFill>
                  <a:schemeClr val="tx1"/>
                </a:solidFill>
                <a:latin typeface="Cambria" pitchFamily="34" charset="0"/>
                <a:ea typeface="Cambria" pitchFamily="34" charset="-122"/>
                <a:cs typeface="Cambria" pitchFamily="34" charset="-120"/>
              </a:rPr>
              <a:t>plutôt qu'une gélule ?</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554480"/>
                <a:gridCol w="2011680"/>
                <a:gridCol w="1463040"/>
                <a:gridCol w="1737360"/>
                <a:gridCol w="1463040"/>
              </a:tblGrid>
              <a:tr h="384048">
                <a:tc>
                  <a:txBody>
                    <a:bodyPr/>
                    <a:lstStyle/>
                    <a:p>
                      <a:pPr indent="0" marL="0">
                        <a:buNone/>
                      </a:pP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bg2"/>
                          </a:solidFill>
                        </a:rPr>
                        <a:t>straw.</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tx1"/>
                    </a:solidFill>
                  </a:tcPr>
                </a:tc>
                <a:tc>
                  <a:txBody>
                    <a:bodyPr/>
                    <a:lstStyle/>
                    <a:p>
                      <a:pPr indent="0" marL="0">
                        <a:buNone/>
                      </a:pPr>
                      <a:r>
                        <a:rPr lang="en-US" sz="1200" b="1" dirty="0">
                          <a:solidFill>
                            <a:schemeClr val="tx2"/>
                          </a:solidFill>
                        </a:rPr>
                        <a:t>gélules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2"/>
                          </a:solidFill>
                        </a:rPr>
                        <a:t>gummies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2"/>
                          </a:solidFill>
                        </a:rPr>
                        <a:t>poudres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à avaler</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rien, on boit</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1 à 3 gélules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à mâcher</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à diluer</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enfants &amp; seniors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même geste à tout âge</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difficile</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confusion avec un bonbon</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goût souvent refusé</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sucre</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sans sucre ajouté</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non</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 à 4 g</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souvent</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dose visible</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oui, les billes disparaissent</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non</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non</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non</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moment plaisir</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sa boisson préférée</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non</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oui</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moyen</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457200" y="3931920"/>
            <a:ext cx="8229600" cy="457200"/>
          </a:xfrm>
          <a:prstGeom prst="rect">
            <a:avLst/>
          </a:prstGeom>
          <a:noFill/>
          <a:ln/>
        </p:spPr>
        <p:txBody>
          <a:bodyPr wrap="square" lIns="0" tIns="0" rIns="0" bIns="0" rtlCol="0" anchor="ctr"/>
          <a:lstStyle/>
          <a:p>
            <a:pPr indent="0" marL="0">
              <a:buNone/>
            </a:pPr>
            <a:r>
              <a:rPr lang="en-US" sz="1300" i="1" dirty="0">
                <a:solidFill>
                  <a:schemeClr val="tx1"/>
                </a:solidFill>
                <a:latin typeface="Cambria" pitchFamily="34" charset="0"/>
                <a:ea typeface="Cambria" pitchFamily="34" charset="-122"/>
                <a:cs typeface="Cambria" pitchFamily="34" charset="-120"/>
              </a:rPr>
              <a:t>Notre avantage : le seul format qui marche aussi bien pour un enfant de 6 ans que pour son grand-père, et qui ajoute un verre d'eau à chaque prise.</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LA VALIDATION</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ce qui est fait, </a:t>
            </a:r>
            <a:pPr algn="l" indent="0" marL="0">
              <a:buNone/>
            </a:pPr>
            <a:r>
              <a:rPr lang="en-US" sz="2800" i="1" dirty="0">
                <a:solidFill>
                  <a:schemeClr val="tx1"/>
                </a:solidFill>
                <a:latin typeface="Cambria" pitchFamily="34" charset="0"/>
                <a:ea typeface="Cambria" pitchFamily="34" charset="-122"/>
                <a:cs typeface="Cambria" pitchFamily="34" charset="-120"/>
              </a:rPr>
              <a:t>ce qui reste à prouver</a:t>
            </a:r>
            <a:endParaRPr lang="en-US" sz="2800" dirty="0"/>
          </a:p>
        </p:txBody>
      </p:sp>
      <p:sp>
        <p:nvSpPr>
          <p:cNvPr id="4" name="val-done"/>
          <p:cNvSpPr/>
          <p:nvPr/>
        </p:nvSpPr>
        <p:spPr>
          <a:xfrm>
            <a:off x="457200" y="1280160"/>
            <a:ext cx="3977640" cy="3108960"/>
          </a:xfrm>
          <a:prstGeom prst="roundRect">
            <a:avLst>
              <a:gd name="adj" fmla="val 2353"/>
            </a:avLst>
          </a:prstGeom>
          <a:solidFill>
            <a:srgbClr val="FFFFFF"/>
          </a:solidFill>
          <a:ln/>
        </p:spPr>
      </p:sp>
      <p:sp>
        <p:nvSpPr>
          <p:cNvPr id="5" name="Text 3"/>
          <p:cNvSpPr txBox="1"/>
          <p:nvPr/>
        </p:nvSpPr>
        <p:spPr>
          <a:xfrm>
            <a:off x="731520" y="1463040"/>
            <a:ext cx="3474720" cy="365760"/>
          </a:xfrm>
          <a:prstGeom prst="rect">
            <a:avLst/>
          </a:prstGeom>
          <a:noFill/>
          <a:ln/>
        </p:spPr>
        <p:txBody>
          <a:bodyPr wrap="square" lIns="0" tIns="0" rIns="0" bIns="0" rtlCol="0" anchor="ctr"/>
          <a:lstStyle/>
          <a:p>
            <a:pPr indent="0" marL="0">
              <a:buNone/>
            </a:pPr>
            <a:r>
              <a:rPr lang="en-US" sz="1800" b="1" dirty="0">
                <a:solidFill>
                  <a:schemeClr val="tx1"/>
                </a:solidFill>
              </a:rPr>
              <a:t>déjà fait</a:t>
            </a:r>
            <a:endParaRPr lang="en-US" sz="1800" dirty="0"/>
          </a:p>
        </p:txBody>
      </p:sp>
      <p:sp>
        <p:nvSpPr>
          <p:cNvPr id="6" name="Shape 4"/>
          <p:cNvSpPr/>
          <p:nvPr/>
        </p:nvSpPr>
        <p:spPr>
          <a:xfrm>
            <a:off x="731520" y="2020824"/>
            <a:ext cx="164592" cy="164592"/>
          </a:xfrm>
          <a:prstGeom prst="ellipse">
            <a:avLst/>
          </a:prstGeom>
          <a:solidFill>
            <a:schemeClr val="accent2"/>
          </a:solidFill>
          <a:ln/>
        </p:spPr>
      </p:sp>
      <p:sp>
        <p:nvSpPr>
          <p:cNvPr id="7" name="Text 5"/>
          <p:cNvSpPr txBox="1"/>
          <p:nvPr/>
        </p:nvSpPr>
        <p:spPr>
          <a:xfrm>
            <a:off x="1024128" y="1965960"/>
            <a:ext cx="3246120" cy="365760"/>
          </a:xfrm>
          <a:prstGeom prst="rect">
            <a:avLst/>
          </a:prstGeom>
          <a:noFill/>
          <a:ln/>
        </p:spPr>
        <p:txBody>
          <a:bodyPr wrap="square" lIns="0" tIns="0" rIns="0" bIns="0" rtlCol="0" anchor="t"/>
          <a:lstStyle/>
          <a:p>
            <a:pPr indent="0" marL="0">
              <a:buNone/>
            </a:pPr>
            <a:r>
              <a:rPr lang="en-US" sz="1300" dirty="0">
                <a:solidFill>
                  <a:schemeClr val="tx1"/>
                </a:solidFill>
              </a:rPr>
              <a:t>Étude de marché (Synadiet, Anses, INSEE)</a:t>
            </a:r>
            <a:endParaRPr lang="en-US" sz="1300" dirty="0"/>
          </a:p>
        </p:txBody>
      </p:sp>
      <p:sp>
        <p:nvSpPr>
          <p:cNvPr id="8" name="Shape 6"/>
          <p:cNvSpPr/>
          <p:nvPr/>
        </p:nvSpPr>
        <p:spPr>
          <a:xfrm>
            <a:off x="731520" y="2478024"/>
            <a:ext cx="164592" cy="164592"/>
          </a:xfrm>
          <a:prstGeom prst="ellipse">
            <a:avLst/>
          </a:prstGeom>
          <a:solidFill>
            <a:schemeClr val="accent2"/>
          </a:solidFill>
          <a:ln/>
        </p:spPr>
      </p:sp>
      <p:sp>
        <p:nvSpPr>
          <p:cNvPr id="9" name="Text 7"/>
          <p:cNvSpPr txBox="1"/>
          <p:nvPr/>
        </p:nvSpPr>
        <p:spPr>
          <a:xfrm>
            <a:off x="1024128" y="2423160"/>
            <a:ext cx="3246120" cy="365760"/>
          </a:xfrm>
          <a:prstGeom prst="rect">
            <a:avLst/>
          </a:prstGeom>
          <a:noFill/>
          <a:ln/>
        </p:spPr>
        <p:txBody>
          <a:bodyPr wrap="square" lIns="0" tIns="0" rIns="0" bIns="0" rtlCol="0" anchor="t"/>
          <a:lstStyle/>
          <a:p>
            <a:pPr indent="0" marL="0">
              <a:buNone/>
            </a:pPr>
            <a:r>
              <a:rPr lang="en-US" sz="1300" dirty="0">
                <a:solidFill>
                  <a:schemeClr val="tx1"/>
                </a:solidFill>
              </a:rPr>
              <a:t>Personas et carte d'empathie</a:t>
            </a:r>
            <a:endParaRPr lang="en-US" sz="1300" dirty="0"/>
          </a:p>
        </p:txBody>
      </p:sp>
      <p:sp>
        <p:nvSpPr>
          <p:cNvPr id="10" name="Shape 8"/>
          <p:cNvSpPr/>
          <p:nvPr/>
        </p:nvSpPr>
        <p:spPr>
          <a:xfrm>
            <a:off x="731520" y="2935224"/>
            <a:ext cx="164592" cy="164592"/>
          </a:xfrm>
          <a:prstGeom prst="ellipse">
            <a:avLst/>
          </a:prstGeom>
          <a:solidFill>
            <a:schemeClr val="accent2"/>
          </a:solidFill>
          <a:ln/>
        </p:spPr>
      </p:sp>
      <p:sp>
        <p:nvSpPr>
          <p:cNvPr id="11" name="Text 9"/>
          <p:cNvSpPr txBox="1"/>
          <p:nvPr/>
        </p:nvSpPr>
        <p:spPr>
          <a:xfrm>
            <a:off x="1024128" y="2880360"/>
            <a:ext cx="3246120" cy="365760"/>
          </a:xfrm>
          <a:prstGeom prst="rect">
            <a:avLst/>
          </a:prstGeom>
          <a:noFill/>
          <a:ln/>
        </p:spPr>
        <p:txBody>
          <a:bodyPr wrap="square" lIns="0" tIns="0" rIns="0" bIns="0" rtlCol="0" anchor="t"/>
          <a:lstStyle/>
          <a:p>
            <a:pPr indent="0" marL="0">
              <a:buNone/>
            </a:pPr>
            <a:r>
              <a:rPr lang="en-US" sz="1300" dirty="0">
                <a:solidFill>
                  <a:schemeClr val="tx1"/>
                </a:solidFill>
              </a:rPr>
              <a:t>Carte perceptuelle face à la concurrence</a:t>
            </a:r>
            <a:endParaRPr lang="en-US" sz="1300" dirty="0"/>
          </a:p>
        </p:txBody>
      </p:sp>
      <p:sp>
        <p:nvSpPr>
          <p:cNvPr id="12" name="Shape 10"/>
          <p:cNvSpPr/>
          <p:nvPr/>
        </p:nvSpPr>
        <p:spPr>
          <a:xfrm>
            <a:off x="731520" y="3392424"/>
            <a:ext cx="164592" cy="164592"/>
          </a:xfrm>
          <a:prstGeom prst="ellipse">
            <a:avLst/>
          </a:prstGeom>
          <a:solidFill>
            <a:schemeClr val="accent2"/>
          </a:solidFill>
          <a:ln/>
        </p:spPr>
      </p:sp>
      <p:sp>
        <p:nvSpPr>
          <p:cNvPr id="13" name="Text 11"/>
          <p:cNvSpPr txBox="1"/>
          <p:nvPr/>
        </p:nvSpPr>
        <p:spPr>
          <a:xfrm>
            <a:off x="1024128" y="3337560"/>
            <a:ext cx="3246120" cy="365760"/>
          </a:xfrm>
          <a:prstGeom prst="rect">
            <a:avLst/>
          </a:prstGeom>
          <a:noFill/>
          <a:ln/>
        </p:spPr>
        <p:txBody>
          <a:bodyPr wrap="square" lIns="0" tIns="0" rIns="0" bIns="0" rtlCol="0" anchor="t"/>
          <a:lstStyle/>
          <a:p>
            <a:pPr indent="0" marL="0">
              <a:buNone/>
            </a:pPr>
            <a:r>
              <a:rPr lang="en-US" sz="1300" dirty="0">
                <a:solidFill>
                  <a:schemeClr val="tx1"/>
                </a:solidFill>
              </a:rPr>
              <a:t>Identité de marque et 16 pailles définies</a:t>
            </a:r>
            <a:endParaRPr lang="en-US" sz="1300" dirty="0"/>
          </a:p>
        </p:txBody>
      </p:sp>
      <p:sp>
        <p:nvSpPr>
          <p:cNvPr id="14" name="Shape 12"/>
          <p:cNvSpPr/>
          <p:nvPr/>
        </p:nvSpPr>
        <p:spPr>
          <a:xfrm>
            <a:off x="731520" y="3849624"/>
            <a:ext cx="164592" cy="164592"/>
          </a:xfrm>
          <a:prstGeom prst="ellipse">
            <a:avLst/>
          </a:prstGeom>
          <a:solidFill>
            <a:schemeClr val="accent2"/>
          </a:solidFill>
          <a:ln/>
        </p:spPr>
      </p:sp>
      <p:sp>
        <p:nvSpPr>
          <p:cNvPr id="15" name="Text 13"/>
          <p:cNvSpPr txBox="1"/>
          <p:nvPr/>
        </p:nvSpPr>
        <p:spPr>
          <a:xfrm>
            <a:off x="1024128" y="3794760"/>
            <a:ext cx="3246120" cy="365760"/>
          </a:xfrm>
          <a:prstGeom prst="rect">
            <a:avLst/>
          </a:prstGeom>
          <a:noFill/>
          <a:ln/>
        </p:spPr>
        <p:txBody>
          <a:bodyPr wrap="square" lIns="0" tIns="0" rIns="0" bIns="0" rtlCol="0" anchor="t"/>
          <a:lstStyle/>
          <a:p>
            <a:pPr indent="0" marL="0">
              <a:buNone/>
            </a:pPr>
            <a:r>
              <a:rPr lang="en-US" sz="1300" dirty="0">
                <a:solidFill>
                  <a:schemeClr val="tx1"/>
                </a:solidFill>
              </a:rPr>
              <a:t>Site vitrine avec liste d'attente</a:t>
            </a:r>
            <a:endParaRPr lang="en-US" sz="1300" dirty="0"/>
          </a:p>
        </p:txBody>
      </p:sp>
      <p:sp>
        <p:nvSpPr>
          <p:cNvPr id="16" name="val-next"/>
          <p:cNvSpPr/>
          <p:nvPr/>
        </p:nvSpPr>
        <p:spPr>
          <a:xfrm>
            <a:off x="4709160" y="1280160"/>
            <a:ext cx="3977640" cy="3108960"/>
          </a:xfrm>
          <a:prstGeom prst="roundRect">
            <a:avLst>
              <a:gd name="adj" fmla="val 2353"/>
            </a:avLst>
          </a:prstGeom>
          <a:solidFill>
            <a:srgbClr val="FFFFFF"/>
          </a:solidFill>
          <a:ln/>
        </p:spPr>
      </p:sp>
      <p:sp>
        <p:nvSpPr>
          <p:cNvPr id="17" name="Text 15"/>
          <p:cNvSpPr txBox="1"/>
          <p:nvPr/>
        </p:nvSpPr>
        <p:spPr>
          <a:xfrm>
            <a:off x="4983480" y="1463040"/>
            <a:ext cx="3474720" cy="365760"/>
          </a:xfrm>
          <a:prstGeom prst="rect">
            <a:avLst/>
          </a:prstGeom>
          <a:noFill/>
          <a:ln/>
        </p:spPr>
        <p:txBody>
          <a:bodyPr wrap="square" lIns="0" tIns="0" rIns="0" bIns="0" rtlCol="0" anchor="ctr"/>
          <a:lstStyle/>
          <a:p>
            <a:pPr indent="0" marL="0">
              <a:buNone/>
            </a:pPr>
            <a:r>
              <a:rPr lang="en-US" sz="1800" b="1" dirty="0">
                <a:solidFill>
                  <a:schemeClr val="tx1"/>
                </a:solidFill>
              </a:rPr>
              <a:t>prochaines étapes</a:t>
            </a:r>
            <a:endParaRPr lang="en-US" sz="1800" dirty="0"/>
          </a:p>
        </p:txBody>
      </p:sp>
      <p:sp>
        <p:nvSpPr>
          <p:cNvPr id="18" name="Shape 16"/>
          <p:cNvSpPr/>
          <p:nvPr/>
        </p:nvSpPr>
        <p:spPr>
          <a:xfrm>
            <a:off x="4983480" y="2020824"/>
            <a:ext cx="164592" cy="164592"/>
          </a:xfrm>
          <a:prstGeom prst="ellipse">
            <a:avLst/>
          </a:prstGeom>
          <a:solidFill>
            <a:schemeClr val="accent4"/>
          </a:solidFill>
          <a:ln/>
        </p:spPr>
      </p:sp>
      <p:sp>
        <p:nvSpPr>
          <p:cNvPr id="19" name="Text 17"/>
          <p:cNvSpPr txBox="1"/>
          <p:nvPr/>
        </p:nvSpPr>
        <p:spPr>
          <a:xfrm>
            <a:off x="5276088" y="1965960"/>
            <a:ext cx="3246120" cy="365760"/>
          </a:xfrm>
          <a:prstGeom prst="rect">
            <a:avLst/>
          </a:prstGeom>
          <a:noFill/>
          <a:ln/>
        </p:spPr>
        <p:txBody>
          <a:bodyPr wrap="square" lIns="0" tIns="0" rIns="0" bIns="0" rtlCol="0" anchor="t"/>
          <a:lstStyle/>
          <a:p>
            <a:pPr indent="0" marL="0">
              <a:buNone/>
            </a:pPr>
            <a:r>
              <a:rPr lang="en-US" sz="1300" dirty="0">
                <a:solidFill>
                  <a:schemeClr val="tx1"/>
                </a:solidFill>
              </a:rPr>
              <a:t>Entretiens consommateurs dans chaque cible</a:t>
            </a:r>
            <a:endParaRPr lang="en-US" sz="1300" dirty="0"/>
          </a:p>
        </p:txBody>
      </p:sp>
      <p:sp>
        <p:nvSpPr>
          <p:cNvPr id="20" name="Shape 18"/>
          <p:cNvSpPr/>
          <p:nvPr/>
        </p:nvSpPr>
        <p:spPr>
          <a:xfrm>
            <a:off x="4983480" y="2478024"/>
            <a:ext cx="164592" cy="164592"/>
          </a:xfrm>
          <a:prstGeom prst="ellipse">
            <a:avLst/>
          </a:prstGeom>
          <a:solidFill>
            <a:schemeClr val="accent4"/>
          </a:solidFill>
          <a:ln/>
        </p:spPr>
      </p:sp>
      <p:sp>
        <p:nvSpPr>
          <p:cNvPr id="21" name="Text 19"/>
          <p:cNvSpPr txBox="1"/>
          <p:nvPr/>
        </p:nvSpPr>
        <p:spPr>
          <a:xfrm>
            <a:off x="5276088" y="2423160"/>
            <a:ext cx="3246120" cy="365760"/>
          </a:xfrm>
          <a:prstGeom prst="rect">
            <a:avLst/>
          </a:prstGeom>
          <a:noFill/>
          <a:ln/>
        </p:spPr>
        <p:txBody>
          <a:bodyPr wrap="square" lIns="0" tIns="0" rIns="0" bIns="0" rtlCol="0" anchor="t"/>
          <a:lstStyle/>
          <a:p>
            <a:pPr indent="0" marL="0">
              <a:buNone/>
            </a:pPr>
            <a:r>
              <a:rPr lang="en-US" sz="1300" dirty="0">
                <a:solidFill>
                  <a:schemeClr val="tx1"/>
                </a:solidFill>
              </a:rPr>
              <a:t>Tests de goût et de dissolution</a:t>
            </a:r>
            <a:endParaRPr lang="en-US" sz="1300" dirty="0"/>
          </a:p>
        </p:txBody>
      </p:sp>
      <p:sp>
        <p:nvSpPr>
          <p:cNvPr id="22" name="Shape 20"/>
          <p:cNvSpPr/>
          <p:nvPr/>
        </p:nvSpPr>
        <p:spPr>
          <a:xfrm>
            <a:off x="4983480" y="2935224"/>
            <a:ext cx="164592" cy="164592"/>
          </a:xfrm>
          <a:prstGeom prst="ellipse">
            <a:avLst/>
          </a:prstGeom>
          <a:solidFill>
            <a:schemeClr val="accent4"/>
          </a:solidFill>
          <a:ln/>
        </p:spPr>
      </p:sp>
      <p:sp>
        <p:nvSpPr>
          <p:cNvPr id="23" name="Text 21"/>
          <p:cNvSpPr txBox="1"/>
          <p:nvPr/>
        </p:nvSpPr>
        <p:spPr>
          <a:xfrm>
            <a:off x="5276088" y="2880360"/>
            <a:ext cx="3246120" cy="365760"/>
          </a:xfrm>
          <a:prstGeom prst="rect">
            <a:avLst/>
          </a:prstGeom>
          <a:noFill/>
          <a:ln/>
        </p:spPr>
        <p:txBody>
          <a:bodyPr wrap="square" lIns="0" tIns="0" rIns="0" bIns="0" rtlCol="0" anchor="t"/>
          <a:lstStyle/>
          <a:p>
            <a:pPr indent="0" marL="0">
              <a:buNone/>
            </a:pPr>
            <a:r>
              <a:rPr lang="en-US" sz="1300" dirty="0">
                <a:solidFill>
                  <a:schemeClr val="tx1"/>
                </a:solidFill>
              </a:rPr>
              <a:t>Devis et prototype avec le fabricant</a:t>
            </a:r>
            <a:endParaRPr lang="en-US" sz="1300" dirty="0"/>
          </a:p>
        </p:txBody>
      </p:sp>
      <p:sp>
        <p:nvSpPr>
          <p:cNvPr id="24" name="Shape 22"/>
          <p:cNvSpPr/>
          <p:nvPr/>
        </p:nvSpPr>
        <p:spPr>
          <a:xfrm>
            <a:off x="4983480" y="3392424"/>
            <a:ext cx="164592" cy="164592"/>
          </a:xfrm>
          <a:prstGeom prst="ellipse">
            <a:avLst/>
          </a:prstGeom>
          <a:solidFill>
            <a:schemeClr val="accent4"/>
          </a:solidFill>
          <a:ln/>
        </p:spPr>
      </p:sp>
      <p:sp>
        <p:nvSpPr>
          <p:cNvPr id="25" name="Text 23"/>
          <p:cNvSpPr txBox="1"/>
          <p:nvPr/>
        </p:nvSpPr>
        <p:spPr>
          <a:xfrm>
            <a:off x="5276088" y="3337560"/>
            <a:ext cx="3246120" cy="365760"/>
          </a:xfrm>
          <a:prstGeom prst="rect">
            <a:avLst/>
          </a:prstGeom>
          <a:noFill/>
          <a:ln/>
        </p:spPr>
        <p:txBody>
          <a:bodyPr wrap="square" lIns="0" tIns="0" rIns="0" bIns="0" rtlCol="0" anchor="t"/>
          <a:lstStyle/>
          <a:p>
            <a:pPr indent="0" marL="0">
              <a:buNone/>
            </a:pPr>
            <a:r>
              <a:rPr lang="en-US" sz="1300" dirty="0">
                <a:solidFill>
                  <a:schemeClr val="tx1"/>
                </a:solidFill>
              </a:rPr>
              <a:t>Validation réglementaire des formules</a:t>
            </a:r>
            <a:endParaRPr lang="en-US" sz="1300" dirty="0"/>
          </a:p>
        </p:txBody>
      </p:sp>
      <p:sp>
        <p:nvSpPr>
          <p:cNvPr id="26" name="Shape 24"/>
          <p:cNvSpPr/>
          <p:nvPr/>
        </p:nvSpPr>
        <p:spPr>
          <a:xfrm>
            <a:off x="4983480" y="3849624"/>
            <a:ext cx="164592" cy="164592"/>
          </a:xfrm>
          <a:prstGeom prst="ellipse">
            <a:avLst/>
          </a:prstGeom>
          <a:solidFill>
            <a:schemeClr val="accent4"/>
          </a:solidFill>
          <a:ln/>
        </p:spPr>
      </p:sp>
      <p:sp>
        <p:nvSpPr>
          <p:cNvPr id="27" name="Text 25"/>
          <p:cNvSpPr txBox="1"/>
          <p:nvPr/>
        </p:nvSpPr>
        <p:spPr>
          <a:xfrm>
            <a:off x="5276088" y="3794760"/>
            <a:ext cx="3246120" cy="365760"/>
          </a:xfrm>
          <a:prstGeom prst="rect">
            <a:avLst/>
          </a:prstGeom>
          <a:noFill/>
          <a:ln/>
        </p:spPr>
        <p:txBody>
          <a:bodyPr wrap="square" lIns="0" tIns="0" rIns="0" bIns="0" rtlCol="0" anchor="t"/>
          <a:lstStyle/>
          <a:p>
            <a:pPr indent="0" marL="0">
              <a:buNone/>
            </a:pPr>
            <a:r>
              <a:rPr lang="en-US" sz="1300" dirty="0">
                <a:solidFill>
                  <a:schemeClr val="tx1"/>
                </a:solidFill>
              </a:rPr>
              <a:t>Premiers inscrits sur la liste d'attente</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LE MODÈLE ÉCONOMIQUE</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comment straw. </a:t>
            </a:r>
            <a:pPr algn="l" indent="0" marL="0">
              <a:buNone/>
            </a:pPr>
            <a:r>
              <a:rPr lang="en-US" sz="2800" i="1" dirty="0">
                <a:solidFill>
                  <a:schemeClr val="tx1"/>
                </a:solidFill>
                <a:latin typeface="Cambria" pitchFamily="34" charset="0"/>
                <a:ea typeface="Cambria" pitchFamily="34" charset="-122"/>
                <a:cs typeface="Cambria" pitchFamily="34" charset="-120"/>
              </a:rPr>
              <a:t>gagne de l'argent</a:t>
            </a:r>
            <a:endParaRPr lang="en-US" sz="2800" dirty="0"/>
          </a:p>
        </p:txBody>
      </p:sp>
      <p:sp>
        <p:nvSpPr>
          <p:cNvPr id="4" name="stream0"/>
          <p:cNvSpPr/>
          <p:nvPr/>
        </p:nvSpPr>
        <p:spPr>
          <a:xfrm>
            <a:off x="457200" y="1280160"/>
            <a:ext cx="4572000" cy="868680"/>
          </a:xfrm>
          <a:prstGeom prst="roundRect">
            <a:avLst>
              <a:gd name="adj" fmla="val 8421"/>
            </a:avLst>
          </a:prstGeom>
          <a:solidFill>
            <a:srgbClr val="FFFFFF"/>
          </a:solidFill>
          <a:ln/>
        </p:spPr>
      </p:sp>
      <p:sp>
        <p:nvSpPr>
          <p:cNvPr id="5" name="Shape 3"/>
          <p:cNvSpPr/>
          <p:nvPr/>
        </p:nvSpPr>
        <p:spPr>
          <a:xfrm>
            <a:off x="685800" y="1581912"/>
            <a:ext cx="256032" cy="256032"/>
          </a:xfrm>
          <a:prstGeom prst="ellipse">
            <a:avLst/>
          </a:prstGeom>
          <a:solidFill>
            <a:schemeClr val="accent4"/>
          </a:solidFill>
          <a:ln/>
        </p:spPr>
      </p:sp>
      <p:sp>
        <p:nvSpPr>
          <p:cNvPr id="6" name="Text 4"/>
          <p:cNvSpPr txBox="1"/>
          <p:nvPr/>
        </p:nvSpPr>
        <p:spPr>
          <a:xfrm>
            <a:off x="1143000" y="1389888"/>
            <a:ext cx="3749040" cy="274320"/>
          </a:xfrm>
          <a:prstGeom prst="rect">
            <a:avLst/>
          </a:prstGeom>
          <a:noFill/>
          <a:ln/>
        </p:spPr>
        <p:txBody>
          <a:bodyPr wrap="square" lIns="0" tIns="0" rIns="0" bIns="0" rtlCol="0" anchor="ctr"/>
          <a:lstStyle/>
          <a:p>
            <a:pPr indent="0" marL="0">
              <a:buNone/>
            </a:pPr>
            <a:r>
              <a:rPr lang="en-US" sz="1500" b="1" dirty="0">
                <a:solidFill>
                  <a:schemeClr val="tx1"/>
                </a:solidFill>
              </a:rPr>
              <a:t>abonnement en ligne</a:t>
            </a:r>
            <a:endParaRPr lang="en-US" sz="1500" dirty="0"/>
          </a:p>
        </p:txBody>
      </p:sp>
      <p:sp>
        <p:nvSpPr>
          <p:cNvPr id="7" name="Text 5"/>
          <p:cNvSpPr txBox="1"/>
          <p:nvPr/>
        </p:nvSpPr>
        <p:spPr>
          <a:xfrm>
            <a:off x="1143000" y="1691640"/>
            <a:ext cx="3749040" cy="384048"/>
          </a:xfrm>
          <a:prstGeom prst="rect">
            <a:avLst/>
          </a:prstGeom>
          <a:noFill/>
          <a:ln/>
        </p:spPr>
        <p:txBody>
          <a:bodyPr wrap="square" lIns="0" tIns="0" rIns="0" bIns="0" rtlCol="0" anchor="t"/>
          <a:lstStyle/>
          <a:p>
            <a:pPr indent="0" marL="0">
              <a:buNone/>
            </a:pPr>
            <a:r>
              <a:rPr lang="en-US" sz="1200" dirty="0">
                <a:solidFill>
                  <a:schemeClr val="tx2"/>
                </a:solidFill>
              </a:rPr>
              <a:t>Le cœur du modèle : des revenus récurrents, livrés chaque mois, pause en un clic.</a:t>
            </a:r>
            <a:endParaRPr lang="en-US" sz="1200" dirty="0"/>
          </a:p>
        </p:txBody>
      </p:sp>
      <p:sp>
        <p:nvSpPr>
          <p:cNvPr id="8" name="stream1"/>
          <p:cNvSpPr/>
          <p:nvPr/>
        </p:nvSpPr>
        <p:spPr>
          <a:xfrm>
            <a:off x="457200" y="2304288"/>
            <a:ext cx="4572000" cy="868680"/>
          </a:xfrm>
          <a:prstGeom prst="roundRect">
            <a:avLst>
              <a:gd name="adj" fmla="val 8421"/>
            </a:avLst>
          </a:prstGeom>
          <a:solidFill>
            <a:srgbClr val="FFFFFF"/>
          </a:solidFill>
          <a:ln/>
        </p:spPr>
      </p:sp>
      <p:sp>
        <p:nvSpPr>
          <p:cNvPr id="9" name="Shape 7"/>
          <p:cNvSpPr/>
          <p:nvPr/>
        </p:nvSpPr>
        <p:spPr>
          <a:xfrm>
            <a:off x="685800" y="2606040"/>
            <a:ext cx="256032" cy="256032"/>
          </a:xfrm>
          <a:prstGeom prst="ellipse">
            <a:avLst/>
          </a:prstGeom>
          <a:solidFill>
            <a:schemeClr val="accent1"/>
          </a:solidFill>
          <a:ln/>
        </p:spPr>
      </p:sp>
      <p:sp>
        <p:nvSpPr>
          <p:cNvPr id="10" name="Text 8"/>
          <p:cNvSpPr txBox="1"/>
          <p:nvPr/>
        </p:nvSpPr>
        <p:spPr>
          <a:xfrm>
            <a:off x="1143000" y="2414016"/>
            <a:ext cx="3749040" cy="274320"/>
          </a:xfrm>
          <a:prstGeom prst="rect">
            <a:avLst/>
          </a:prstGeom>
          <a:noFill/>
          <a:ln/>
        </p:spPr>
        <p:txBody>
          <a:bodyPr wrap="square" lIns="0" tIns="0" rIns="0" bIns="0" rtlCol="0" anchor="ctr"/>
          <a:lstStyle/>
          <a:p>
            <a:pPr indent="0" marL="0">
              <a:buNone/>
            </a:pPr>
            <a:r>
              <a:rPr lang="en-US" sz="1500" b="1" dirty="0">
                <a:solidFill>
                  <a:schemeClr val="tx1"/>
                </a:solidFill>
              </a:rPr>
              <a:t>coffrets &amp; cadeaux</a:t>
            </a:r>
            <a:endParaRPr lang="en-US" sz="1500" dirty="0"/>
          </a:p>
        </p:txBody>
      </p:sp>
      <p:sp>
        <p:nvSpPr>
          <p:cNvPr id="11" name="Text 9"/>
          <p:cNvSpPr txBox="1"/>
          <p:nvPr/>
        </p:nvSpPr>
        <p:spPr>
          <a:xfrm>
            <a:off x="1143000" y="2715768"/>
            <a:ext cx="3749040" cy="384048"/>
          </a:xfrm>
          <a:prstGeom prst="rect">
            <a:avLst/>
          </a:prstGeom>
          <a:noFill/>
          <a:ln/>
        </p:spPr>
        <p:txBody>
          <a:bodyPr wrap="square" lIns="0" tIns="0" rIns="0" bIns="0" rtlCol="0" anchor="t"/>
          <a:lstStyle/>
          <a:p>
            <a:pPr indent="0" marL="0">
              <a:buNone/>
            </a:pPr>
            <a:r>
              <a:rPr lang="en-US" sz="1200" dirty="0">
                <a:solidFill>
                  <a:schemeClr val="tx2"/>
                </a:solidFill>
              </a:rPr>
              <a:t>Coffret découverte, box famille : un format qu'on offre.</a:t>
            </a:r>
            <a:endParaRPr lang="en-US" sz="1200" dirty="0"/>
          </a:p>
        </p:txBody>
      </p:sp>
      <p:sp>
        <p:nvSpPr>
          <p:cNvPr id="12" name="stream2"/>
          <p:cNvSpPr/>
          <p:nvPr/>
        </p:nvSpPr>
        <p:spPr>
          <a:xfrm>
            <a:off x="457200" y="3328416"/>
            <a:ext cx="4572000" cy="868680"/>
          </a:xfrm>
          <a:prstGeom prst="roundRect">
            <a:avLst>
              <a:gd name="adj" fmla="val 8421"/>
            </a:avLst>
          </a:prstGeom>
          <a:solidFill>
            <a:srgbClr val="FFFFFF"/>
          </a:solidFill>
          <a:ln/>
        </p:spPr>
      </p:sp>
      <p:sp>
        <p:nvSpPr>
          <p:cNvPr id="13" name="Shape 11"/>
          <p:cNvSpPr/>
          <p:nvPr/>
        </p:nvSpPr>
        <p:spPr>
          <a:xfrm>
            <a:off x="685800" y="3630168"/>
            <a:ext cx="256032" cy="256032"/>
          </a:xfrm>
          <a:prstGeom prst="ellipse">
            <a:avLst/>
          </a:prstGeom>
          <a:solidFill>
            <a:schemeClr val="accent2"/>
          </a:solidFill>
          <a:ln/>
        </p:spPr>
      </p:sp>
      <p:sp>
        <p:nvSpPr>
          <p:cNvPr id="14" name="Text 12"/>
          <p:cNvSpPr txBox="1"/>
          <p:nvPr/>
        </p:nvSpPr>
        <p:spPr>
          <a:xfrm>
            <a:off x="1143000" y="3438144"/>
            <a:ext cx="3749040" cy="274320"/>
          </a:xfrm>
          <a:prstGeom prst="rect">
            <a:avLst/>
          </a:prstGeom>
          <a:noFill/>
          <a:ln/>
        </p:spPr>
        <p:txBody>
          <a:bodyPr wrap="square" lIns="0" tIns="0" rIns="0" bIns="0" rtlCol="0" anchor="ctr"/>
          <a:lstStyle/>
          <a:p>
            <a:pPr indent="0" marL="0">
              <a:buNone/>
            </a:pPr>
            <a:r>
              <a:rPr lang="en-US" sz="1500" b="1" dirty="0">
                <a:solidFill>
                  <a:schemeClr val="tx1"/>
                </a:solidFill>
              </a:rPr>
              <a:t>pharmacies</a:t>
            </a:r>
            <a:endParaRPr lang="en-US" sz="1500" dirty="0"/>
          </a:p>
        </p:txBody>
      </p:sp>
      <p:sp>
        <p:nvSpPr>
          <p:cNvPr id="15" name="Text 13"/>
          <p:cNvSpPr txBox="1"/>
          <p:nvPr/>
        </p:nvSpPr>
        <p:spPr>
          <a:xfrm>
            <a:off x="1143000" y="3739896"/>
            <a:ext cx="3749040" cy="384048"/>
          </a:xfrm>
          <a:prstGeom prst="rect">
            <a:avLst/>
          </a:prstGeom>
          <a:noFill/>
          <a:ln/>
        </p:spPr>
        <p:txBody>
          <a:bodyPr wrap="square" lIns="0" tIns="0" rIns="0" bIns="0" rtlCol="0" anchor="t"/>
          <a:lstStyle/>
          <a:p>
            <a:pPr indent="0" marL="0">
              <a:buNone/>
            </a:pPr>
            <a:r>
              <a:rPr lang="en-US" sz="1200" dirty="0">
                <a:solidFill>
                  <a:schemeClr val="tx2"/>
                </a:solidFill>
              </a:rPr>
              <a:t>Dans un second temps, le 1er circuit des compléments en France.</a:t>
            </a:r>
            <a:endParaRPr lang="en-US" sz="1200" dirty="0"/>
          </a:p>
        </p:txBody>
      </p:sp>
      <p:sp>
        <p:nvSpPr>
          <p:cNvPr id="16" name="price-card"/>
          <p:cNvSpPr/>
          <p:nvPr/>
        </p:nvSpPr>
        <p:spPr>
          <a:xfrm>
            <a:off x="5394960" y="1280160"/>
            <a:ext cx="3291840" cy="2926080"/>
          </a:xfrm>
          <a:prstGeom prst="roundRect">
            <a:avLst>
              <a:gd name="adj" fmla="val 2500"/>
            </a:avLst>
          </a:prstGeom>
          <a:solidFill>
            <a:schemeClr val="tx1"/>
          </a:solidFill>
          <a:ln/>
        </p:spPr>
      </p:sp>
      <p:sp>
        <p:nvSpPr>
          <p:cNvPr id="17" name="Text 15"/>
          <p:cNvSpPr txBox="1"/>
          <p:nvPr/>
        </p:nvSpPr>
        <p:spPr>
          <a:xfrm>
            <a:off x="5669280" y="1463040"/>
            <a:ext cx="2743200" cy="274320"/>
          </a:xfrm>
          <a:prstGeom prst="rect">
            <a:avLst/>
          </a:prstGeom>
          <a:noFill/>
          <a:ln/>
        </p:spPr>
        <p:txBody>
          <a:bodyPr wrap="square" lIns="0" tIns="0" rIns="0" bIns="0" rtlCol="0" anchor="ctr"/>
          <a:lstStyle/>
          <a:p>
            <a:pPr indent="0" marL="0">
              <a:buNone/>
            </a:pPr>
            <a:r>
              <a:rPr lang="en-US" sz="1200" b="1" spc="100" kern="0" dirty="0">
                <a:solidFill>
                  <a:srgbClr val="A99F96"/>
                </a:solidFill>
              </a:rPr>
              <a:t>prix indicatifs</a:t>
            </a:r>
            <a:endParaRPr lang="en-US" sz="1200" dirty="0"/>
          </a:p>
        </p:txBody>
      </p:sp>
      <p:sp>
        <p:nvSpPr>
          <p:cNvPr id="18" name="Text 16"/>
          <p:cNvSpPr txBox="1"/>
          <p:nvPr/>
        </p:nvSpPr>
        <p:spPr>
          <a:xfrm>
            <a:off x="5669280" y="1783080"/>
            <a:ext cx="2834640" cy="502920"/>
          </a:xfrm>
          <a:prstGeom prst="rect">
            <a:avLst/>
          </a:prstGeom>
          <a:noFill/>
          <a:ln/>
        </p:spPr>
        <p:txBody>
          <a:bodyPr wrap="square" lIns="0" tIns="0" rIns="0" bIns="0" rtlCol="0" anchor="ctr"/>
          <a:lstStyle/>
          <a:p>
            <a:pPr indent="0" marL="0">
              <a:buNone/>
            </a:pPr>
            <a:r>
              <a:rPr lang="en-US" sz="3000" b="1" dirty="0">
                <a:solidFill>
                  <a:schemeClr val="bg2"/>
                </a:solidFill>
              </a:rPr>
              <a:t>8,90 – 9,90 €</a:t>
            </a:r>
            <a:endParaRPr lang="en-US" sz="3000" dirty="0"/>
          </a:p>
        </p:txBody>
      </p:sp>
      <p:sp>
        <p:nvSpPr>
          <p:cNvPr id="19" name="Text 17"/>
          <p:cNvSpPr txBox="1"/>
          <p:nvPr/>
        </p:nvSpPr>
        <p:spPr>
          <a:xfrm>
            <a:off x="5669280" y="2286000"/>
            <a:ext cx="2743200" cy="274320"/>
          </a:xfrm>
          <a:prstGeom prst="rect">
            <a:avLst/>
          </a:prstGeom>
          <a:noFill/>
          <a:ln/>
        </p:spPr>
        <p:txBody>
          <a:bodyPr wrap="square" lIns="0" tIns="0" rIns="0" bIns="0" rtlCol="0" anchor="ctr"/>
          <a:lstStyle/>
          <a:p>
            <a:pPr indent="0" marL="0">
              <a:buNone/>
            </a:pPr>
            <a:r>
              <a:rPr lang="en-US" sz="1300" dirty="0">
                <a:solidFill>
                  <a:srgbClr val="D6CFC6"/>
                </a:solidFill>
              </a:rPr>
              <a:t>l'étui de 7 pailles</a:t>
            </a:r>
            <a:endParaRPr lang="en-US" sz="1300" dirty="0"/>
          </a:p>
        </p:txBody>
      </p:sp>
      <p:sp>
        <p:nvSpPr>
          <p:cNvPr id="20" name="Text 18"/>
          <p:cNvSpPr txBox="1"/>
          <p:nvPr/>
        </p:nvSpPr>
        <p:spPr>
          <a:xfrm>
            <a:off x="5669280" y="2697480"/>
            <a:ext cx="2743200" cy="502920"/>
          </a:xfrm>
          <a:prstGeom prst="rect">
            <a:avLst/>
          </a:prstGeom>
          <a:noFill/>
          <a:ln/>
        </p:spPr>
        <p:txBody>
          <a:bodyPr wrap="square" lIns="0" tIns="0" rIns="0" bIns="0" rtlCol="0" anchor="ctr"/>
          <a:lstStyle/>
          <a:p>
            <a:pPr indent="0" marL="0">
              <a:buNone/>
            </a:pPr>
            <a:r>
              <a:rPr lang="en-US" sz="3000" b="1" dirty="0">
                <a:solidFill>
                  <a:schemeClr val="bg2"/>
                </a:solidFill>
              </a:rPr>
              <a:t>≈ 1 €</a:t>
            </a:r>
            <a:endParaRPr lang="en-US" sz="3000" dirty="0"/>
          </a:p>
        </p:txBody>
      </p:sp>
      <p:sp>
        <p:nvSpPr>
          <p:cNvPr id="21" name="Text 19"/>
          <p:cNvSpPr txBox="1"/>
          <p:nvPr/>
        </p:nvSpPr>
        <p:spPr>
          <a:xfrm>
            <a:off x="5669280" y="3200400"/>
            <a:ext cx="2743200" cy="274320"/>
          </a:xfrm>
          <a:prstGeom prst="rect">
            <a:avLst/>
          </a:prstGeom>
          <a:noFill/>
          <a:ln/>
        </p:spPr>
        <p:txBody>
          <a:bodyPr wrap="square" lIns="0" tIns="0" rIns="0" bIns="0" rtlCol="0" anchor="ctr"/>
          <a:lstStyle/>
          <a:p>
            <a:pPr indent="0" marL="0">
              <a:buNone/>
            </a:pPr>
            <a:r>
              <a:rPr lang="en-US" sz="1300" dirty="0">
                <a:solidFill>
                  <a:srgbClr val="D6CFC6"/>
                </a:solidFill>
              </a:rPr>
              <a:t>la paille en abonnement</a:t>
            </a:r>
            <a:endParaRPr lang="en-US" sz="1300" dirty="0"/>
          </a:p>
        </p:txBody>
      </p:sp>
      <p:sp>
        <p:nvSpPr>
          <p:cNvPr id="22" name="Text 20"/>
          <p:cNvSpPr txBox="1"/>
          <p:nvPr/>
        </p:nvSpPr>
        <p:spPr>
          <a:xfrm>
            <a:off x="5669280" y="3520440"/>
            <a:ext cx="2834640" cy="548640"/>
          </a:xfrm>
          <a:prstGeom prst="rect">
            <a:avLst/>
          </a:prstGeom>
          <a:noFill/>
          <a:ln/>
        </p:spPr>
        <p:txBody>
          <a:bodyPr wrap="square" lIns="0" tIns="0" rIns="0" bIns="0" rtlCol="0" anchor="ctr"/>
          <a:lstStyle/>
          <a:p>
            <a:pPr indent="0" marL="0">
              <a:buNone/>
            </a:pPr>
            <a:r>
              <a:rPr lang="en-US" sz="1100" i="1" dirty="0">
                <a:solidFill>
                  <a:srgbClr val="A99F96"/>
                </a:solidFill>
              </a:rPr>
              <a:t>Prix fictifs à ce stade : le coût de production sera connu avec les devis du fabricant.</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LA STRATÉGIE DE CROISSANCE</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une gamme d'abord, </a:t>
            </a:r>
            <a:pPr algn="l" indent="0" marL="0">
              <a:buNone/>
            </a:pPr>
            <a:r>
              <a:rPr lang="en-US" sz="2800" i="1" dirty="0">
                <a:solidFill>
                  <a:schemeClr val="tx1"/>
                </a:solidFill>
                <a:latin typeface="Cambria" pitchFamily="34" charset="0"/>
                <a:ea typeface="Cambria" pitchFamily="34" charset="-122"/>
                <a:cs typeface="Cambria" pitchFamily="34" charset="-120"/>
              </a:rPr>
              <a:t>puis la famille</a:t>
            </a:r>
            <a:endParaRPr lang="en-US" sz="2800" dirty="0"/>
          </a:p>
        </p:txBody>
      </p:sp>
      <p:sp>
        <p:nvSpPr>
          <p:cNvPr id="4" name="Shape 2"/>
          <p:cNvSpPr/>
          <p:nvPr/>
        </p:nvSpPr>
        <p:spPr>
          <a:xfrm>
            <a:off x="640080" y="1572768"/>
            <a:ext cx="7863840" cy="0"/>
          </a:xfrm>
          <a:prstGeom prst="line">
            <a:avLst/>
          </a:prstGeom>
          <a:noFill/>
          <a:ln w="19050">
            <a:solidFill>
              <a:srgbClr val="D6CFC6"/>
            </a:solidFill>
            <a:prstDash val="solid"/>
          </a:ln>
        </p:spPr>
      </p:sp>
      <p:sp>
        <p:nvSpPr>
          <p:cNvPr id="5" name="Shape 3"/>
          <p:cNvSpPr/>
          <p:nvPr/>
        </p:nvSpPr>
        <p:spPr>
          <a:xfrm>
            <a:off x="502920" y="1417320"/>
            <a:ext cx="310896" cy="310896"/>
          </a:xfrm>
          <a:prstGeom prst="ellipse">
            <a:avLst/>
          </a:prstGeom>
          <a:solidFill>
            <a:schemeClr val="accent4"/>
          </a:solidFill>
          <a:ln w="38100">
            <a:solidFill>
              <a:schemeClr val="bg2"/>
            </a:solidFill>
            <a:prstDash val="solid"/>
          </a:ln>
        </p:spPr>
      </p:sp>
      <p:sp>
        <p:nvSpPr>
          <p:cNvPr id="6" name="Text 4"/>
          <p:cNvSpPr txBox="1"/>
          <p:nvPr/>
        </p:nvSpPr>
        <p:spPr>
          <a:xfrm>
            <a:off x="457200" y="1874520"/>
            <a:ext cx="1920240" cy="228600"/>
          </a:xfrm>
          <a:prstGeom prst="rect">
            <a:avLst/>
          </a:prstGeom>
          <a:noFill/>
          <a:ln/>
        </p:spPr>
        <p:txBody>
          <a:bodyPr wrap="square" lIns="0" tIns="0" rIns="0" bIns="0" rtlCol="0" anchor="ctr"/>
          <a:lstStyle/>
          <a:p>
            <a:pPr indent="0" marL="0">
              <a:buNone/>
            </a:pPr>
            <a:r>
              <a:rPr lang="en-US" sz="1000" b="1" spc="200" kern="0" dirty="0">
                <a:solidFill>
                  <a:schemeClr val="tx2"/>
                </a:solidFill>
              </a:rPr>
              <a:t>ÉTAPE 1</a:t>
            </a:r>
            <a:endParaRPr lang="en-US" sz="1000" dirty="0"/>
          </a:p>
        </p:txBody>
      </p:sp>
      <p:sp>
        <p:nvSpPr>
          <p:cNvPr id="7" name="Text 5"/>
          <p:cNvSpPr txBox="1"/>
          <p:nvPr/>
        </p:nvSpPr>
        <p:spPr>
          <a:xfrm>
            <a:off x="457200" y="2121408"/>
            <a:ext cx="1920240" cy="320040"/>
          </a:xfrm>
          <a:prstGeom prst="rect">
            <a:avLst/>
          </a:prstGeom>
          <a:noFill/>
          <a:ln/>
        </p:spPr>
        <p:txBody>
          <a:bodyPr wrap="square" lIns="0" tIns="0" rIns="0" bIns="0" rtlCol="0" anchor="ctr"/>
          <a:lstStyle/>
          <a:p>
            <a:pPr indent="0" marL="0">
              <a:buNone/>
            </a:pPr>
            <a:r>
              <a:rPr lang="en-US" sz="1700" b="1" dirty="0">
                <a:solidFill>
                  <a:schemeClr val="tx1"/>
                </a:solidFill>
              </a:rPr>
              <a:t>straw. </a:t>
            </a:r>
            <a:pPr indent="0" marL="0">
              <a:buNone/>
            </a:pPr>
            <a:r>
              <a:rPr lang="en-US" sz="1700" i="1" dirty="0">
                <a:solidFill>
                  <a:schemeClr val="tx1"/>
                </a:solidFill>
                <a:latin typeface="Cambria" pitchFamily="34" charset="0"/>
                <a:ea typeface="Cambria" pitchFamily="34" charset="-122"/>
                <a:cs typeface="Cambria" pitchFamily="34" charset="-120"/>
              </a:rPr>
              <a:t>active</a:t>
            </a:r>
            <a:endParaRPr lang="en-US" sz="1700" dirty="0"/>
          </a:p>
        </p:txBody>
      </p:sp>
      <p:sp>
        <p:nvSpPr>
          <p:cNvPr id="8" name="Text 6"/>
          <p:cNvSpPr txBox="1"/>
          <p:nvPr/>
        </p:nvSpPr>
        <p:spPr>
          <a:xfrm>
            <a:off x="457200" y="2487168"/>
            <a:ext cx="1874520" cy="822960"/>
          </a:xfrm>
          <a:prstGeom prst="rect">
            <a:avLst/>
          </a:prstGeom>
          <a:noFill/>
          <a:ln/>
        </p:spPr>
        <p:txBody>
          <a:bodyPr wrap="square" lIns="0" tIns="0" rIns="0" bIns="0" rtlCol="0" anchor="t"/>
          <a:lstStyle/>
          <a:p>
            <a:pPr indent="0" marL="0">
              <a:buNone/>
            </a:pPr>
            <a:r>
              <a:rPr lang="en-US" sz="1200" dirty="0">
                <a:solidFill>
                  <a:schemeClr val="tx2"/>
                </a:solidFill>
              </a:rPr>
              <a:t>Lancement en ligne de straw. active : communauté et micro-influence.</a:t>
            </a:r>
            <a:endParaRPr lang="en-US" sz="1200" dirty="0"/>
          </a:p>
        </p:txBody>
      </p:sp>
      <p:sp>
        <p:nvSpPr>
          <p:cNvPr id="9" name="Shape 7"/>
          <p:cNvSpPr/>
          <p:nvPr/>
        </p:nvSpPr>
        <p:spPr>
          <a:xfrm>
            <a:off x="2606040" y="1417320"/>
            <a:ext cx="310896" cy="310896"/>
          </a:xfrm>
          <a:prstGeom prst="ellipse">
            <a:avLst/>
          </a:prstGeom>
          <a:solidFill>
            <a:schemeClr val="accent1"/>
          </a:solidFill>
          <a:ln w="38100">
            <a:solidFill>
              <a:schemeClr val="bg2"/>
            </a:solidFill>
            <a:prstDash val="solid"/>
          </a:ln>
        </p:spPr>
      </p:sp>
      <p:sp>
        <p:nvSpPr>
          <p:cNvPr id="10" name="Text 8"/>
          <p:cNvSpPr txBox="1"/>
          <p:nvPr/>
        </p:nvSpPr>
        <p:spPr>
          <a:xfrm>
            <a:off x="2560320" y="1874520"/>
            <a:ext cx="1920240" cy="228600"/>
          </a:xfrm>
          <a:prstGeom prst="rect">
            <a:avLst/>
          </a:prstGeom>
          <a:noFill/>
          <a:ln/>
        </p:spPr>
        <p:txBody>
          <a:bodyPr wrap="square" lIns="0" tIns="0" rIns="0" bIns="0" rtlCol="0" anchor="ctr"/>
          <a:lstStyle/>
          <a:p>
            <a:pPr indent="0" marL="0">
              <a:buNone/>
            </a:pPr>
            <a:r>
              <a:rPr lang="en-US" sz="1000" b="1" spc="200" kern="0" dirty="0">
                <a:solidFill>
                  <a:schemeClr val="tx2"/>
                </a:solidFill>
              </a:rPr>
              <a:t>ÉTAPE 2</a:t>
            </a:r>
            <a:endParaRPr lang="en-US" sz="1000" dirty="0"/>
          </a:p>
        </p:txBody>
      </p:sp>
      <p:sp>
        <p:nvSpPr>
          <p:cNvPr id="11" name="Text 9"/>
          <p:cNvSpPr txBox="1"/>
          <p:nvPr/>
        </p:nvSpPr>
        <p:spPr>
          <a:xfrm>
            <a:off x="2560320" y="2121408"/>
            <a:ext cx="1920240" cy="320040"/>
          </a:xfrm>
          <a:prstGeom prst="rect">
            <a:avLst/>
          </a:prstGeom>
          <a:noFill/>
          <a:ln/>
        </p:spPr>
        <p:txBody>
          <a:bodyPr wrap="square" lIns="0" tIns="0" rIns="0" bIns="0" rtlCol="0" anchor="ctr"/>
          <a:lstStyle/>
          <a:p>
            <a:pPr indent="0" marL="0">
              <a:buNone/>
            </a:pPr>
            <a:r>
              <a:rPr lang="en-US" sz="1700" b="1" dirty="0">
                <a:solidFill>
                  <a:schemeClr val="tx1"/>
                </a:solidFill>
              </a:rPr>
              <a:t>straw. </a:t>
            </a:r>
            <a:pPr indent="0" marL="0">
              <a:buNone/>
            </a:pPr>
            <a:r>
              <a:rPr lang="en-US" sz="1700" i="1" dirty="0">
                <a:solidFill>
                  <a:schemeClr val="tx1"/>
                </a:solidFill>
                <a:latin typeface="Cambria" pitchFamily="34" charset="0"/>
                <a:ea typeface="Cambria" pitchFamily="34" charset="-122"/>
                <a:cs typeface="Cambria" pitchFamily="34" charset="-120"/>
              </a:rPr>
              <a:t>luna</a:t>
            </a:r>
            <a:endParaRPr lang="en-US" sz="1700" dirty="0"/>
          </a:p>
        </p:txBody>
      </p:sp>
      <p:sp>
        <p:nvSpPr>
          <p:cNvPr id="12" name="Text 10"/>
          <p:cNvSpPr txBox="1"/>
          <p:nvPr/>
        </p:nvSpPr>
        <p:spPr>
          <a:xfrm>
            <a:off x="2560320" y="2487168"/>
            <a:ext cx="1874520" cy="822960"/>
          </a:xfrm>
          <a:prstGeom prst="rect">
            <a:avLst/>
          </a:prstGeom>
          <a:noFill/>
          <a:ln/>
        </p:spPr>
        <p:txBody>
          <a:bodyPr wrap="square" lIns="0" tIns="0" rIns="0" bIns="0" rtlCol="0" anchor="t"/>
          <a:lstStyle/>
          <a:p>
            <a:pPr indent="0" marL="0">
              <a:buNone/>
            </a:pPr>
            <a:r>
              <a:rPr lang="en-US" sz="1200" dirty="0">
                <a:solidFill>
                  <a:schemeClr val="tx2"/>
                </a:solidFill>
              </a:rPr>
              <a:t>straw. luna, pour les mêmes clientes, à chaque phase de vie.</a:t>
            </a:r>
            <a:endParaRPr lang="en-US" sz="1200" dirty="0"/>
          </a:p>
        </p:txBody>
      </p:sp>
      <p:sp>
        <p:nvSpPr>
          <p:cNvPr id="13" name="Shape 11"/>
          <p:cNvSpPr/>
          <p:nvPr/>
        </p:nvSpPr>
        <p:spPr>
          <a:xfrm>
            <a:off x="4709160" y="1417320"/>
            <a:ext cx="310896" cy="310896"/>
          </a:xfrm>
          <a:prstGeom prst="ellipse">
            <a:avLst/>
          </a:prstGeom>
          <a:solidFill>
            <a:schemeClr val="accent3"/>
          </a:solidFill>
          <a:ln w="38100">
            <a:solidFill>
              <a:schemeClr val="bg2"/>
            </a:solidFill>
            <a:prstDash val="solid"/>
          </a:ln>
        </p:spPr>
      </p:sp>
      <p:sp>
        <p:nvSpPr>
          <p:cNvPr id="14" name="Text 12"/>
          <p:cNvSpPr txBox="1"/>
          <p:nvPr/>
        </p:nvSpPr>
        <p:spPr>
          <a:xfrm>
            <a:off x="4663440" y="1874520"/>
            <a:ext cx="1920240" cy="228600"/>
          </a:xfrm>
          <a:prstGeom prst="rect">
            <a:avLst/>
          </a:prstGeom>
          <a:noFill/>
          <a:ln/>
        </p:spPr>
        <p:txBody>
          <a:bodyPr wrap="square" lIns="0" tIns="0" rIns="0" bIns="0" rtlCol="0" anchor="ctr"/>
          <a:lstStyle/>
          <a:p>
            <a:pPr indent="0" marL="0">
              <a:buNone/>
            </a:pPr>
            <a:r>
              <a:rPr lang="en-US" sz="1000" b="1" spc="200" kern="0" dirty="0">
                <a:solidFill>
                  <a:schemeClr val="tx2"/>
                </a:solidFill>
              </a:rPr>
              <a:t>ÉTAPE 3</a:t>
            </a:r>
            <a:endParaRPr lang="en-US" sz="1000" dirty="0"/>
          </a:p>
        </p:txBody>
      </p:sp>
      <p:sp>
        <p:nvSpPr>
          <p:cNvPr id="15" name="Text 13"/>
          <p:cNvSpPr txBox="1"/>
          <p:nvPr/>
        </p:nvSpPr>
        <p:spPr>
          <a:xfrm>
            <a:off x="4663440" y="2121408"/>
            <a:ext cx="1920240" cy="320040"/>
          </a:xfrm>
          <a:prstGeom prst="rect">
            <a:avLst/>
          </a:prstGeom>
          <a:noFill/>
          <a:ln/>
        </p:spPr>
        <p:txBody>
          <a:bodyPr wrap="square" lIns="0" tIns="0" rIns="0" bIns="0" rtlCol="0" anchor="ctr"/>
          <a:lstStyle/>
          <a:p>
            <a:pPr indent="0" marL="0">
              <a:buNone/>
            </a:pPr>
            <a:r>
              <a:rPr lang="en-US" sz="1700" b="1" dirty="0">
                <a:solidFill>
                  <a:schemeClr val="tx1"/>
                </a:solidFill>
              </a:rPr>
              <a:t>straw. </a:t>
            </a:r>
            <a:pPr indent="0" marL="0">
              <a:buNone/>
            </a:pPr>
            <a:r>
              <a:rPr lang="en-US" sz="1700" i="1" dirty="0">
                <a:solidFill>
                  <a:schemeClr val="tx1"/>
                </a:solidFill>
                <a:latin typeface="Cambria" pitchFamily="34" charset="0"/>
                <a:ea typeface="Cambria" pitchFamily="34" charset="-122"/>
                <a:cs typeface="Cambria" pitchFamily="34" charset="-120"/>
              </a:rPr>
              <a:t>mini</a:t>
            </a:r>
            <a:endParaRPr lang="en-US" sz="1700" dirty="0"/>
          </a:p>
        </p:txBody>
      </p:sp>
      <p:sp>
        <p:nvSpPr>
          <p:cNvPr id="16" name="Text 14"/>
          <p:cNvSpPr txBox="1"/>
          <p:nvPr/>
        </p:nvSpPr>
        <p:spPr>
          <a:xfrm>
            <a:off x="4663440" y="2487168"/>
            <a:ext cx="1874520" cy="822960"/>
          </a:xfrm>
          <a:prstGeom prst="rect">
            <a:avLst/>
          </a:prstGeom>
          <a:noFill/>
          <a:ln/>
        </p:spPr>
        <p:txBody>
          <a:bodyPr wrap="square" lIns="0" tIns="0" rIns="0" bIns="0" rtlCol="0" anchor="t"/>
          <a:lstStyle/>
          <a:p>
            <a:pPr indent="0" marL="0">
              <a:buNone/>
            </a:pPr>
            <a:r>
              <a:rPr lang="en-US" sz="1200" dirty="0">
                <a:solidFill>
                  <a:schemeClr val="tx2"/>
                </a:solidFill>
              </a:rPr>
              <a:t>straw. mini : les mamans clientes l'achètent pour leurs enfants.</a:t>
            </a:r>
            <a:endParaRPr lang="en-US" sz="1200" dirty="0"/>
          </a:p>
        </p:txBody>
      </p:sp>
      <p:sp>
        <p:nvSpPr>
          <p:cNvPr id="17" name="Shape 15"/>
          <p:cNvSpPr/>
          <p:nvPr/>
        </p:nvSpPr>
        <p:spPr>
          <a:xfrm>
            <a:off x="6812280" y="1417320"/>
            <a:ext cx="310896" cy="310896"/>
          </a:xfrm>
          <a:prstGeom prst="ellipse">
            <a:avLst/>
          </a:prstGeom>
          <a:solidFill>
            <a:schemeClr val="accent2"/>
          </a:solidFill>
          <a:ln w="38100">
            <a:solidFill>
              <a:schemeClr val="bg2"/>
            </a:solidFill>
            <a:prstDash val="solid"/>
          </a:ln>
        </p:spPr>
      </p:sp>
      <p:sp>
        <p:nvSpPr>
          <p:cNvPr id="18" name="Text 16"/>
          <p:cNvSpPr txBox="1"/>
          <p:nvPr/>
        </p:nvSpPr>
        <p:spPr>
          <a:xfrm>
            <a:off x="6766560" y="1874520"/>
            <a:ext cx="1920240" cy="228600"/>
          </a:xfrm>
          <a:prstGeom prst="rect">
            <a:avLst/>
          </a:prstGeom>
          <a:noFill/>
          <a:ln/>
        </p:spPr>
        <p:txBody>
          <a:bodyPr wrap="square" lIns="0" tIns="0" rIns="0" bIns="0" rtlCol="0" anchor="ctr"/>
          <a:lstStyle/>
          <a:p>
            <a:pPr indent="0" marL="0">
              <a:buNone/>
            </a:pPr>
            <a:r>
              <a:rPr lang="en-US" sz="1000" b="1" spc="200" kern="0" dirty="0">
                <a:solidFill>
                  <a:schemeClr val="tx2"/>
                </a:solidFill>
              </a:rPr>
              <a:t>ÉTAPE 4</a:t>
            </a:r>
            <a:endParaRPr lang="en-US" sz="1000" dirty="0"/>
          </a:p>
        </p:txBody>
      </p:sp>
      <p:sp>
        <p:nvSpPr>
          <p:cNvPr id="19" name="Text 17"/>
          <p:cNvSpPr txBox="1"/>
          <p:nvPr/>
        </p:nvSpPr>
        <p:spPr>
          <a:xfrm>
            <a:off x="6766560" y="2121408"/>
            <a:ext cx="1920240" cy="320040"/>
          </a:xfrm>
          <a:prstGeom prst="rect">
            <a:avLst/>
          </a:prstGeom>
          <a:noFill/>
          <a:ln/>
        </p:spPr>
        <p:txBody>
          <a:bodyPr wrap="square" lIns="0" tIns="0" rIns="0" bIns="0" rtlCol="0" anchor="ctr"/>
          <a:lstStyle/>
          <a:p>
            <a:pPr indent="0" marL="0">
              <a:buNone/>
            </a:pPr>
            <a:r>
              <a:rPr lang="en-US" sz="1700" b="1" dirty="0">
                <a:solidFill>
                  <a:schemeClr val="tx1"/>
                </a:solidFill>
              </a:rPr>
              <a:t>straw. </a:t>
            </a:r>
            <a:pPr indent="0" marL="0">
              <a:buNone/>
            </a:pPr>
            <a:r>
              <a:rPr lang="en-US" sz="1700" i="1" dirty="0">
                <a:solidFill>
                  <a:schemeClr val="tx1"/>
                </a:solidFill>
                <a:latin typeface="Cambria" pitchFamily="34" charset="0"/>
                <a:ea typeface="Cambria" pitchFamily="34" charset="-122"/>
                <a:cs typeface="Cambria" pitchFamily="34" charset="-120"/>
              </a:rPr>
              <a:t>silver</a:t>
            </a:r>
            <a:endParaRPr lang="en-US" sz="1700" dirty="0"/>
          </a:p>
        </p:txBody>
      </p:sp>
      <p:sp>
        <p:nvSpPr>
          <p:cNvPr id="20" name="Text 18"/>
          <p:cNvSpPr txBox="1"/>
          <p:nvPr/>
        </p:nvSpPr>
        <p:spPr>
          <a:xfrm>
            <a:off x="6766560" y="2487168"/>
            <a:ext cx="1874520" cy="822960"/>
          </a:xfrm>
          <a:prstGeom prst="rect">
            <a:avLst/>
          </a:prstGeom>
          <a:noFill/>
          <a:ln/>
        </p:spPr>
        <p:txBody>
          <a:bodyPr wrap="square" lIns="0" tIns="0" rIns="0" bIns="0" rtlCol="0" anchor="t"/>
          <a:lstStyle/>
          <a:p>
            <a:pPr indent="0" marL="0">
              <a:buNone/>
            </a:pPr>
            <a:r>
              <a:rPr lang="en-US" sz="1200" dirty="0">
                <a:solidFill>
                  <a:schemeClr val="tx2"/>
                </a:solidFill>
              </a:rPr>
              <a:t>straw. silver, via les pharmacies et les résidences seniors.</a:t>
            </a:r>
            <a:endParaRPr lang="en-US" sz="1200" dirty="0"/>
          </a:p>
        </p:txBody>
      </p:sp>
      <p:sp>
        <p:nvSpPr>
          <p:cNvPr id="21" name="acq"/>
          <p:cNvSpPr/>
          <p:nvPr/>
        </p:nvSpPr>
        <p:spPr>
          <a:xfrm>
            <a:off x="457200" y="3520440"/>
            <a:ext cx="8229600" cy="777240"/>
          </a:xfrm>
          <a:prstGeom prst="roundRect">
            <a:avLst>
              <a:gd name="adj" fmla="val 9412"/>
            </a:avLst>
          </a:prstGeom>
          <a:solidFill>
            <a:srgbClr val="FFFFFF"/>
          </a:solidFill>
          <a:ln/>
        </p:spPr>
      </p:sp>
      <p:sp>
        <p:nvSpPr>
          <p:cNvPr id="22" name="Text 20"/>
          <p:cNvSpPr txBox="1"/>
          <p:nvPr/>
        </p:nvSpPr>
        <p:spPr>
          <a:xfrm>
            <a:off x="731520" y="3520440"/>
            <a:ext cx="7772400" cy="777240"/>
          </a:xfrm>
          <a:prstGeom prst="rect">
            <a:avLst/>
          </a:prstGeom>
          <a:noFill/>
          <a:ln/>
        </p:spPr>
        <p:txBody>
          <a:bodyPr wrap="square" lIns="0" tIns="0" rIns="0" bIns="0" rtlCol="0" anchor="ctr"/>
          <a:lstStyle/>
          <a:p>
            <a:pPr indent="0" marL="0">
              <a:buNone/>
            </a:pPr>
            <a:r>
              <a:rPr lang="en-US" sz="1300" b="1" dirty="0">
                <a:solidFill>
                  <a:schemeClr val="tx1"/>
                </a:solidFill>
              </a:rPr>
              <a:t>acquisition  </a:t>
            </a:r>
            <a:pPr indent="0" marL="0">
              <a:buNone/>
            </a:pPr>
            <a:r>
              <a:rPr lang="en-US" sz="1300" dirty="0">
                <a:solidFill>
                  <a:schemeClr val="tx2"/>
                </a:solidFill>
              </a:rPr>
              <a:t>micro-créatrices wellness · parrainage entre membres de la famille · conseil en pharmacie · contenus « une journée straw. »</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L'ÉQUIPE</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une fondatrice, </a:t>
            </a:r>
            <a:pPr algn="l" indent="0" marL="0">
              <a:buNone/>
            </a:pPr>
            <a:r>
              <a:rPr lang="en-US" sz="2800" i="1" dirty="0">
                <a:solidFill>
                  <a:schemeClr val="tx1"/>
                </a:solidFill>
                <a:latin typeface="Cambria" pitchFamily="34" charset="0"/>
                <a:ea typeface="Cambria" pitchFamily="34" charset="-122"/>
                <a:cs typeface="Cambria" pitchFamily="34" charset="-120"/>
              </a:rPr>
              <a:t>des partenaires clés</a:t>
            </a:r>
            <a:endParaRPr lang="en-US" sz="2800" dirty="0"/>
          </a:p>
        </p:txBody>
      </p:sp>
      <p:pic>
        <p:nvPicPr>
          <p:cNvPr id="4" name="nisrine" descr="Portrait de Nisrine Margoum">    </p:cNvPr>
          <p:cNvPicPr>
            <a:picLocks noChangeAspect="1"/>
          </p:cNvPicPr>
          <p:nvPr/>
        </p:nvPicPr>
        <p:blipFill>
          <a:blip r:embed="rId1"/>
          <a:stretch>
            <a:fillRect/>
          </a:stretch>
        </p:blipFill>
        <p:spPr>
          <a:xfrm>
            <a:off x="457200" y="1280160"/>
            <a:ext cx="1371600" cy="1371600"/>
          </a:xfrm>
          <a:prstGeom prst="ellipse">
            <a:avLst/>
          </a:prstGeom>
        </p:spPr>
      </p:pic>
      <p:sp>
        <p:nvSpPr>
          <p:cNvPr id="5" name="Text 2"/>
          <p:cNvSpPr txBox="1"/>
          <p:nvPr/>
        </p:nvSpPr>
        <p:spPr>
          <a:xfrm>
            <a:off x="2011680" y="1417320"/>
            <a:ext cx="2560320" cy="365760"/>
          </a:xfrm>
          <a:prstGeom prst="rect">
            <a:avLst/>
          </a:prstGeom>
          <a:noFill/>
          <a:ln/>
        </p:spPr>
        <p:txBody>
          <a:bodyPr wrap="square" lIns="0" tIns="0" rIns="0" bIns="0" rtlCol="0" anchor="ctr"/>
          <a:lstStyle/>
          <a:p>
            <a:pPr indent="0" marL="0">
              <a:buNone/>
            </a:pPr>
            <a:r>
              <a:rPr lang="en-US" sz="1800" b="1" dirty="0">
                <a:solidFill>
                  <a:schemeClr val="tx1"/>
                </a:solidFill>
              </a:rPr>
              <a:t>Nisrine Margoum</a:t>
            </a:r>
            <a:endParaRPr lang="en-US" sz="1800" dirty="0"/>
          </a:p>
        </p:txBody>
      </p:sp>
      <p:sp>
        <p:nvSpPr>
          <p:cNvPr id="6" name="Text 3"/>
          <p:cNvSpPr txBox="1"/>
          <p:nvPr/>
        </p:nvSpPr>
        <p:spPr>
          <a:xfrm>
            <a:off x="2011680" y="1783080"/>
            <a:ext cx="2560320" cy="457200"/>
          </a:xfrm>
          <a:prstGeom prst="rect">
            <a:avLst/>
          </a:prstGeom>
          <a:noFill/>
          <a:ln/>
        </p:spPr>
        <p:txBody>
          <a:bodyPr wrap="square" lIns="0" tIns="0" rIns="0" bIns="0" rtlCol="0" anchor="t"/>
          <a:lstStyle/>
          <a:p>
            <a:pPr indent="0" marL="0">
              <a:buNone/>
            </a:pPr>
            <a:r>
              <a:rPr lang="en-US" sz="1200" dirty="0">
                <a:solidFill>
                  <a:schemeClr val="tx2"/>
                </a:solidFill>
              </a:rPr>
              <a:t>fondatrice · produit, marque, développement</a:t>
            </a:r>
            <a:endParaRPr lang="en-US" sz="1200" dirty="0"/>
          </a:p>
        </p:txBody>
      </p:sp>
      <p:sp>
        <p:nvSpPr>
          <p:cNvPr id="7" name="Text 4"/>
          <p:cNvSpPr txBox="1"/>
          <p:nvPr/>
        </p:nvSpPr>
        <p:spPr>
          <a:xfrm>
            <a:off x="457200" y="2834640"/>
            <a:ext cx="402336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Master Biologie-Santé, développement de produit</a:t>
            </a:r>
            <a:endParaRPr lang="en-US" sz="1300" dirty="0"/>
          </a:p>
          <a:p>
            <a:pPr marL="342900" indent="-342900">
              <a:spcAft>
                <a:spcPts val="600"/>
              </a:spcAft>
              <a:buSzPct val="100000"/>
              <a:buChar char="•"/>
            </a:pPr>
            <a:r>
              <a:rPr lang="en-US" sz="1300" dirty="0">
                <a:solidFill>
                  <a:schemeClr val="tx1"/>
                </a:solidFill>
              </a:rPr>
              <a:t>Ancienne cheffe de produit en cosmétique (actifs)</a:t>
            </a:r>
            <a:endParaRPr lang="en-US" sz="1300" dirty="0"/>
          </a:p>
          <a:p>
            <a:pPr marL="342900" indent="-342900">
              <a:spcAft>
                <a:spcPts val="600"/>
              </a:spcAft>
              <a:buSzPct val="100000"/>
              <a:buChar char="•"/>
            </a:pPr>
            <a:r>
              <a:rPr lang="en-US" sz="1300" dirty="0">
                <a:solidFill>
                  <a:schemeClr val="tx1"/>
                </a:solidFill>
              </a:rPr>
              <a:t>Master 2 Entrepreneuriat &amp; Innovation, IAE Clermont-Auvergne</a:t>
            </a:r>
            <a:endParaRPr lang="en-US" sz="1300" dirty="0"/>
          </a:p>
          <a:p>
            <a:pPr marL="342900" indent="-342900">
              <a:spcAft>
                <a:spcPts val="600"/>
              </a:spcAft>
              <a:buSzPct val="100000"/>
              <a:buChar char="•"/>
            </a:pPr>
            <a:r>
              <a:rPr lang="en-US" sz="1300" dirty="0">
                <a:solidFill>
                  <a:schemeClr val="tx1"/>
                </a:solidFill>
              </a:rPr>
              <a:t>Organisation de congrès nationaux en santé</a:t>
            </a:r>
            <a:endParaRPr lang="en-US" sz="1300" dirty="0"/>
          </a:p>
        </p:txBody>
      </p:sp>
      <p:sp>
        <p:nvSpPr>
          <p:cNvPr id="8" name="Text 5"/>
          <p:cNvSpPr txBox="1"/>
          <p:nvPr/>
        </p:nvSpPr>
        <p:spPr>
          <a:xfrm>
            <a:off x="4846320" y="1280160"/>
            <a:ext cx="3840480" cy="320040"/>
          </a:xfrm>
          <a:prstGeom prst="rect">
            <a:avLst/>
          </a:prstGeom>
          <a:noFill/>
          <a:ln/>
        </p:spPr>
        <p:txBody>
          <a:bodyPr wrap="square" lIns="0" tIns="0" rIns="0" bIns="0" rtlCol="0" anchor="ctr"/>
          <a:lstStyle/>
          <a:p>
            <a:pPr indent="0" marL="0">
              <a:buNone/>
            </a:pPr>
            <a:r>
              <a:rPr lang="en-US" sz="1600" i="1" dirty="0">
                <a:solidFill>
                  <a:schemeClr val="tx1"/>
                </a:solidFill>
                <a:latin typeface="Cambria" pitchFamily="34" charset="0"/>
                <a:ea typeface="Cambria" pitchFamily="34" charset="-122"/>
                <a:cs typeface="Cambria" pitchFamily="34" charset="-120"/>
              </a:rPr>
              <a:t>les compétences à réunir</a:t>
            </a:r>
            <a:endParaRPr lang="en-US" sz="1600" dirty="0"/>
          </a:p>
        </p:txBody>
      </p:sp>
      <p:sp>
        <p:nvSpPr>
          <p:cNvPr id="9" name="part0"/>
          <p:cNvSpPr/>
          <p:nvPr/>
        </p:nvSpPr>
        <p:spPr>
          <a:xfrm>
            <a:off x="4846320" y="1737360"/>
            <a:ext cx="3840480" cy="548640"/>
          </a:xfrm>
          <a:prstGeom prst="roundRect">
            <a:avLst>
              <a:gd name="adj" fmla="val 13333"/>
            </a:avLst>
          </a:prstGeom>
          <a:solidFill>
            <a:srgbClr val="FFFFFF"/>
          </a:solidFill>
          <a:ln/>
        </p:spPr>
      </p:sp>
      <p:sp>
        <p:nvSpPr>
          <p:cNvPr id="10" name="Shape 7"/>
          <p:cNvSpPr/>
          <p:nvPr/>
        </p:nvSpPr>
        <p:spPr>
          <a:xfrm>
            <a:off x="5029200" y="1929384"/>
            <a:ext cx="164592" cy="164592"/>
          </a:xfrm>
          <a:prstGeom prst="ellipse">
            <a:avLst/>
          </a:prstGeom>
          <a:solidFill>
            <a:schemeClr val="accent4"/>
          </a:solidFill>
          <a:ln/>
        </p:spPr>
      </p:sp>
      <p:sp>
        <p:nvSpPr>
          <p:cNvPr id="11" name="Text 8"/>
          <p:cNvSpPr txBox="1"/>
          <p:nvPr/>
        </p:nvSpPr>
        <p:spPr>
          <a:xfrm>
            <a:off x="5349240" y="1737360"/>
            <a:ext cx="3200400" cy="548640"/>
          </a:xfrm>
          <a:prstGeom prst="rect">
            <a:avLst/>
          </a:prstGeom>
          <a:noFill/>
          <a:ln/>
        </p:spPr>
        <p:txBody>
          <a:bodyPr wrap="square" lIns="0" tIns="0" rIns="0" bIns="0" rtlCol="0" anchor="ctr"/>
          <a:lstStyle/>
          <a:p>
            <a:pPr indent="0" marL="0">
              <a:buNone/>
            </a:pPr>
            <a:r>
              <a:rPr lang="en-US" sz="1300" b="1" dirty="0">
                <a:solidFill>
                  <a:schemeClr val="tx1"/>
                </a:solidFill>
              </a:rPr>
              <a:t>fabricant partenaire</a:t>
            </a:r>
            <a:endParaRPr lang="en-US" sz="1300" dirty="0"/>
          </a:p>
          <a:p>
            <a:pPr indent="0" marL="0">
              <a:buNone/>
            </a:pPr>
            <a:r>
              <a:rPr lang="en-US" sz="1100" dirty="0">
                <a:solidFill>
                  <a:schemeClr val="tx2"/>
                </a:solidFill>
              </a:rPr>
              <a:t>technologie de la paille, production</a:t>
            </a:r>
            <a:endParaRPr lang="en-US" sz="1300" dirty="0"/>
          </a:p>
        </p:txBody>
      </p:sp>
      <p:sp>
        <p:nvSpPr>
          <p:cNvPr id="12" name="part1"/>
          <p:cNvSpPr/>
          <p:nvPr/>
        </p:nvSpPr>
        <p:spPr>
          <a:xfrm>
            <a:off x="4846320" y="2395728"/>
            <a:ext cx="3840480" cy="548640"/>
          </a:xfrm>
          <a:prstGeom prst="roundRect">
            <a:avLst>
              <a:gd name="adj" fmla="val 13333"/>
            </a:avLst>
          </a:prstGeom>
          <a:solidFill>
            <a:srgbClr val="FFFFFF"/>
          </a:solidFill>
          <a:ln/>
        </p:spPr>
      </p:sp>
      <p:sp>
        <p:nvSpPr>
          <p:cNvPr id="13" name="Shape 10"/>
          <p:cNvSpPr/>
          <p:nvPr/>
        </p:nvSpPr>
        <p:spPr>
          <a:xfrm>
            <a:off x="5029200" y="2587752"/>
            <a:ext cx="164592" cy="164592"/>
          </a:xfrm>
          <a:prstGeom prst="ellipse">
            <a:avLst/>
          </a:prstGeom>
          <a:solidFill>
            <a:schemeClr val="accent2"/>
          </a:solidFill>
          <a:ln/>
        </p:spPr>
      </p:sp>
      <p:sp>
        <p:nvSpPr>
          <p:cNvPr id="14" name="Text 11"/>
          <p:cNvSpPr txBox="1"/>
          <p:nvPr/>
        </p:nvSpPr>
        <p:spPr>
          <a:xfrm>
            <a:off x="5349240" y="2395728"/>
            <a:ext cx="3200400" cy="548640"/>
          </a:xfrm>
          <a:prstGeom prst="rect">
            <a:avLst/>
          </a:prstGeom>
          <a:noFill/>
          <a:ln/>
        </p:spPr>
        <p:txBody>
          <a:bodyPr wrap="square" lIns="0" tIns="0" rIns="0" bIns="0" rtlCol="0" anchor="ctr"/>
          <a:lstStyle/>
          <a:p>
            <a:pPr indent="0" marL="0">
              <a:buNone/>
            </a:pPr>
            <a:r>
              <a:rPr lang="en-US" sz="1300" b="1" dirty="0">
                <a:solidFill>
                  <a:schemeClr val="tx1"/>
                </a:solidFill>
              </a:rPr>
              <a:t>expert réglementaire</a:t>
            </a:r>
            <a:endParaRPr lang="en-US" sz="1300" dirty="0"/>
          </a:p>
          <a:p>
            <a:pPr indent="0" marL="0">
              <a:buNone/>
            </a:pPr>
            <a:r>
              <a:rPr lang="en-US" sz="1100" dirty="0">
                <a:solidFill>
                  <a:schemeClr val="tx2"/>
                </a:solidFill>
              </a:rPr>
              <a:t>formules et allégations conformes</a:t>
            </a:r>
            <a:endParaRPr lang="en-US" sz="1300" dirty="0"/>
          </a:p>
        </p:txBody>
      </p:sp>
      <p:sp>
        <p:nvSpPr>
          <p:cNvPr id="15" name="part2"/>
          <p:cNvSpPr/>
          <p:nvPr/>
        </p:nvSpPr>
        <p:spPr>
          <a:xfrm>
            <a:off x="4846320" y="3054096"/>
            <a:ext cx="3840480" cy="548640"/>
          </a:xfrm>
          <a:prstGeom prst="roundRect">
            <a:avLst>
              <a:gd name="adj" fmla="val 13333"/>
            </a:avLst>
          </a:prstGeom>
          <a:solidFill>
            <a:srgbClr val="FFFFFF"/>
          </a:solidFill>
          <a:ln/>
        </p:spPr>
      </p:sp>
      <p:sp>
        <p:nvSpPr>
          <p:cNvPr id="16" name="Shape 13"/>
          <p:cNvSpPr/>
          <p:nvPr/>
        </p:nvSpPr>
        <p:spPr>
          <a:xfrm>
            <a:off x="5029200" y="3246120"/>
            <a:ext cx="164592" cy="164592"/>
          </a:xfrm>
          <a:prstGeom prst="ellipse">
            <a:avLst/>
          </a:prstGeom>
          <a:solidFill>
            <a:schemeClr val="accent1"/>
          </a:solidFill>
          <a:ln/>
        </p:spPr>
      </p:sp>
      <p:sp>
        <p:nvSpPr>
          <p:cNvPr id="17" name="Text 14"/>
          <p:cNvSpPr txBox="1"/>
          <p:nvPr/>
        </p:nvSpPr>
        <p:spPr>
          <a:xfrm>
            <a:off x="5349240" y="3054096"/>
            <a:ext cx="3200400" cy="548640"/>
          </a:xfrm>
          <a:prstGeom prst="rect">
            <a:avLst/>
          </a:prstGeom>
          <a:noFill/>
          <a:ln/>
        </p:spPr>
        <p:txBody>
          <a:bodyPr wrap="square" lIns="0" tIns="0" rIns="0" bIns="0" rtlCol="0" anchor="ctr"/>
          <a:lstStyle/>
          <a:p>
            <a:pPr indent="0" marL="0">
              <a:buNone/>
            </a:pPr>
            <a:r>
              <a:rPr lang="en-US" sz="1300" b="1" dirty="0">
                <a:solidFill>
                  <a:schemeClr val="tx1"/>
                </a:solidFill>
              </a:rPr>
              <a:t>comité santé</a:t>
            </a:r>
            <a:endParaRPr lang="en-US" sz="1300" dirty="0"/>
          </a:p>
          <a:p>
            <a:pPr indent="0" marL="0">
              <a:buNone/>
            </a:pPr>
            <a:r>
              <a:rPr lang="en-US" sz="1100" dirty="0">
                <a:solidFill>
                  <a:schemeClr val="tx2"/>
                </a:solidFill>
              </a:rPr>
              <a:t>pédiatre, sage-femme, gériatre</a:t>
            </a:r>
            <a:endParaRPr lang="en-US" sz="1300" dirty="0"/>
          </a:p>
        </p:txBody>
      </p:sp>
      <p:sp>
        <p:nvSpPr>
          <p:cNvPr id="18" name="part3"/>
          <p:cNvSpPr/>
          <p:nvPr/>
        </p:nvSpPr>
        <p:spPr>
          <a:xfrm>
            <a:off x="4846320" y="3712464"/>
            <a:ext cx="3840480" cy="548640"/>
          </a:xfrm>
          <a:prstGeom prst="roundRect">
            <a:avLst>
              <a:gd name="adj" fmla="val 13333"/>
            </a:avLst>
          </a:prstGeom>
          <a:solidFill>
            <a:srgbClr val="FFFFFF"/>
          </a:solidFill>
          <a:ln/>
        </p:spPr>
      </p:sp>
      <p:sp>
        <p:nvSpPr>
          <p:cNvPr id="19" name="Shape 16"/>
          <p:cNvSpPr/>
          <p:nvPr/>
        </p:nvSpPr>
        <p:spPr>
          <a:xfrm>
            <a:off x="5029200" y="3904488"/>
            <a:ext cx="164592" cy="164592"/>
          </a:xfrm>
          <a:prstGeom prst="ellipse">
            <a:avLst/>
          </a:prstGeom>
          <a:solidFill>
            <a:schemeClr val="accent3"/>
          </a:solidFill>
          <a:ln/>
        </p:spPr>
      </p:sp>
      <p:sp>
        <p:nvSpPr>
          <p:cNvPr id="20" name="Text 17"/>
          <p:cNvSpPr txBox="1"/>
          <p:nvPr/>
        </p:nvSpPr>
        <p:spPr>
          <a:xfrm>
            <a:off x="5349240" y="3712464"/>
            <a:ext cx="3200400" cy="548640"/>
          </a:xfrm>
          <a:prstGeom prst="rect">
            <a:avLst/>
          </a:prstGeom>
          <a:noFill/>
          <a:ln/>
        </p:spPr>
        <p:txBody>
          <a:bodyPr wrap="square" lIns="0" tIns="0" rIns="0" bIns="0" rtlCol="0" anchor="ctr"/>
          <a:lstStyle/>
          <a:p>
            <a:pPr indent="0" marL="0">
              <a:buNone/>
            </a:pPr>
            <a:r>
              <a:rPr lang="en-US" sz="1300" b="1" dirty="0">
                <a:solidFill>
                  <a:schemeClr val="tx1"/>
                </a:solidFill>
              </a:rPr>
              <a:t>e-commerce &amp; growth</a:t>
            </a:r>
            <a:endParaRPr lang="en-US" sz="1300" dirty="0"/>
          </a:p>
          <a:p>
            <a:pPr indent="0" marL="0">
              <a:buNone/>
            </a:pPr>
            <a:r>
              <a:rPr lang="en-US" sz="1100" dirty="0">
                <a:solidFill>
                  <a:schemeClr val="tx2"/>
                </a:solidFill>
              </a:rPr>
              <a:t>site, abonnement, acquisition</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PERSPECTIVES FINANCIÈRES &amp; BESOIN</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le besoin </a:t>
            </a:r>
            <a:pPr algn="l" indent="0" marL="0">
              <a:buNone/>
            </a:pPr>
            <a:r>
              <a:rPr lang="en-US" sz="2800" i="1" dirty="0">
                <a:solidFill>
                  <a:schemeClr val="tx1"/>
                </a:solidFill>
                <a:latin typeface="Cambria" pitchFamily="34" charset="0"/>
                <a:ea typeface="Cambria" pitchFamily="34" charset="-122"/>
                <a:cs typeface="Cambria" pitchFamily="34" charset="-120"/>
              </a:rPr>
              <a:t>de financement</a:t>
            </a:r>
            <a:endParaRPr lang="en-US" sz="2800" dirty="0"/>
          </a:p>
        </p:txBody>
      </p:sp>
      <p:sp>
        <p:nvSpPr>
          <p:cNvPr id="4" name="Text 2"/>
          <p:cNvSpPr txBox="1"/>
          <p:nvPr/>
        </p:nvSpPr>
        <p:spPr>
          <a:xfrm>
            <a:off x="457200" y="1280160"/>
            <a:ext cx="3291840" cy="685800"/>
          </a:xfrm>
          <a:prstGeom prst="rect">
            <a:avLst/>
          </a:prstGeom>
          <a:noFill/>
          <a:ln/>
        </p:spPr>
        <p:txBody>
          <a:bodyPr wrap="square" lIns="0" tIns="0" rIns="0" bIns="0" rtlCol="0" anchor="ctr"/>
          <a:lstStyle/>
          <a:p>
            <a:pPr indent="0" marL="0">
              <a:buNone/>
            </a:pPr>
            <a:r>
              <a:rPr lang="en-US" sz="4000" b="1" dirty="0">
                <a:solidFill>
                  <a:schemeClr val="tx1"/>
                </a:solidFill>
              </a:rPr>
              <a:t>≈ 150 k€</a:t>
            </a:r>
            <a:endParaRPr lang="en-US" sz="4000" dirty="0"/>
          </a:p>
        </p:txBody>
      </p:sp>
      <p:sp>
        <p:nvSpPr>
          <p:cNvPr id="5" name="Text 3"/>
          <p:cNvSpPr txBox="1"/>
          <p:nvPr/>
        </p:nvSpPr>
        <p:spPr>
          <a:xfrm>
            <a:off x="457200" y="1965960"/>
            <a:ext cx="3291840" cy="502920"/>
          </a:xfrm>
          <a:prstGeom prst="rect">
            <a:avLst/>
          </a:prstGeom>
          <a:noFill/>
          <a:ln/>
        </p:spPr>
        <p:txBody>
          <a:bodyPr wrap="square" lIns="0" tIns="0" rIns="0" bIns="0" rtlCol="0" anchor="t"/>
          <a:lstStyle/>
          <a:p>
            <a:pPr indent="0" marL="0">
              <a:buNone/>
            </a:pPr>
            <a:r>
              <a:rPr lang="en-US" sz="1300" dirty="0">
                <a:solidFill>
                  <a:schemeClr val="tx2"/>
                </a:solidFill>
              </a:rPr>
              <a:t>d'amorçage pour : tests produit → lancement de straw. active → premiers abonnés</a:t>
            </a:r>
            <a:endParaRPr lang="en-US" sz="1300" dirty="0"/>
          </a:p>
        </p:txBody>
      </p:sp>
      <p:graphicFrame>
        <p:nvGraphicFramePr>
          <p:cNvPr id="6" name="Chart 0" descr=""/>
          <p:cNvGraphicFramePr/>
          <p:nvPr/>
        </p:nvGraphicFramePr>
        <p:xfrm>
          <a:off x="365760" y="2468880"/>
          <a:ext cx="3566160" cy="19659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480560" y="1280160"/>
            <a:ext cx="4206240" cy="320040"/>
          </a:xfrm>
          <a:prstGeom prst="rect">
            <a:avLst/>
          </a:prstGeom>
          <a:noFill/>
          <a:ln/>
        </p:spPr>
        <p:txBody>
          <a:bodyPr wrap="square" lIns="0" tIns="0" rIns="0" bIns="0" rtlCol="0" anchor="ctr"/>
          <a:lstStyle/>
          <a:p>
            <a:pPr indent="0" marL="0">
              <a:buNone/>
            </a:pPr>
            <a:r>
              <a:rPr lang="en-US" sz="1600" i="1" dirty="0">
                <a:solidFill>
                  <a:schemeClr val="tx1"/>
                </a:solidFill>
                <a:latin typeface="Cambria" pitchFamily="34" charset="0"/>
                <a:ea typeface="Cambria" pitchFamily="34" charset="-122"/>
                <a:cs typeface="Cambria" pitchFamily="34" charset="-120"/>
              </a:rPr>
              <a:t>d'où vient le financement</a:t>
            </a:r>
            <a:endParaRPr lang="en-US" sz="1600" dirty="0"/>
          </a:p>
        </p:txBody>
      </p:sp>
      <p:sp>
        <p:nvSpPr>
          <p:cNvPr id="8" name="fund0"/>
          <p:cNvSpPr/>
          <p:nvPr/>
        </p:nvSpPr>
        <p:spPr>
          <a:xfrm>
            <a:off x="4480560" y="1737360"/>
            <a:ext cx="4206240" cy="548640"/>
          </a:xfrm>
          <a:prstGeom prst="roundRect">
            <a:avLst>
              <a:gd name="adj" fmla="val 13333"/>
            </a:avLst>
          </a:prstGeom>
          <a:solidFill>
            <a:srgbClr val="FFFFFF"/>
          </a:solidFill>
          <a:ln/>
        </p:spPr>
      </p:sp>
      <p:sp>
        <p:nvSpPr>
          <p:cNvPr id="9" name="Shape 6"/>
          <p:cNvSpPr/>
          <p:nvPr/>
        </p:nvSpPr>
        <p:spPr>
          <a:xfrm>
            <a:off x="4645152" y="1929384"/>
            <a:ext cx="164592" cy="164592"/>
          </a:xfrm>
          <a:prstGeom prst="ellipse">
            <a:avLst/>
          </a:prstGeom>
          <a:solidFill>
            <a:schemeClr val="accent4"/>
          </a:solidFill>
          <a:ln/>
        </p:spPr>
      </p:sp>
      <p:sp>
        <p:nvSpPr>
          <p:cNvPr id="10" name="Text 7"/>
          <p:cNvSpPr txBox="1"/>
          <p:nvPr/>
        </p:nvSpPr>
        <p:spPr>
          <a:xfrm>
            <a:off x="4937760" y="1737360"/>
            <a:ext cx="2834640" cy="548640"/>
          </a:xfrm>
          <a:prstGeom prst="rect">
            <a:avLst/>
          </a:prstGeom>
          <a:noFill/>
          <a:ln/>
        </p:spPr>
        <p:txBody>
          <a:bodyPr wrap="square" lIns="0" tIns="0" rIns="0" bIns="0" rtlCol="0" anchor="ctr"/>
          <a:lstStyle/>
          <a:p>
            <a:pPr indent="0" marL="0">
              <a:buNone/>
            </a:pPr>
            <a:r>
              <a:rPr lang="en-US" sz="1300" b="1" dirty="0">
                <a:solidFill>
                  <a:schemeClr val="tx1"/>
                </a:solidFill>
              </a:rPr>
              <a:t>apport personnel</a:t>
            </a:r>
            <a:endParaRPr lang="en-US" sz="1300" dirty="0"/>
          </a:p>
          <a:p>
            <a:pPr indent="0" marL="0">
              <a:buNone/>
            </a:pPr>
            <a:r>
              <a:rPr lang="en-US" sz="1100" dirty="0">
                <a:solidFill>
                  <a:schemeClr val="tx2"/>
                </a:solidFill>
              </a:rPr>
              <a:t>La fondatrice investit dans son projet</a:t>
            </a:r>
            <a:endParaRPr lang="en-US" sz="1300" dirty="0"/>
          </a:p>
        </p:txBody>
      </p:sp>
      <p:sp>
        <p:nvSpPr>
          <p:cNvPr id="11" name="Text 8"/>
          <p:cNvSpPr txBox="1"/>
          <p:nvPr/>
        </p:nvSpPr>
        <p:spPr>
          <a:xfrm>
            <a:off x="7726680" y="1737360"/>
            <a:ext cx="868680" cy="548640"/>
          </a:xfrm>
          <a:prstGeom prst="rect">
            <a:avLst/>
          </a:prstGeom>
          <a:noFill/>
          <a:ln/>
        </p:spPr>
        <p:txBody>
          <a:bodyPr wrap="square" lIns="0" tIns="0" rIns="0" bIns="0" rtlCol="0" anchor="ctr"/>
          <a:lstStyle/>
          <a:p>
            <a:pPr algn="r" indent="0" marL="0">
              <a:buNone/>
            </a:pPr>
            <a:r>
              <a:rPr lang="en-US" sz="900" b="1" spc="100" kern="0" dirty="0">
                <a:solidFill>
                  <a:schemeClr val="tx2"/>
                </a:solidFill>
              </a:rPr>
              <a:t>MAINTENANT</a:t>
            </a:r>
            <a:endParaRPr lang="en-US" sz="900" dirty="0"/>
          </a:p>
        </p:txBody>
      </p:sp>
      <p:sp>
        <p:nvSpPr>
          <p:cNvPr id="12" name="fund1"/>
          <p:cNvSpPr/>
          <p:nvPr/>
        </p:nvSpPr>
        <p:spPr>
          <a:xfrm>
            <a:off x="4480560" y="2377440"/>
            <a:ext cx="4206240" cy="548640"/>
          </a:xfrm>
          <a:prstGeom prst="roundRect">
            <a:avLst>
              <a:gd name="adj" fmla="val 13333"/>
            </a:avLst>
          </a:prstGeom>
          <a:solidFill>
            <a:srgbClr val="FFFFFF"/>
          </a:solidFill>
          <a:ln/>
        </p:spPr>
      </p:sp>
      <p:sp>
        <p:nvSpPr>
          <p:cNvPr id="13" name="Shape 10"/>
          <p:cNvSpPr/>
          <p:nvPr/>
        </p:nvSpPr>
        <p:spPr>
          <a:xfrm>
            <a:off x="4645152" y="2569464"/>
            <a:ext cx="164592" cy="164592"/>
          </a:xfrm>
          <a:prstGeom prst="ellipse">
            <a:avLst/>
          </a:prstGeom>
          <a:solidFill>
            <a:schemeClr val="accent1"/>
          </a:solidFill>
          <a:ln/>
        </p:spPr>
      </p:sp>
      <p:sp>
        <p:nvSpPr>
          <p:cNvPr id="14" name="Text 11"/>
          <p:cNvSpPr txBox="1"/>
          <p:nvPr/>
        </p:nvSpPr>
        <p:spPr>
          <a:xfrm>
            <a:off x="4937760" y="2377440"/>
            <a:ext cx="2834640" cy="548640"/>
          </a:xfrm>
          <a:prstGeom prst="rect">
            <a:avLst/>
          </a:prstGeom>
          <a:noFill/>
          <a:ln/>
        </p:spPr>
        <p:txBody>
          <a:bodyPr wrap="square" lIns="0" tIns="0" rIns="0" bIns="0" rtlCol="0" anchor="ctr"/>
          <a:lstStyle/>
          <a:p>
            <a:pPr indent="0" marL="0">
              <a:buNone/>
            </a:pPr>
            <a:r>
              <a:rPr lang="en-US" sz="1300" b="1" dirty="0">
                <a:solidFill>
                  <a:schemeClr val="tx1"/>
                </a:solidFill>
              </a:rPr>
              <a:t>love money</a:t>
            </a:r>
            <a:endParaRPr lang="en-US" sz="1300" dirty="0"/>
          </a:p>
          <a:p>
            <a:pPr indent="0" marL="0">
              <a:buNone/>
            </a:pPr>
            <a:r>
              <a:rPr lang="en-US" sz="1100" dirty="0">
                <a:solidFill>
                  <a:schemeClr val="tx2"/>
                </a:solidFill>
              </a:rPr>
              <a:t>Famille et proches, premier cercle de confiance</a:t>
            </a:r>
            <a:endParaRPr lang="en-US" sz="1300" dirty="0"/>
          </a:p>
        </p:txBody>
      </p:sp>
      <p:sp>
        <p:nvSpPr>
          <p:cNvPr id="15" name="Text 12"/>
          <p:cNvSpPr txBox="1"/>
          <p:nvPr/>
        </p:nvSpPr>
        <p:spPr>
          <a:xfrm>
            <a:off x="7726680" y="2377440"/>
            <a:ext cx="868680" cy="548640"/>
          </a:xfrm>
          <a:prstGeom prst="rect">
            <a:avLst/>
          </a:prstGeom>
          <a:noFill/>
          <a:ln/>
        </p:spPr>
        <p:txBody>
          <a:bodyPr wrap="square" lIns="0" tIns="0" rIns="0" bIns="0" rtlCol="0" anchor="ctr"/>
          <a:lstStyle/>
          <a:p>
            <a:pPr algn="r" indent="0" marL="0">
              <a:buNone/>
            </a:pPr>
            <a:r>
              <a:rPr lang="en-US" sz="900" b="1" spc="100" kern="0" dirty="0">
                <a:solidFill>
                  <a:schemeClr val="tx2"/>
                </a:solidFill>
              </a:rPr>
              <a:t>MAINTENANT</a:t>
            </a:r>
            <a:endParaRPr lang="en-US" sz="900" dirty="0"/>
          </a:p>
        </p:txBody>
      </p:sp>
      <p:sp>
        <p:nvSpPr>
          <p:cNvPr id="16" name="fund2"/>
          <p:cNvSpPr/>
          <p:nvPr/>
        </p:nvSpPr>
        <p:spPr>
          <a:xfrm>
            <a:off x="4480560" y="3017520"/>
            <a:ext cx="4206240" cy="548640"/>
          </a:xfrm>
          <a:prstGeom prst="roundRect">
            <a:avLst>
              <a:gd name="adj" fmla="val 13333"/>
            </a:avLst>
          </a:prstGeom>
          <a:solidFill>
            <a:srgbClr val="FFFFFF"/>
          </a:solidFill>
          <a:ln/>
        </p:spPr>
      </p:sp>
      <p:sp>
        <p:nvSpPr>
          <p:cNvPr id="17" name="Shape 14"/>
          <p:cNvSpPr/>
          <p:nvPr/>
        </p:nvSpPr>
        <p:spPr>
          <a:xfrm>
            <a:off x="4645152" y="3209544"/>
            <a:ext cx="164592" cy="164592"/>
          </a:xfrm>
          <a:prstGeom prst="ellipse">
            <a:avLst/>
          </a:prstGeom>
          <a:solidFill>
            <a:schemeClr val="accent2"/>
          </a:solidFill>
          <a:ln/>
        </p:spPr>
      </p:sp>
      <p:sp>
        <p:nvSpPr>
          <p:cNvPr id="18" name="Text 15"/>
          <p:cNvSpPr txBox="1"/>
          <p:nvPr/>
        </p:nvSpPr>
        <p:spPr>
          <a:xfrm>
            <a:off x="4937760" y="3017520"/>
            <a:ext cx="2834640" cy="548640"/>
          </a:xfrm>
          <a:prstGeom prst="rect">
            <a:avLst/>
          </a:prstGeom>
          <a:noFill/>
          <a:ln/>
        </p:spPr>
        <p:txBody>
          <a:bodyPr wrap="square" lIns="0" tIns="0" rIns="0" bIns="0" rtlCol="0" anchor="ctr"/>
          <a:lstStyle/>
          <a:p>
            <a:pPr indent="0" marL="0">
              <a:buNone/>
            </a:pPr>
            <a:r>
              <a:rPr lang="en-US" sz="1300" b="1" dirty="0">
                <a:solidFill>
                  <a:schemeClr val="tx1"/>
                </a:solidFill>
              </a:rPr>
              <a:t>prêts d'honneur &amp; aides</a:t>
            </a:r>
            <a:endParaRPr lang="en-US" sz="1300" dirty="0"/>
          </a:p>
          <a:p>
            <a:pPr indent="0" marL="0">
              <a:buNone/>
            </a:pPr>
            <a:r>
              <a:rPr lang="en-US" sz="1100" dirty="0">
                <a:solidFill>
                  <a:schemeClr val="tx2"/>
                </a:solidFill>
              </a:rPr>
              <a:t>Initiative France, Réseau Entreprendre, Bpifrance</a:t>
            </a:r>
            <a:endParaRPr lang="en-US" sz="1300" dirty="0"/>
          </a:p>
        </p:txBody>
      </p:sp>
      <p:sp>
        <p:nvSpPr>
          <p:cNvPr id="19" name="Text 16"/>
          <p:cNvSpPr txBox="1"/>
          <p:nvPr/>
        </p:nvSpPr>
        <p:spPr>
          <a:xfrm>
            <a:off x="7726680" y="3017520"/>
            <a:ext cx="868680" cy="548640"/>
          </a:xfrm>
          <a:prstGeom prst="rect">
            <a:avLst/>
          </a:prstGeom>
          <a:noFill/>
          <a:ln/>
        </p:spPr>
        <p:txBody>
          <a:bodyPr wrap="square" lIns="0" tIns="0" rIns="0" bIns="0" rtlCol="0" anchor="ctr"/>
          <a:lstStyle/>
          <a:p>
            <a:pPr algn="r" indent="0" marL="0">
              <a:buNone/>
            </a:pPr>
            <a:r>
              <a:rPr lang="en-US" sz="900" b="1" spc="100" kern="0" dirty="0">
                <a:solidFill>
                  <a:schemeClr val="tx2"/>
                </a:solidFill>
              </a:rPr>
              <a:t>ENSUITE</a:t>
            </a:r>
            <a:endParaRPr lang="en-US" sz="900" dirty="0"/>
          </a:p>
        </p:txBody>
      </p:sp>
      <p:sp>
        <p:nvSpPr>
          <p:cNvPr id="20" name="disclaimer"/>
          <p:cNvSpPr/>
          <p:nvPr/>
        </p:nvSpPr>
        <p:spPr>
          <a:xfrm>
            <a:off x="4480560" y="3703320"/>
            <a:ext cx="4206240" cy="685800"/>
          </a:xfrm>
          <a:prstGeom prst="roundRect">
            <a:avLst>
              <a:gd name="adj" fmla="val 10667"/>
            </a:avLst>
          </a:prstGeom>
          <a:solidFill>
            <a:schemeClr val="accent5"/>
          </a:solidFill>
          <a:ln/>
        </p:spPr>
      </p:sp>
      <p:sp>
        <p:nvSpPr>
          <p:cNvPr id="21" name="Text 18"/>
          <p:cNvSpPr txBox="1"/>
          <p:nvPr/>
        </p:nvSpPr>
        <p:spPr>
          <a:xfrm>
            <a:off x="4663440" y="3703320"/>
            <a:ext cx="3931920" cy="685800"/>
          </a:xfrm>
          <a:prstGeom prst="rect">
            <a:avLst/>
          </a:prstGeom>
          <a:noFill/>
          <a:ln/>
        </p:spPr>
        <p:txBody>
          <a:bodyPr wrap="square" lIns="0" tIns="0" rIns="0" bIns="0" rtlCol="0" anchor="ctr"/>
          <a:lstStyle/>
          <a:p>
            <a:pPr indent="0" marL="0">
              <a:buNone/>
            </a:pPr>
            <a:r>
              <a:rPr lang="en-US" sz="1100" dirty="0">
                <a:solidFill>
                  <a:schemeClr val="tx1"/>
                </a:solidFill>
              </a:rPr>
              <a:t>Montants fictifs et indicatifs : le coût de production n'est pas encore connu. La rentabilité visée repose sur l'abonnement, à chiffrer avec les devis.</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close-photo" descr="close-photo">    </p:cNvPr>
          <p:cNvPicPr>
            <a:picLocks noChangeAspect="1"/>
          </p:cNvPicPr>
          <p:nvPr/>
        </p:nvPicPr>
        <p:blipFill>
          <a:blip r:embed="rId1"/>
          <a:stretch>
            <a:fillRect/>
          </a:stretch>
        </p:blipFill>
        <p:spPr>
          <a:xfrm>
            <a:off x="5120640" y="0"/>
            <a:ext cx="4023360" cy="5143500"/>
          </a:xfrm>
          <a:prstGeom prst="rect">
            <a:avLst/>
          </a:prstGeom>
        </p:spPr>
      </p:pic>
      <p:sp>
        <p:nvSpPr>
          <p:cNvPr id="3" name="bead0"/>
          <p:cNvSpPr/>
          <p:nvPr/>
        </p:nvSpPr>
        <p:spPr>
          <a:xfrm>
            <a:off x="502920" y="1051560"/>
            <a:ext cx="164592" cy="164592"/>
          </a:xfrm>
          <a:prstGeom prst="ellipse">
            <a:avLst/>
          </a:prstGeom>
          <a:solidFill>
            <a:schemeClr val="accent3"/>
          </a:solidFill>
          <a:ln/>
        </p:spPr>
      </p:sp>
      <p:sp>
        <p:nvSpPr>
          <p:cNvPr id="4" name="bead1"/>
          <p:cNvSpPr/>
          <p:nvPr/>
        </p:nvSpPr>
        <p:spPr>
          <a:xfrm>
            <a:off x="758952" y="1051560"/>
            <a:ext cx="164592" cy="164592"/>
          </a:xfrm>
          <a:prstGeom prst="ellipse">
            <a:avLst/>
          </a:prstGeom>
          <a:solidFill>
            <a:schemeClr val="accent4"/>
          </a:solidFill>
          <a:ln/>
        </p:spPr>
      </p:sp>
      <p:sp>
        <p:nvSpPr>
          <p:cNvPr id="5" name="bead2"/>
          <p:cNvSpPr/>
          <p:nvPr/>
        </p:nvSpPr>
        <p:spPr>
          <a:xfrm>
            <a:off x="1014984" y="1051560"/>
            <a:ext cx="164592" cy="164592"/>
          </a:xfrm>
          <a:prstGeom prst="ellipse">
            <a:avLst/>
          </a:prstGeom>
          <a:solidFill>
            <a:schemeClr val="accent1"/>
          </a:solidFill>
          <a:ln/>
        </p:spPr>
      </p:sp>
      <p:sp>
        <p:nvSpPr>
          <p:cNvPr id="6" name="bead3"/>
          <p:cNvSpPr/>
          <p:nvPr/>
        </p:nvSpPr>
        <p:spPr>
          <a:xfrm>
            <a:off x="1271016" y="1051560"/>
            <a:ext cx="164592" cy="164592"/>
          </a:xfrm>
          <a:prstGeom prst="ellipse">
            <a:avLst/>
          </a:prstGeom>
          <a:solidFill>
            <a:schemeClr val="accent2"/>
          </a:solidFill>
          <a:ln/>
        </p:spPr>
      </p:sp>
      <p:sp>
        <p:nvSpPr>
          <p:cNvPr id="7" name="Text 4"/>
          <p:cNvSpPr txBox="1"/>
          <p:nvPr/>
        </p:nvSpPr>
        <p:spPr>
          <a:xfrm>
            <a:off x="457200" y="1371600"/>
            <a:ext cx="4389120" cy="1371600"/>
          </a:xfrm>
          <a:prstGeom prst="rect">
            <a:avLst/>
          </a:prstGeom>
          <a:noFill/>
          <a:ln/>
        </p:spPr>
        <p:txBody>
          <a:bodyPr wrap="square" lIns="0" tIns="0" rIns="0" bIns="0" rtlCol="0" anchor="t"/>
          <a:lstStyle/>
          <a:p>
            <a:pPr indent="0" marL="0">
              <a:buNone/>
            </a:pPr>
            <a:r>
              <a:rPr lang="en-US" sz="3200" dirty="0">
                <a:solidFill>
                  <a:schemeClr val="bg2"/>
                </a:solidFill>
              </a:rPr>
              <a:t>et vous, </a:t>
            </a:r>
            <a:pPr indent="0" marL="0">
              <a:buNone/>
            </a:pPr>
            <a:r>
              <a:rPr lang="en-US" sz="3200" i="1" dirty="0">
                <a:solidFill>
                  <a:schemeClr val="bg2"/>
                </a:solidFill>
                <a:latin typeface="Cambria" pitchFamily="34" charset="0"/>
                <a:ea typeface="Cambria" pitchFamily="34" charset="-122"/>
                <a:cs typeface="Cambria" pitchFamily="34" charset="-120"/>
              </a:rPr>
              <a:t>vous en reprendriez une gorgée ?</a:t>
            </a:r>
            <a:endParaRPr lang="en-US" sz="3200" dirty="0"/>
          </a:p>
        </p:txBody>
      </p:sp>
      <p:sp>
        <p:nvSpPr>
          <p:cNvPr id="8" name="Text 5"/>
          <p:cNvSpPr txBox="1"/>
          <p:nvPr/>
        </p:nvSpPr>
        <p:spPr>
          <a:xfrm>
            <a:off x="457200" y="2880360"/>
            <a:ext cx="4206240" cy="594360"/>
          </a:xfrm>
          <a:prstGeom prst="rect">
            <a:avLst/>
          </a:prstGeom>
          <a:noFill/>
          <a:ln/>
        </p:spPr>
        <p:txBody>
          <a:bodyPr wrap="square" lIns="0" tIns="0" rIns="0" bIns="0" rtlCol="0" anchor="ctr"/>
          <a:lstStyle/>
          <a:p>
            <a:pPr indent="0" marL="0">
              <a:buNone/>
            </a:pPr>
            <a:r>
              <a:rPr lang="en-US" sz="1400" dirty="0">
                <a:solidFill>
                  <a:srgbClr val="D6CFC6"/>
                </a:solidFill>
              </a:rPr>
              <a:t>straw. la paille active : un geste, quatre gammes, toute la famille.</a:t>
            </a:r>
            <a:endParaRPr lang="en-US" sz="1400" dirty="0"/>
          </a:p>
        </p:txBody>
      </p:sp>
      <p:sp>
        <p:nvSpPr>
          <p:cNvPr id="9" name="Text 6"/>
          <p:cNvSpPr txBox="1"/>
          <p:nvPr/>
        </p:nvSpPr>
        <p:spPr>
          <a:xfrm>
            <a:off x="457200" y="4343400"/>
            <a:ext cx="4206240" cy="274320"/>
          </a:xfrm>
          <a:prstGeom prst="rect">
            <a:avLst/>
          </a:prstGeom>
          <a:noFill/>
          <a:ln/>
        </p:spPr>
        <p:txBody>
          <a:bodyPr wrap="square" lIns="0" tIns="0" rIns="0" bIns="0" rtlCol="0" anchor="ctr"/>
          <a:lstStyle/>
          <a:p>
            <a:pPr indent="0" marL="0">
              <a:buNone/>
            </a:pPr>
            <a:r>
              <a:rPr lang="en-US" sz="1100" dirty="0">
                <a:solidFill>
                  <a:srgbClr val="A99F96"/>
                </a:solidFill>
              </a:rPr>
              <a:t>Merci · Nisrine Margoum, fondatrice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ANNEXE</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sources </a:t>
            </a:r>
            <a:pPr algn="l" indent="0" marL="0">
              <a:buNone/>
            </a:pPr>
            <a:r>
              <a:rPr lang="en-US" sz="2800" i="1" dirty="0">
                <a:solidFill>
                  <a:schemeClr val="tx1"/>
                </a:solidFill>
                <a:latin typeface="Cambria" pitchFamily="34" charset="0"/>
                <a:ea typeface="Cambria" pitchFamily="34" charset="-122"/>
                <a:cs typeface="Cambria" pitchFamily="34" charset="-120"/>
              </a:rPr>
              <a:t>des chiffres</a:t>
            </a:r>
            <a:endParaRPr lang="en-US" sz="2800" dirty="0"/>
          </a:p>
        </p:txBody>
      </p:sp>
      <p:sp>
        <p:nvSpPr>
          <p:cNvPr id="4" name="Text 2"/>
          <p:cNvSpPr txBox="1"/>
          <p:nvPr/>
        </p:nvSpPr>
        <p:spPr>
          <a:xfrm>
            <a:off x="457200" y="1280160"/>
            <a:ext cx="8229600" cy="32918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chemeClr val="tx1"/>
                </a:solidFill>
              </a:rPr>
              <a:t>Synadiet / Toluna Harris Interactive, baromètre et chiffres du marché 2025 (communiqué Claude Bernard, mars 2026) : ventes +2,6 %, ≈ 2/3 des Français consommateurs.</a:t>
            </a:r>
            <a:endParaRPr lang="en-US" sz="1100" dirty="0"/>
          </a:p>
          <a:p>
            <a:pPr marL="342900" indent="-342900">
              <a:spcAft>
                <a:spcPts val="500"/>
              </a:spcAft>
              <a:buSzPct val="100000"/>
              <a:buChar char="•"/>
            </a:pPr>
            <a:r>
              <a:rPr lang="en-US" sz="1100" dirty="0">
                <a:solidFill>
                  <a:schemeClr val="tx1"/>
                </a:solidFill>
              </a:rPr>
              <a:t>Le Quotidien du Pharmacien / IQVIA : la pharmacie représente 55 % des ventes ; gummies +40 % (5 premiers mois 2023) ; Observatoire Synadiet 2021 : 57 % de femmes parmi les consommateurs.</a:t>
            </a:r>
            <a:endParaRPr lang="en-US" sz="1100" dirty="0"/>
          </a:p>
          <a:p>
            <a:pPr marL="342900" indent="-342900">
              <a:spcAft>
                <a:spcPts val="500"/>
              </a:spcAft>
              <a:buSzPct val="100000"/>
              <a:buChar char="•"/>
            </a:pPr>
            <a:r>
              <a:rPr lang="en-US" sz="1100" dirty="0">
                <a:solidFill>
                  <a:schemeClr val="tx1"/>
                </a:solidFill>
              </a:rPr>
              <a:t>Anses, études INCA 2 et INCA 3 : 19 % des 3-17 ans et 29 % des adultes consomment des compléments ou médicaments sources de nutriments ; consommation doublée.</a:t>
            </a:r>
            <a:endParaRPr lang="en-US" sz="1100" dirty="0"/>
          </a:p>
          <a:p>
            <a:pPr marL="342900" indent="-342900">
              <a:spcAft>
                <a:spcPts val="500"/>
              </a:spcAft>
              <a:buSzPct val="100000"/>
              <a:buChar char="•"/>
            </a:pPr>
            <a:r>
              <a:rPr lang="en-US" sz="1100" dirty="0">
                <a:solidFill>
                  <a:schemeClr val="tx1"/>
                </a:solidFill>
              </a:rPr>
              <a:t>Les Échos Études / GERS Data, via Valbiotis (2026) : ventes ménopause en officine 21,4 M€ en 2024 (+9 %) ; 14 millions de femmes concernées.</a:t>
            </a:r>
            <a:endParaRPr lang="en-US" sz="1100" dirty="0"/>
          </a:p>
          <a:p>
            <a:pPr marL="342900" indent="-342900">
              <a:spcAft>
                <a:spcPts val="500"/>
              </a:spcAft>
              <a:buSzPct val="100000"/>
              <a:buChar char="•"/>
            </a:pPr>
            <a:r>
              <a:rPr lang="en-US" sz="1100" dirty="0">
                <a:solidFill>
                  <a:schemeClr val="tx1"/>
                </a:solidFill>
              </a:rPr>
              <a:t>INSEE, bilan démographique 2025 : 22 % de la population a 65 ans ou plus.</a:t>
            </a:r>
            <a:endParaRPr lang="en-US" sz="1100" dirty="0"/>
          </a:p>
          <a:p>
            <a:pPr marL="342900" indent="-342900">
              <a:spcAft>
                <a:spcPts val="500"/>
              </a:spcAft>
              <a:buSzPct val="100000"/>
              <a:buChar char="•"/>
            </a:pPr>
            <a:r>
              <a:rPr lang="en-US" sz="1100" dirty="0">
                <a:solidFill>
                  <a:schemeClr val="tx1"/>
                </a:solidFill>
              </a:rPr>
              <a:t>Revues de littérature sur la dysphagie aux comprimés (PMC) : 15-20 % des adultes ; environ 14 % des seniors vivant à domicile.</a:t>
            </a:r>
            <a:endParaRPr lang="en-US" sz="1100" dirty="0"/>
          </a:p>
          <a:p>
            <a:pPr marL="342900" indent="-342900">
              <a:spcAft>
                <a:spcPts val="500"/>
              </a:spcAft>
              <a:buSzPct val="100000"/>
              <a:buChar char="•"/>
            </a:pPr>
            <a:r>
              <a:rPr lang="en-US" sz="1100" dirty="0">
                <a:solidFill>
                  <a:schemeClr val="tx1"/>
                </a:solidFill>
              </a:rPr>
              <a:t>OMS, Adherence to long-term therapies (2003) : environ 50 % d'observance dans les pays développés. Kantar (2025) : vitalité, immunité, stress et sommeil.</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straw">
  <a:themeElements>
    <a:clrScheme name="straw">
      <a:dk1>
        <a:srgbClr val="1F1C19"/>
      </a:dk1>
      <a:lt1>
        <a:srgbClr val="FFFFFF"/>
      </a:lt1>
      <a:dk2>
        <a:srgbClr val="5E5650"/>
      </a:dk2>
      <a:lt2>
        <a:srgbClr val="F4F2EF"/>
      </a:lt2>
      <a:accent1>
        <a:srgbClr val="C8475A"/>
      </a:accent1>
      <a:accent2>
        <a:srgbClr val="2E9C9A"/>
      </a:accent2>
      <a:accent3>
        <a:srgbClr val="F5B700"/>
      </a:accent3>
      <a:accent4>
        <a:srgbClr val="D98A6C"/>
      </a:accent4>
      <a:accent5>
        <a:srgbClr val="E9E4DD"/>
      </a:accent5>
      <a:accent6>
        <a:srgbClr val="8C4A6B"/>
      </a:accent6>
      <a:hlink>
        <a:srgbClr val="2E9C9A"/>
      </a:hlink>
      <a:folHlink>
        <a:srgbClr val="8C4A6B"/>
      </a:folHlink>
    </a:clrScheme>
    <a:fontScheme name="straw">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straw. la paille active, pitch investisseurs</dc:title>
  <dc:subject>PptxGenJS Presentation</dc:subject>
  <dc:creator>Nisrine Margoum</dc:creator>
  <cp:lastModifiedBy>Nisrine Margoum</cp:lastModifiedBy>
  <cp:revision>1</cp:revision>
  <dcterms:created xsi:type="dcterms:W3CDTF">2026-10-11T10:59:53Z</dcterms:created>
  <dcterms:modified xsi:type="dcterms:W3CDTF">2026-10-11T10:59:53Z</dcterms:modified>
</cp:coreProperties>
</file>